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72" r:id="rId5"/>
    <p:sldId id="313" r:id="rId6"/>
    <p:sldId id="333" r:id="rId7"/>
    <p:sldId id="334" r:id="rId8"/>
    <p:sldId id="342" r:id="rId9"/>
    <p:sldId id="343" r:id="rId10"/>
    <p:sldId id="344" r:id="rId11"/>
    <p:sldId id="345" r:id="rId12"/>
    <p:sldId id="348" r:id="rId13"/>
    <p:sldId id="346" r:id="rId14"/>
    <p:sldId id="349" r:id="rId15"/>
    <p:sldId id="35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  <p14:sldId id="272"/>
            <p14:sldId id="313"/>
            <p14:sldId id="333"/>
            <p14:sldId id="334"/>
            <p14:sldId id="342"/>
            <p14:sldId id="343"/>
            <p14:sldId id="344"/>
            <p14:sldId id="345"/>
            <p14:sldId id="348"/>
            <p14:sldId id="346"/>
            <p14:sldId id="349"/>
            <p14:sldId id="35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1" autoAdjust="0"/>
    <p:restoredTop sz="80133" autoAdjust="0"/>
  </p:normalViewPr>
  <p:slideViewPr>
    <p:cSldViewPr snapToGrid="0">
      <p:cViewPr varScale="1">
        <p:scale>
          <a:sx n="129" d="100"/>
          <a:sy n="129" d="100"/>
        </p:scale>
        <p:origin x="19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虽然基于</a:t>
            </a:r>
            <a:r>
              <a:rPr lang="en-US" altLang="zh-CN" dirty="0"/>
              <a:t>NVM</a:t>
            </a:r>
            <a:r>
              <a:rPr lang="zh-CN" altLang="en-US" dirty="0"/>
              <a:t>的</a:t>
            </a:r>
            <a:r>
              <a:rPr lang="en-US" altLang="zh-CN" dirty="0"/>
              <a:t>PIM</a:t>
            </a:r>
            <a:r>
              <a:rPr lang="zh-CN" altLang="en-US" dirty="0"/>
              <a:t>系统能够实现快速且高能效的矩阵向量乘（</a:t>
            </a:r>
            <a:r>
              <a:rPr lang="en-US" altLang="zh-CN" dirty="0"/>
              <a:t>MVM</a:t>
            </a:r>
            <a:r>
              <a:rPr lang="zh-CN" altLang="en-US" dirty="0"/>
              <a:t>）操作，但这些系统对高温的敏感性增加。例如，基于</a:t>
            </a:r>
            <a:r>
              <a:rPr lang="en-US" altLang="zh-CN" dirty="0"/>
              <a:t>ReRAM</a:t>
            </a:r>
            <a:r>
              <a:rPr lang="zh-CN" altLang="en-US" dirty="0"/>
              <a:t>的实现由于其紧凑的</a:t>
            </a:r>
            <a:r>
              <a:rPr lang="en-US" altLang="zh-CN" dirty="0"/>
              <a:t>1T-1R</a:t>
            </a:r>
            <a:r>
              <a:rPr lang="zh-CN" altLang="en-US" dirty="0"/>
              <a:t>存储单元结构，可以高效地执行密集计算。然而，</a:t>
            </a:r>
            <a:r>
              <a:rPr lang="en-US" altLang="zh-CN" dirty="0"/>
              <a:t>ReRAM</a:t>
            </a:r>
            <a:r>
              <a:rPr lang="zh-CN" altLang="en-US" dirty="0"/>
              <a:t>对高温更为敏感，这可能影响其可靠性。相比之下，基于</a:t>
            </a:r>
            <a:r>
              <a:rPr lang="en-US" altLang="zh-CN" dirty="0"/>
              <a:t>SRAM</a:t>
            </a:r>
            <a:r>
              <a:rPr lang="zh-CN" altLang="en-US" dirty="0"/>
              <a:t>的</a:t>
            </a:r>
            <a:r>
              <a:rPr lang="en-US" altLang="zh-CN" dirty="0"/>
              <a:t>PIM</a:t>
            </a:r>
            <a:r>
              <a:rPr lang="zh-CN" altLang="en-US" dirty="0"/>
              <a:t>使用较大的八晶体管（</a:t>
            </a:r>
            <a:r>
              <a:rPr lang="en-US" altLang="zh-CN" dirty="0"/>
              <a:t>8T</a:t>
            </a:r>
            <a:r>
              <a:rPr lang="zh-CN" altLang="en-US" dirty="0"/>
              <a:t>）存储单元，这导致更高的面积开销，但提供了更好的稳定性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本研究考虑将深度学习推理应用（</a:t>
            </a:r>
            <a:r>
              <a:rPr lang="en-US" altLang="zh-CN" dirty="0"/>
              <a:t>AI </a:t>
            </a:r>
            <a:r>
              <a:rPr lang="zh-CN" altLang="en-US" dirty="0"/>
              <a:t>工作负载）流式传输到一个由四种有前景的</a:t>
            </a:r>
            <a:r>
              <a:rPr lang="en-US" altLang="zh-CN" dirty="0"/>
              <a:t> PIM </a:t>
            </a:r>
            <a:r>
              <a:rPr lang="zh-CN" altLang="en-US" dirty="0"/>
              <a:t>类型组成的异构芯片系统</a:t>
            </a:r>
            <a:endParaRPr lang="zh-CN" altLang="en-US" dirty="0"/>
          </a:p>
          <a:p>
            <a:r>
              <a:rPr lang="en-US" altLang="zh-CN" dirty="0"/>
              <a:t>(1) </a:t>
            </a:r>
            <a:r>
              <a:rPr lang="zh-CN" altLang="en-US" dirty="0"/>
              <a:t>基于标准</a:t>
            </a:r>
            <a:r>
              <a:rPr lang="en-US" altLang="zh-CN" dirty="0"/>
              <a:t> ReRAM </a:t>
            </a:r>
            <a:r>
              <a:rPr lang="zh-CN" altLang="en-US" dirty="0"/>
              <a:t>的芯片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(2) </a:t>
            </a:r>
            <a:r>
              <a:rPr lang="zh-CN" altLang="en-US" dirty="0"/>
              <a:t>带共享</a:t>
            </a:r>
            <a:r>
              <a:rPr lang="en-US" altLang="zh-CN" dirty="0"/>
              <a:t> ADC </a:t>
            </a:r>
            <a:r>
              <a:rPr lang="zh-CN" altLang="en-US" dirty="0"/>
              <a:t>的</a:t>
            </a:r>
            <a:r>
              <a:rPr lang="en-US" altLang="zh-CN" dirty="0"/>
              <a:t> SRAM </a:t>
            </a:r>
            <a:r>
              <a:rPr lang="zh-CN" altLang="en-US" dirty="0"/>
              <a:t>芯片，</a:t>
            </a:r>
            <a:r>
              <a:rPr lang="en-US" altLang="zh-CN" dirty="0"/>
              <a:t>(3) </a:t>
            </a:r>
            <a:r>
              <a:rPr lang="zh-CN" altLang="en-US" dirty="0"/>
              <a:t>无</a:t>
            </a:r>
            <a:r>
              <a:rPr lang="en-US" altLang="zh-CN" dirty="0"/>
              <a:t> ADC SRAM </a:t>
            </a:r>
            <a:r>
              <a:rPr lang="zh-CN" altLang="en-US" dirty="0"/>
              <a:t>芯片，以及</a:t>
            </a:r>
            <a:r>
              <a:rPr lang="en-US" altLang="zh-CN" dirty="0"/>
              <a:t> (4) </a:t>
            </a:r>
            <a:r>
              <a:rPr lang="zh-CN" altLang="en-US" dirty="0"/>
              <a:t>利用模拟累加器在多个周期中累加输入的基于</a:t>
            </a:r>
            <a:r>
              <a:rPr lang="en-US" altLang="zh-CN" dirty="0"/>
              <a:t> ReRAM </a:t>
            </a:r>
            <a:r>
              <a:rPr lang="zh-CN" altLang="en-US" dirty="0"/>
              <a:t>的芯片。</a:t>
            </a:r>
            <a:endParaRPr lang="zh-CN" altLang="en-US" dirty="0"/>
          </a:p>
          <a:p>
            <a:r>
              <a:rPr lang="zh-CN" altLang="en-US" dirty="0"/>
              <a:t>将</a:t>
            </a:r>
            <a:r>
              <a:rPr lang="en-US" altLang="zh-CN" dirty="0"/>
              <a:t>DL</a:t>
            </a:r>
            <a:r>
              <a:rPr lang="zh-CN" altLang="en-US" dirty="0"/>
              <a:t>工作负载调度任务表述为一个受约束的多目标优化问题，旨在在满足热限制的同时，联合最小化执行时间并最大化能源效率。</a:t>
            </a:r>
            <a:endParaRPr lang="zh-CN" altLang="en-US" dirty="0"/>
          </a:p>
          <a:p>
            <a:r>
              <a:rPr lang="zh-CN" altLang="en-US" dirty="0"/>
              <a:t>在第一级，多目标强化学习（</a:t>
            </a:r>
            <a:r>
              <a:rPr lang="en-US" altLang="zh-CN" dirty="0"/>
              <a:t>MORL</a:t>
            </a:r>
            <a:r>
              <a:rPr lang="zh-CN" altLang="en-US" dirty="0"/>
              <a:t>）策略为深度学习工作负载中的每一神经层选择合适类型的</a:t>
            </a:r>
            <a:r>
              <a:rPr lang="en-US" altLang="zh-CN" dirty="0"/>
              <a:t>PIM</a:t>
            </a:r>
            <a:r>
              <a:rPr lang="zh-CN" altLang="en-US" dirty="0"/>
              <a:t>芯片（即</a:t>
            </a:r>
            <a:r>
              <a:rPr lang="en-US" altLang="zh-CN" dirty="0"/>
              <a:t>PIM</a:t>
            </a:r>
            <a:r>
              <a:rPr lang="zh-CN" altLang="en-US" dirty="0"/>
              <a:t>芯片簇）。我们基于</a:t>
            </a:r>
            <a:r>
              <a:rPr lang="en-US" altLang="zh-CN" dirty="0"/>
              <a:t>MORL</a:t>
            </a:r>
            <a:r>
              <a:rPr lang="zh-CN" altLang="en-US" dirty="0"/>
              <a:t>的方法训练一个单一策略，使其在运行时能够根据给定的偏好向量动态适应，从而在执行时间和能耗方面实现帕累托最优性能。</a:t>
            </a:r>
            <a:endParaRPr lang="zh-CN" altLang="en-US" dirty="0"/>
          </a:p>
          <a:p>
            <a:r>
              <a:rPr lang="zh-CN" altLang="en-US" dirty="0"/>
              <a:t>在第二级，采用基于邻近性的算法，将神经层分配到由</a:t>
            </a:r>
            <a:r>
              <a:rPr lang="en-US" altLang="zh-CN" dirty="0"/>
              <a:t>MORL</a:t>
            </a:r>
            <a:r>
              <a:rPr lang="zh-CN" altLang="en-US" dirty="0"/>
              <a:t>技术选择的特定芯片簇内的芯片上，以尽量减少通信成本。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形式化了深度学习（</a:t>
            </a:r>
            <a:r>
              <a:rPr lang="en-US" altLang="zh-CN" dirty="0"/>
              <a:t>DL</a:t>
            </a:r>
            <a:r>
              <a:rPr lang="zh-CN" altLang="en-US" dirty="0"/>
              <a:t>）工作负载的特性：它首先指出</a:t>
            </a:r>
            <a:r>
              <a:rPr lang="en-US" altLang="zh-CN" dirty="0"/>
              <a:t>DL</a:t>
            </a:r>
            <a:r>
              <a:rPr lang="zh-CN" altLang="en-US" dirty="0"/>
              <a:t>任务遵循结构化、分层的计算模型，计算集中在各层内部，通信通过激活值发生且模式确定；然后，它利用这些特性，提出了</a:t>
            </a:r>
            <a:r>
              <a:rPr lang="en-US" altLang="zh-CN" dirty="0"/>
              <a:t>“DL</a:t>
            </a:r>
            <a:r>
              <a:rPr lang="zh-CN" altLang="en-US" dirty="0"/>
              <a:t>特性图（</a:t>
            </a:r>
            <a:r>
              <a:rPr lang="en-US" altLang="zh-CN" dirty="0"/>
              <a:t>DCG</a:t>
            </a:r>
            <a:r>
              <a:rPr lang="zh-CN" altLang="en-US" dirty="0"/>
              <a:t>）</a:t>
            </a:r>
            <a:r>
              <a:rPr lang="en-US" altLang="zh-CN" dirty="0"/>
              <a:t>”</a:t>
            </a:r>
            <a:r>
              <a:rPr lang="zh-CN" altLang="en-US" dirty="0"/>
              <a:t>的定义，将整个</a:t>
            </a:r>
            <a:r>
              <a:rPr lang="en-US" altLang="zh-CN" dirty="0"/>
              <a:t>DL</a:t>
            </a:r>
            <a:r>
              <a:rPr lang="zh-CN" altLang="en-US" dirty="0"/>
              <a:t>工作负载抽象为一个有向图</a:t>
            </a:r>
            <a:r>
              <a:rPr lang="en-US" altLang="zh-CN" dirty="0"/>
              <a:t> </a:t>
            </a:r>
            <a:r>
              <a:rPr lang="zh-CN" altLang="en-US" dirty="0"/>
              <a:t>，其中图的顶点</a:t>
            </a:r>
            <a:r>
              <a:rPr lang="en-US" altLang="zh-CN" dirty="0"/>
              <a:t> </a:t>
            </a:r>
            <a:r>
              <a:rPr lang="zh-CN" altLang="en-US" dirty="0"/>
              <a:t>代表神经网络层及其所需的内存和乘加运算（</a:t>
            </a:r>
            <a:r>
              <a:rPr lang="en-US" altLang="zh-CN" dirty="0"/>
              <a:t>MAC</a:t>
            </a:r>
            <a:r>
              <a:rPr lang="zh-CN" altLang="en-US" dirty="0"/>
              <a:t>），而图的边</a:t>
            </a:r>
            <a:r>
              <a:rPr lang="en-US" altLang="zh-CN" dirty="0"/>
              <a:t> </a:t>
            </a:r>
            <a:r>
              <a:rPr lang="zh-CN" altLang="en-US" dirty="0"/>
              <a:t>则代表层间的数据传输量，从而为后续在目标架构上的调度和优化提供了精确的数学模型基础。</a:t>
            </a:r>
            <a:endParaRPr lang="zh-CN" altLang="en-US" dirty="0"/>
          </a:p>
          <a:p>
            <a:r>
              <a:rPr lang="zh-CN" altLang="en-US" dirty="0"/>
              <a:t>与依赖单一</a:t>
            </a:r>
            <a:r>
              <a:rPr lang="en-US" altLang="zh-CN" dirty="0"/>
              <a:t>PIM</a:t>
            </a:r>
            <a:r>
              <a:rPr lang="zh-CN" altLang="en-US" dirty="0"/>
              <a:t>技术相比，整合多种</a:t>
            </a:r>
            <a:r>
              <a:rPr lang="en-US" altLang="zh-CN" dirty="0"/>
              <a:t>PIM</a:t>
            </a:r>
            <a:r>
              <a:rPr lang="zh-CN" altLang="en-US" dirty="0"/>
              <a:t>实现的异构系统可以通过发挥各类型的优势实现更优的整体性能。</a:t>
            </a:r>
            <a:endParaRPr lang="zh-CN" altLang="en-US" dirty="0"/>
          </a:p>
          <a:p>
            <a:r>
              <a:rPr lang="en-US" altLang="zh-CN" dirty="0"/>
              <a:t>(1) </a:t>
            </a:r>
            <a:r>
              <a:rPr lang="zh-CN" altLang="en-US" dirty="0"/>
              <a:t>标准</a:t>
            </a:r>
            <a:r>
              <a:rPr lang="en-US" altLang="zh-CN" dirty="0"/>
              <a:t> PIM </a:t>
            </a:r>
            <a:r>
              <a:rPr lang="zh-CN" altLang="en-US" dirty="0"/>
              <a:t>方法利用基于</a:t>
            </a:r>
            <a:r>
              <a:rPr lang="en-US" altLang="zh-CN" dirty="0"/>
              <a:t> ReRAM </a:t>
            </a:r>
            <a:r>
              <a:rPr lang="zh-CN" altLang="en-US" dirty="0"/>
              <a:t>的宏单元，其中输入作为</a:t>
            </a:r>
            <a:r>
              <a:rPr lang="en-US" altLang="zh-CN" dirty="0"/>
              <a:t> 1 </a:t>
            </a:r>
            <a:r>
              <a:rPr lang="zh-CN" altLang="en-US" dirty="0"/>
              <a:t>位流数据进行处理，每一列连接到单独的</a:t>
            </a:r>
            <a:r>
              <a:rPr lang="en-US" altLang="zh-CN" dirty="0"/>
              <a:t> ADC </a:t>
            </a:r>
            <a:r>
              <a:rPr lang="zh-CN" altLang="en-US" dirty="0"/>
              <a:t>。</a:t>
            </a:r>
            <a:r>
              <a:rPr lang="en-US" altLang="zh-CN" dirty="0"/>
              <a:t>(2) </a:t>
            </a:r>
            <a:r>
              <a:rPr lang="zh-CN" altLang="en-US" dirty="0"/>
              <a:t>共享</a:t>
            </a:r>
            <a:r>
              <a:rPr lang="en-US" altLang="zh-CN" dirty="0"/>
              <a:t> ADC </a:t>
            </a:r>
            <a:r>
              <a:rPr lang="zh-CN" altLang="en-US" dirty="0"/>
              <a:t>的</a:t>
            </a:r>
            <a:r>
              <a:rPr lang="en-US" altLang="zh-CN" dirty="0"/>
              <a:t> PIM </a:t>
            </a:r>
            <a:r>
              <a:rPr lang="zh-CN" altLang="en-US" dirty="0"/>
              <a:t>架构在交叉阵列列之间采用共享</a:t>
            </a:r>
            <a:r>
              <a:rPr lang="en-US" altLang="zh-CN" dirty="0"/>
              <a:t> ADC</a:t>
            </a:r>
            <a:r>
              <a:rPr lang="zh-CN" altLang="en-US" dirty="0"/>
              <a:t>，以节省面积和能量</a:t>
            </a:r>
            <a:r>
              <a:rPr lang="en-US" altLang="zh-CN" dirty="0"/>
              <a:t> </a:t>
            </a:r>
            <a:r>
              <a:rPr lang="zh-CN" altLang="en-US" dirty="0"/>
              <a:t>。该设计通过对不同列的模拟输出求和，减少了</a:t>
            </a:r>
            <a:r>
              <a:rPr lang="en-US" altLang="zh-CN" dirty="0"/>
              <a:t> ADC </a:t>
            </a:r>
            <a:r>
              <a:rPr lang="zh-CN" altLang="en-US" dirty="0"/>
              <a:t>的数量，从而降低了面积和能耗。</a:t>
            </a:r>
            <a:r>
              <a:rPr lang="en-US" altLang="zh-CN" dirty="0"/>
              <a:t>(3) </a:t>
            </a:r>
            <a:r>
              <a:rPr lang="zh-CN" altLang="en-US" dirty="0"/>
              <a:t>无</a:t>
            </a:r>
            <a:r>
              <a:rPr lang="en-US" altLang="zh-CN" dirty="0"/>
              <a:t> ADC </a:t>
            </a:r>
            <a:r>
              <a:rPr lang="zh-CN" altLang="en-US" dirty="0"/>
              <a:t>的</a:t>
            </a:r>
            <a:r>
              <a:rPr lang="en-US" altLang="zh-CN" dirty="0"/>
              <a:t> PIM </a:t>
            </a:r>
            <a:r>
              <a:rPr lang="zh-CN" altLang="en-US" dirty="0"/>
              <a:t>架构，也称为近存储计算</a:t>
            </a:r>
            <a:r>
              <a:rPr lang="en-US" altLang="zh-CN" dirty="0"/>
              <a:t> (NMC)</a:t>
            </a:r>
            <a:r>
              <a:rPr lang="zh-CN" altLang="en-US" dirty="0"/>
              <a:t>，用完全数字处理替代模拟域的</a:t>
            </a:r>
            <a:r>
              <a:rPr lang="en-US" altLang="zh-CN" dirty="0"/>
              <a:t> MAC </a:t>
            </a:r>
            <a:r>
              <a:rPr lang="zh-CN" altLang="en-US" dirty="0"/>
              <a:t>操作。每个存储单元直接连接到数字</a:t>
            </a:r>
            <a:r>
              <a:rPr lang="en-US" altLang="zh-CN" dirty="0"/>
              <a:t> MAC </a:t>
            </a:r>
            <a:r>
              <a:rPr lang="zh-CN" altLang="en-US" dirty="0"/>
              <a:t>单元，而不是在模拟域中执行计算，从而消除了对</a:t>
            </a:r>
            <a:r>
              <a:rPr lang="en-US" altLang="zh-CN" dirty="0"/>
              <a:t> ADC </a:t>
            </a:r>
            <a:r>
              <a:rPr lang="zh-CN" altLang="en-US" dirty="0"/>
              <a:t>的需求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r>
              <a:rPr lang="en-US" altLang="zh-CN" dirty="0"/>
              <a:t>(4) </a:t>
            </a:r>
            <a:r>
              <a:rPr lang="zh-CN" altLang="en-US" dirty="0"/>
              <a:t>基于累加器的</a:t>
            </a:r>
            <a:r>
              <a:rPr lang="en-US" altLang="zh-CN" dirty="0"/>
              <a:t> PIM </a:t>
            </a:r>
            <a:r>
              <a:rPr lang="zh-CN" altLang="en-US" dirty="0"/>
              <a:t>架构使用模拟累加器在多个周期内对输入进行累加，然后再转换到数字域，从而减少了高能耗</a:t>
            </a:r>
            <a:r>
              <a:rPr lang="en-US" altLang="zh-CN" dirty="0"/>
              <a:t> ADC </a:t>
            </a:r>
            <a:r>
              <a:rPr lang="zh-CN" altLang="en-US" dirty="0"/>
              <a:t>操作的频率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多芯粒架构表征图（</a:t>
            </a:r>
            <a:r>
              <a:rPr lang="en-US" altLang="zh-CN" dirty="0"/>
              <a:t>ACG</a:t>
            </a:r>
            <a:r>
              <a:rPr lang="zh-CN" altLang="en-US" dirty="0"/>
              <a:t>）是一个有向图模型，用于表征多芯粒系统的硬件特性和通信链路，并作为热感知和资源受限的调度与映射算法的基础输入。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level1</a:t>
            </a:r>
            <a:r>
              <a:rPr lang="zh-CN" altLang="en-US" dirty="0"/>
              <a:t>：</a:t>
            </a:r>
            <a:r>
              <a:rPr lang="en-US" altLang="zh-CN" dirty="0"/>
              <a:t>THERMOS</a:t>
            </a:r>
            <a:r>
              <a:rPr lang="zh-CN" altLang="en-US" dirty="0"/>
              <a:t>为多目标优化训练单一的</a:t>
            </a:r>
            <a:r>
              <a:rPr lang="en-US" altLang="zh-CN" dirty="0"/>
              <a:t>MORL</a:t>
            </a:r>
            <a:r>
              <a:rPr lang="zh-CN" altLang="en-US" dirty="0"/>
              <a:t>策略。它使用一个偏好向量𝝎</a:t>
            </a:r>
            <a:r>
              <a:rPr lang="en-US" altLang="zh-CN" dirty="0"/>
              <a:t> ∈ Ω</a:t>
            </a:r>
            <a:r>
              <a:rPr lang="zh-CN" altLang="en-US" dirty="0"/>
              <a:t>，其中各偏好相加为</a:t>
            </a:r>
            <a:r>
              <a:rPr lang="en-US" altLang="zh-CN" dirty="0"/>
              <a:t>1</a:t>
            </a:r>
            <a:r>
              <a:rPr lang="zh-CN" altLang="en-US" dirty="0"/>
              <a:t>，即</a:t>
            </a:r>
            <a:r>
              <a:rPr lang="en-US" altLang="zh-CN" dirty="0"/>
              <a:t> ∑</a:t>
            </a:r>
            <a:r>
              <a:rPr lang="zh-CN" altLang="en-US" dirty="0"/>
              <a:t>𝝎</a:t>
            </a:r>
            <a:r>
              <a:rPr lang="en-US" altLang="zh-CN" dirty="0"/>
              <a:t>∈Ω </a:t>
            </a:r>
            <a:r>
              <a:rPr lang="zh-CN" altLang="en-US" dirty="0"/>
              <a:t>𝜔𝑖</a:t>
            </a:r>
            <a:r>
              <a:rPr lang="en-US" altLang="zh-CN" dirty="0"/>
              <a:t> = 1</a:t>
            </a:r>
            <a:r>
              <a:rPr lang="zh-CN" altLang="en-US" dirty="0"/>
              <a:t>。在训练过程中，每个训练回合在不同环境中并行运行所有偏好向量，收集奖励向量（而非标量加权和）。这些奖励向量随后用于训练一个单一的偏好驱动策略。训练完成的策略以任意偏好向量作为输入，并实现帕累托最优目标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level2</a:t>
            </a:r>
            <a:r>
              <a:rPr lang="zh-CN" altLang="en-US" dirty="0"/>
              <a:t>：</a:t>
            </a:r>
            <a:r>
              <a:rPr lang="en-US" altLang="zh-CN" dirty="0"/>
              <a:t>THERMOS </a:t>
            </a:r>
            <a:r>
              <a:rPr lang="zh-CN" altLang="en-US" dirty="0"/>
              <a:t>会将该层映射到该类型的物理芯片组上。此阶段还包括一个平铺机制，用于处理无法完全放入单个芯片组本地内存的大型神经层。基于接近度的算法首先尽可能填充一个芯片组，从而将片间通信最小化。如果该层的大小超过该芯片组的内存容量，</a:t>
            </a:r>
            <a:r>
              <a:rPr lang="en-US" altLang="zh-CN" dirty="0"/>
              <a:t>THERMOS </a:t>
            </a:r>
            <a:r>
              <a:rPr lang="zh-CN" altLang="en-US" dirty="0"/>
              <a:t>会选择同类型的其他芯片组，并继续映射，直到该层完全分配完毕。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可微分决策树（</a:t>
            </a:r>
            <a:r>
              <a:rPr lang="en-US" altLang="zh-CN" dirty="0"/>
              <a:t>DDT</a:t>
            </a:r>
            <a:r>
              <a:rPr lang="zh-CN" altLang="en-US" dirty="0"/>
              <a:t>）每个节点对状态向量</a:t>
            </a:r>
            <a:r>
              <a:rPr lang="en-US" altLang="zh-CN" dirty="0"/>
              <a:t> s </a:t>
            </a:r>
            <a:r>
              <a:rPr lang="zh-CN" altLang="en-US" dirty="0"/>
              <a:t>和偏好向量</a:t>
            </a:r>
            <a:r>
              <a:rPr lang="en-US" altLang="zh-CN" dirty="0"/>
              <a:t> ω </a:t>
            </a:r>
            <a:r>
              <a:rPr lang="zh-CN" altLang="en-US" dirty="0"/>
              <a:t>的线性组合进行计算；使用</a:t>
            </a:r>
            <a:r>
              <a:rPr lang="en-US" altLang="zh-CN" dirty="0"/>
              <a:t>Sigmoid</a:t>
            </a:r>
            <a:r>
              <a:rPr lang="zh-CN" altLang="en-US" dirty="0"/>
              <a:t>激活实现可微的划分；叶节点输出动作空间向量，经过</a:t>
            </a:r>
            <a:r>
              <a:rPr lang="en-US" altLang="zh-CN" dirty="0"/>
              <a:t>softmax</a:t>
            </a:r>
            <a:r>
              <a:rPr lang="zh-CN" altLang="en-US" dirty="0"/>
              <a:t>得到动作概率分布；可通过梯度下降直接训练，兼具可解释性与高效性。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即用负延迟与负能耗作为奖励，便于强化学习</a:t>
            </a:r>
            <a:r>
              <a:rPr lang="en-US" altLang="zh-CN" dirty="0"/>
              <a:t>“</a:t>
            </a:r>
            <a:r>
              <a:rPr lang="zh-CN" altLang="en-US" dirty="0"/>
              <a:t>最大化</a:t>
            </a:r>
            <a:r>
              <a:rPr lang="en-US" altLang="zh-CN" dirty="0"/>
              <a:t>”</a:t>
            </a:r>
            <a:r>
              <a:rPr lang="zh-CN" altLang="en-US" dirty="0"/>
              <a:t>目标。为应对延迟奖励与温度动态问题：主奖励（</a:t>
            </a:r>
            <a:r>
              <a:rPr lang="en-US" altLang="zh-CN" dirty="0"/>
              <a:t>Primary Reward</a:t>
            </a:r>
            <a:r>
              <a:rPr lang="zh-CN" altLang="en-US" dirty="0"/>
              <a:t>）：在任务映射完成时立即计算（理想条件）；次奖励（</a:t>
            </a:r>
            <a:r>
              <a:rPr lang="en-US" altLang="zh-CN" dirty="0"/>
              <a:t>Secondary Reward</a:t>
            </a:r>
            <a:r>
              <a:rPr lang="zh-CN" altLang="en-US" dirty="0"/>
              <a:t>）：执行完后再计算，反映温度升高与能量泄漏带来的惩罚。该双阶段奖励机制帮助智能体正确地将结果归因到相应动作，改善学习稳定性。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输入：</a:t>
            </a:r>
            <a:r>
              <a:rPr lang="en-US" altLang="zh-CN" dirty="0"/>
              <a:t> </a:t>
            </a:r>
            <a:r>
              <a:rPr lang="zh-CN" altLang="en-US" dirty="0"/>
              <a:t>接收深度学习工作负载图</a:t>
            </a:r>
            <a:r>
              <a:rPr lang="en-US" altLang="zh-CN" dirty="0"/>
              <a:t> </a:t>
            </a:r>
            <a:r>
              <a:rPr lang="zh-CN" altLang="en-US" dirty="0"/>
              <a:t>，总输入，架构图</a:t>
            </a:r>
            <a:r>
              <a:rPr lang="en-US" altLang="zh-CN" dirty="0"/>
              <a:t> </a:t>
            </a:r>
            <a:r>
              <a:rPr lang="zh-CN" altLang="en-US" dirty="0"/>
              <a:t>，以及用户偏好的优化目标</a:t>
            </a:r>
            <a:r>
              <a:rPr lang="en-US" altLang="zh-CN" dirty="0"/>
              <a:t> </a:t>
            </a:r>
            <a:r>
              <a:rPr lang="zh-CN" altLang="en-US" dirty="0"/>
              <a:t>（能耗、延迟或平衡</a:t>
            </a:r>
            <a:r>
              <a:rPr lang="en-US" altLang="zh-CN" dirty="0"/>
              <a:t>)</a:t>
            </a:r>
            <a:r>
              <a:rPr lang="zh-CN" altLang="en-US" dirty="0"/>
              <a:t>。调度：</a:t>
            </a:r>
            <a:r>
              <a:rPr lang="en-US" altLang="zh-CN" dirty="0"/>
              <a:t> </a:t>
            </a:r>
            <a:r>
              <a:rPr lang="zh-CN" altLang="en-US" dirty="0"/>
              <a:t>针对深度学习工作负载的每一个神经网络层</a:t>
            </a:r>
            <a:r>
              <a:rPr lang="en-US" altLang="zh-CN" dirty="0"/>
              <a:t> </a:t>
            </a:r>
            <a:r>
              <a:rPr lang="zh-CN" altLang="en-US" dirty="0"/>
              <a:t>，循环执行以下操作：选择</a:t>
            </a:r>
            <a:r>
              <a:rPr lang="en-US" altLang="zh-CN" dirty="0"/>
              <a:t> PIM </a:t>
            </a:r>
            <a:r>
              <a:rPr lang="zh-CN" altLang="en-US" dirty="0"/>
              <a:t>集群</a:t>
            </a:r>
            <a:r>
              <a:rPr lang="en-US" altLang="zh-CN" dirty="0"/>
              <a:t> (pim-cluster)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使用一个名为</a:t>
            </a:r>
            <a:r>
              <a:rPr lang="en-US" altLang="zh-CN" dirty="0"/>
              <a:t> MORL </a:t>
            </a:r>
            <a:r>
              <a:rPr lang="zh-CN" altLang="en-US" dirty="0"/>
              <a:t>的函数，根据当前的层、前一个层、架构、工作负载、输入和优化偏好</a:t>
            </a:r>
            <a:r>
              <a:rPr lang="en-US" altLang="zh-CN" dirty="0"/>
              <a:t> </a:t>
            </a:r>
            <a:r>
              <a:rPr lang="zh-CN" altLang="en-US" dirty="0"/>
              <a:t>来选择一个适合处理该层的</a:t>
            </a:r>
            <a:r>
              <a:rPr lang="en-US" altLang="zh-CN" dirty="0"/>
              <a:t> PIM </a:t>
            </a:r>
            <a:r>
              <a:rPr lang="zh-CN" altLang="en-US" dirty="0"/>
              <a:t>集群。集群到小芯片的映射：</a:t>
            </a:r>
            <a:r>
              <a:rPr lang="en-US" altLang="zh-CN" dirty="0"/>
              <a:t> </a:t>
            </a:r>
            <a:r>
              <a:rPr lang="zh-CN" altLang="en-US" dirty="0"/>
              <a:t>使用一个名为</a:t>
            </a:r>
            <a:r>
              <a:rPr lang="en-US" altLang="zh-CN" dirty="0"/>
              <a:t> Proximity-driven algorithm </a:t>
            </a:r>
            <a:r>
              <a:rPr lang="zh-CN" altLang="en-US" dirty="0"/>
              <a:t>的函数，将选定的集群映射到具体的小芯片上，生成临时的调度策略</a:t>
            </a:r>
            <a:r>
              <a:rPr lang="en-US" altLang="zh-CN" dirty="0"/>
              <a:t> </a:t>
            </a:r>
            <a:r>
              <a:rPr lang="zh-CN" altLang="en-US" dirty="0"/>
              <a:t>。更新状态：</a:t>
            </a:r>
            <a:r>
              <a:rPr lang="en-US" altLang="zh-CN" dirty="0"/>
              <a:t> </a:t>
            </a:r>
            <a:r>
              <a:rPr lang="zh-CN" altLang="en-US" dirty="0"/>
              <a:t>更新剩余的权重和集群的内存</a:t>
            </a:r>
            <a:r>
              <a:rPr lang="en-US" altLang="zh-CN" dirty="0"/>
              <a:t>/</a:t>
            </a:r>
            <a:r>
              <a:rPr lang="zh-CN" altLang="en-US" dirty="0"/>
              <a:t>温度等信息。聚合：</a:t>
            </a:r>
            <a:r>
              <a:rPr lang="en-US" altLang="zh-CN" dirty="0"/>
              <a:t> </a:t>
            </a:r>
            <a:r>
              <a:rPr lang="zh-CN" altLang="en-US" dirty="0"/>
              <a:t>将所有层的调度函数</a:t>
            </a:r>
            <a:r>
              <a:rPr lang="en-US" altLang="zh-CN" dirty="0"/>
              <a:t>  </a:t>
            </a:r>
            <a:r>
              <a:rPr lang="zh-CN" altLang="en-US" dirty="0"/>
              <a:t>聚合成最终的调度策略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设定的工作负载有</a:t>
            </a:r>
            <a:r>
              <a:rPr lang="zh-CN" altLang="en-US" dirty="0"/>
              <a:t>六类</a:t>
            </a:r>
            <a:endParaRPr lang="zh-CN" altLang="en-US" dirty="0"/>
          </a:p>
          <a:p>
            <a:r>
              <a:rPr lang="zh-CN" altLang="en-US" dirty="0"/>
              <a:t>对比的其他几类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基础映射算法，假定了两块芯片，进行分别映射，现有算法更倾向于在任务数量上进行平衡，将任务大致均匀地分布到所有的处理单元</a:t>
            </a:r>
            <a:r>
              <a:rPr lang="en-US" altLang="zh-CN" dirty="0"/>
              <a:t>/</a:t>
            </a:r>
            <a:r>
              <a:rPr lang="zh-CN" altLang="en-US" dirty="0"/>
              <a:t>芯粒上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本文提出的算法明确以最小化芯粒间通信量为目标，通过智能地分组，将通信量大的任务尽可能地映射到同一个芯粒上。降低通信</a:t>
            </a:r>
            <a:r>
              <a:rPr lang="zh-CN" altLang="en-US" dirty="0"/>
              <a:t>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系统模型：系统被抽象为一个无向图</a:t>
            </a:r>
            <a:r>
              <a:rPr lang="en-US" altLang="zh-CN" dirty="0"/>
              <a:t>C</a:t>
            </a:r>
            <a:r>
              <a:rPr lang="zh-CN" altLang="en-US" dirty="0"/>
              <a:t>：核心（</a:t>
            </a:r>
            <a:r>
              <a:rPr lang="en-US" altLang="zh-CN" dirty="0"/>
              <a:t>cores</a:t>
            </a:r>
            <a:r>
              <a:rPr lang="zh-CN" altLang="en-US" dirty="0"/>
              <a:t>）的集合；</a:t>
            </a:r>
            <a:r>
              <a:rPr lang="en-US" altLang="zh-CN" dirty="0"/>
              <a:t>L</a:t>
            </a:r>
            <a:r>
              <a:rPr lang="zh-CN" altLang="en-US" dirty="0"/>
              <a:t>：连接这些核心的链路集合（</a:t>
            </a:r>
            <a:r>
              <a:rPr lang="en-US" altLang="zh-CN" dirty="0"/>
              <a:t>links</a:t>
            </a:r>
            <a:r>
              <a:rPr lang="zh-CN" altLang="en-US" dirty="0"/>
              <a:t>）。需要进行通信建模芯粒内通信延迟</a:t>
            </a:r>
            <a:r>
              <a:rPr lang="en-US" altLang="zh-CN" dirty="0"/>
              <a:t> </a:t>
            </a:r>
            <a:r>
              <a:rPr lang="zh-CN" altLang="en-US" dirty="0"/>
              <a:t>；芯粒间通信延迟</a:t>
            </a:r>
            <a:r>
              <a:rPr lang="en-US" altLang="zh-CN" dirty="0"/>
              <a:t> </a:t>
            </a:r>
            <a:r>
              <a:rPr lang="zh-CN" altLang="en-US" dirty="0"/>
              <a:t>。芯粒间延迟通常是芯粒内延迟的</a:t>
            </a:r>
            <a:r>
              <a:rPr lang="en-US" altLang="zh-CN" dirty="0"/>
              <a:t> 10–30 </a:t>
            </a:r>
            <a:r>
              <a:rPr lang="zh-CN" altLang="en-US" dirty="0"/>
              <a:t>倍，带宽也较低。两种典型的拓扑结构是平铺式和</a:t>
            </a:r>
            <a:r>
              <a:rPr lang="zh-CN" altLang="en-US" dirty="0"/>
              <a:t>集中式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应用模型：应用程序被表示为一个有向图，节点表示任务集合，边表示</a:t>
            </a:r>
            <a:r>
              <a:rPr lang="zh-CN" altLang="en-US" dirty="0"/>
              <a:t>依赖关系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热功率建模：参考复杂推导公式，得到任务量与功耗和热量的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简单来说，</a:t>
            </a:r>
            <a:r>
              <a:rPr lang="en-US" altLang="zh-CN" dirty="0"/>
              <a:t>BQP </a:t>
            </a:r>
            <a:r>
              <a:rPr lang="zh-CN" altLang="en-US" dirty="0"/>
              <a:t>是指目标函数是二次型，并且决策变量只能取二元值（</a:t>
            </a:r>
            <a:r>
              <a:rPr lang="en-US" altLang="zh-CN" dirty="0"/>
              <a:t>0 </a:t>
            </a:r>
            <a:r>
              <a:rPr lang="zh-CN" altLang="en-US" dirty="0"/>
              <a:t>或</a:t>
            </a:r>
            <a:r>
              <a:rPr lang="en-US" altLang="zh-CN" dirty="0"/>
              <a:t> 1</a:t>
            </a:r>
            <a:r>
              <a:rPr lang="zh-CN" altLang="en-US" dirty="0"/>
              <a:t>，或</a:t>
            </a:r>
            <a:r>
              <a:rPr lang="en-US" altLang="zh-CN" dirty="0"/>
              <a:t> -1 </a:t>
            </a:r>
            <a:r>
              <a:rPr lang="zh-CN" altLang="en-US" dirty="0"/>
              <a:t>或</a:t>
            </a:r>
            <a:r>
              <a:rPr lang="en-US" altLang="zh-CN" dirty="0"/>
              <a:t> 1</a:t>
            </a:r>
            <a:r>
              <a:rPr lang="zh-CN" altLang="en-US" dirty="0"/>
              <a:t>）的优化问题。最小化或者最大化</a:t>
            </a:r>
            <a:r>
              <a:rPr lang="zh-CN" altLang="en-US" dirty="0"/>
              <a:t>二次型</a:t>
            </a:r>
            <a:endParaRPr lang="zh-CN" altLang="en-US" dirty="0"/>
          </a:p>
          <a:p>
            <a:r>
              <a:rPr lang="zh-CN" altLang="en-US" dirty="0"/>
              <a:t>由于</a:t>
            </a:r>
            <a:r>
              <a:rPr lang="en-US" altLang="zh-CN" dirty="0"/>
              <a:t> BQP </a:t>
            </a:r>
            <a:r>
              <a:rPr lang="zh-CN" altLang="en-US" dirty="0"/>
              <a:t>求解复杂度高（</a:t>
            </a:r>
            <a:r>
              <a:rPr lang="en-US" altLang="zh-CN" dirty="0"/>
              <a:t>NP-hard</a:t>
            </a:r>
            <a:r>
              <a:rPr lang="zh-CN" altLang="en-US" dirty="0"/>
              <a:t>），作者利用约束矩阵的全单模性（</a:t>
            </a:r>
            <a:r>
              <a:rPr lang="en-US" altLang="zh-CN" dirty="0"/>
              <a:t>Totally Unimodular Property</a:t>
            </a:r>
            <a:r>
              <a:rPr lang="zh-CN" altLang="en-US" dirty="0"/>
              <a:t>）将其等价转化为</a:t>
            </a:r>
            <a:r>
              <a:rPr lang="en-US" altLang="zh-CN" dirty="0"/>
              <a:t> Binary Linear Programming (BLP) </a:t>
            </a:r>
            <a:r>
              <a:rPr lang="zh-CN" altLang="en-US" dirty="0"/>
              <a:t>问题。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BLP</a:t>
            </a:r>
            <a:r>
              <a:rPr lang="zh-CN" altLang="en-US" dirty="0">
                <a:sym typeface="+mn-ea"/>
              </a:rPr>
              <a:t>基本线性规划，通过一次函数的线性规划抽象解决这个</a:t>
            </a:r>
            <a:r>
              <a:rPr lang="zh-CN" altLang="en-US" dirty="0">
                <a:sym typeface="+mn-ea"/>
              </a:rPr>
              <a:t>问题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对偶内点法路径始终保持在可行域的严格内部，沿着一条称为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中心路径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的曲线，逼近最优解。</a:t>
            </a:r>
            <a:r>
              <a:rPr lang="zh-CN" altLang="en-US" dirty="0">
                <a:sym typeface="+mn-ea"/>
              </a:rPr>
              <a:t>迭代次数通常较少，且与问题规模的多项式相关。每一步需要求解一个线性方程组，计算量较大。该算法同时考虑了原始问题</a:t>
            </a:r>
            <a:r>
              <a:rPr lang="en-US" altLang="zh-CN" dirty="0">
                <a:sym typeface="+mn-ea"/>
              </a:rPr>
              <a:t> (Primal Problem) </a:t>
            </a:r>
            <a:r>
              <a:rPr lang="zh-CN" altLang="en-US" dirty="0">
                <a:sym typeface="+mn-ea"/>
              </a:rPr>
              <a:t>和其对应的对偶问题</a:t>
            </a:r>
            <a:r>
              <a:rPr lang="en-US" altLang="zh-CN" dirty="0">
                <a:sym typeface="+mn-ea"/>
              </a:rPr>
              <a:t> (Dual Problem)</a:t>
            </a:r>
            <a:r>
              <a:rPr lang="zh-CN" altLang="en-US" dirty="0">
                <a:sym typeface="+mn-ea"/>
              </a:rPr>
              <a:t>，并试图同时满足它们的最优化条件</a:t>
            </a:r>
            <a:r>
              <a:rPr lang="en-US" altLang="zh-CN" dirty="0">
                <a:sym typeface="+mn-ea"/>
              </a:rPr>
              <a:t> (Optimality Conditions)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引入障碍函数和中心路径，使用牛顿法求解：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在每一步迭代中，算法固定</a:t>
            </a:r>
            <a:r>
              <a:rPr lang="en-US" altLang="zh-CN" dirty="0">
                <a:sym typeface="+mn-ea"/>
              </a:rPr>
              <a:t>  </a:t>
            </a:r>
            <a:r>
              <a:rPr lang="zh-CN" altLang="en-US" dirty="0">
                <a:sym typeface="+mn-ea"/>
              </a:rPr>
              <a:t>的值，并使用牛顿法</a:t>
            </a:r>
            <a:r>
              <a:rPr lang="en-US" altLang="zh-CN" dirty="0">
                <a:sym typeface="+mn-ea"/>
              </a:rPr>
              <a:t> (Newton's Method) </a:t>
            </a:r>
            <a:r>
              <a:rPr lang="zh-CN" altLang="en-US" dirty="0">
                <a:sym typeface="+mn-ea"/>
              </a:rPr>
              <a:t>求解</a:t>
            </a:r>
            <a:r>
              <a:rPr lang="en-US" altLang="zh-CN" dirty="0">
                <a:sym typeface="+mn-ea"/>
              </a:rPr>
              <a:t> KKT </a:t>
            </a:r>
            <a:r>
              <a:rPr lang="zh-CN" altLang="en-US" dirty="0">
                <a:sym typeface="+mn-ea"/>
              </a:rPr>
              <a:t>条件和松弛互补条件所组成的非线性方程组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减小障碍参数在每完成一次牛顿迭代后，算法会减小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障碍参数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的值（使其更接近</a:t>
            </a:r>
            <a:r>
              <a:rPr lang="en-US" altLang="zh-CN" dirty="0">
                <a:sym typeface="+mn-ea"/>
              </a:rPr>
              <a:t> 0</a:t>
            </a:r>
            <a:r>
              <a:rPr lang="zh-CN" altLang="en-US" dirty="0">
                <a:sym typeface="+mn-ea"/>
              </a:rPr>
              <a:t>），将下一个目标点推向中心路径上更接近最优解的位置。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芯粒内任务映射：定义任务的通信比，通信比高任务更多地与同芯粒任务通信，低</a:t>
            </a:r>
            <a:r>
              <a:rPr lang="zh-CN" altLang="en-US" dirty="0">
                <a:sym typeface="+mn-ea"/>
              </a:rPr>
              <a:t>表示任务更多地跨芯粒通信。</a:t>
            </a:r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23545" y="2481687"/>
            <a:ext cx="10040472" cy="82994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多任务热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kumimoji="1" lang="zh-CN" altLang="en-US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考生姓名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4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汇报人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5"/>
            </p:custData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房星辰</a:t>
                      </a:r>
                      <a:endParaRPr kumimoji="1" lang="zh-CN" altLang="en-US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6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汇报时间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7"/>
            </p:custData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2025.11.1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36066" y="3335912"/>
            <a:ext cx="2834140" cy="46037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141E8C"/>
                </a:solidFill>
                <a:latin typeface="Times New Roman Bold" panose="02020803070505020304" charset="0"/>
                <a:cs typeface="Times New Roman Bold" panose="02020803070505020304" charset="0"/>
              </a:rPr>
              <a:t>CONTENS</a:t>
            </a:r>
            <a:endParaRPr kumimoji="1" lang="en-US" altLang="zh-CN" sz="2400" b="1" dirty="0">
              <a:solidFill>
                <a:srgbClr val="141E8C"/>
              </a:solidFill>
              <a:latin typeface="Times New Roman Bold" panose="02020803070505020304" charset="0"/>
              <a:cs typeface="Times New Roman Bold" panose="020208030705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22499" y="2613895"/>
            <a:ext cx="1662545" cy="70675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kumimoji="1" lang="en-US" altLang="zh-CN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kumimoji="1" lang="zh-CN" altLang="en-US" sz="4000" b="1" spc="30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线连接符 23"/>
          <p:cNvCxnSpPr/>
          <p:nvPr/>
        </p:nvCxnSpPr>
        <p:spPr>
          <a:xfrm>
            <a:off x="4462500" y="1297515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5222774" y="1535473"/>
            <a:ext cx="5733160" cy="953135"/>
            <a:chOff x="5439957" y="3724593"/>
            <a:chExt cx="5733160" cy="953135"/>
          </a:xfrm>
        </p:grpSpPr>
        <p:sp>
          <p:nvSpPr>
            <p:cNvPr id="8" name="文本框 7"/>
            <p:cNvSpPr txBox="1"/>
            <p:nvPr/>
          </p:nvSpPr>
          <p:spPr>
            <a:xfrm>
              <a:off x="6200063" y="3724593"/>
              <a:ext cx="4973054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THERMOS:Thermally-Aware Multi-Objective Scheduling of AI Workloads on Heterogeneous Multi-Chiplet PIM Architectures</a:t>
              </a:r>
              <a:endParaRPr kumimoji="1" lang="en-US" altLang="zh-CN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1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222774" y="3403845"/>
            <a:ext cx="6517005" cy="829945"/>
            <a:chOff x="5222774" y="3596205"/>
            <a:chExt cx="6517005" cy="829945"/>
          </a:xfrm>
        </p:grpSpPr>
        <p:sp>
          <p:nvSpPr>
            <p:cNvPr id="2" name="文本框 1"/>
            <p:cNvSpPr txBox="1"/>
            <p:nvPr/>
          </p:nvSpPr>
          <p:spPr>
            <a:xfrm>
              <a:off x="5843169" y="3596205"/>
              <a:ext cx="589661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On Task Mapping in Multi-chiplet Based Many-Core Systems to Optimize Inter- and Intra-chiplet Communications</a:t>
              </a:r>
              <a:endParaRPr kumimoji="1" lang="en-US" altLang="zh-CN" sz="16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222774" y="3596205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2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/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/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>
              <p:custDataLst>
                <p:tags r:id="rId3"/>
              </p:custDataLst>
            </p:nvPr>
          </p:nvSpPr>
          <p:spPr>
            <a:xfrm>
              <a:off x="8891" y="3398"/>
              <a:ext cx="9612" cy="188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THERMOS:Thermally-Aware Multi-Objective Scheduling of AI Workloads on Heterogeneous Multi-Chiplet PIM Architectures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3879" y="5932169"/>
            <a:ext cx="11064240" cy="64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[1] </a:t>
            </a:r>
            <a:r>
              <a:rPr lang="en-US" altLang="zh-CN" sz="16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Dong Y, Liu X, Hao X, et al. Hierarchical Power Co-Optimization and Management for LLM </a:t>
            </a:r>
            <a:r>
              <a:rPr lang="en-US" altLang="zh-CN" sz="1600" i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Chiplet</a:t>
            </a:r>
            <a:r>
              <a:rPr lang="en-US" altLang="zh-CN" sz="16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 Designs[C]//Proceedings of the 43rd IEEE/ACM International Conference on Computer-Aided Design. 2024: 1-9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.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（引用文献）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 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THERMOS:Thermally-Aware Multi-Objective Scheduling of AI Workloads on Heterogeneous Multi-Chiplet PIM Architectures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1.1 PIM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Processing-In-Memory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存算一体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5720715" y="2276475"/>
            <a:ext cx="6191885" cy="3028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28800" y="2428875"/>
            <a:ext cx="31248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*</a:t>
            </a:r>
            <a:r>
              <a:rPr lang="zh-CN" altLang="en-US" sz="2000"/>
              <a:t>不同于传统冯诺依曼</a:t>
            </a:r>
            <a:r>
              <a:rPr lang="zh-CN" altLang="en-US" sz="2000"/>
              <a:t>架构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1828800" y="308292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*</a:t>
            </a:r>
            <a:r>
              <a:rPr lang="zh-CN" altLang="en-US" sz="2000">
                <a:sym typeface="+mn-ea"/>
              </a:rPr>
              <a:t>打破功耗墙和存储墙，提高</a:t>
            </a:r>
            <a:r>
              <a:rPr lang="zh-CN" altLang="en-US" sz="2000">
                <a:sym typeface="+mn-ea"/>
              </a:rPr>
              <a:t>效率</a:t>
            </a:r>
            <a:endParaRPr lang="zh-CN" altLang="en-US" sz="20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28800" y="366204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*</a:t>
            </a:r>
            <a:r>
              <a:rPr lang="zh-CN" altLang="en-US" sz="2000">
                <a:sym typeface="+mn-ea"/>
              </a:rPr>
              <a:t>最小化数据移动</a:t>
            </a:r>
            <a:endParaRPr lang="zh-CN" altLang="en-US" sz="20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28800" y="42862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*</a:t>
            </a:r>
            <a:r>
              <a:rPr lang="zh-CN" altLang="en-US" sz="2000">
                <a:sym typeface="+mn-ea"/>
              </a:rPr>
              <a:t>问题：带来温度的增加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THERMOS:Thermally-Aware Multi-Objective Scheduling of AI Workloads on Heterogeneous Multi-Chiplet PIM Architectures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研究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15" y="1767205"/>
            <a:ext cx="4290695" cy="23209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935" y="1767205"/>
            <a:ext cx="2318385" cy="24599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13890" y="4207510"/>
            <a:ext cx="93091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核心方法：两级调度</a:t>
            </a:r>
            <a:endParaRPr lang="zh-CN" altLang="en-US" sz="2000"/>
          </a:p>
          <a:p>
            <a:r>
              <a:rPr lang="zh-CN" altLang="en-US" sz="2000"/>
              <a:t>第一级：多目标强化学习策略，主要针对三个关键偏好：最小化执行时间、最小化能耗以及平衡两者</a:t>
            </a:r>
            <a:endParaRPr lang="zh-CN" altLang="en-US" sz="2000"/>
          </a:p>
          <a:p>
            <a:r>
              <a:rPr lang="zh-CN" altLang="en-US" sz="2000"/>
              <a:t>第二级：基于</a:t>
            </a:r>
            <a:r>
              <a:rPr lang="zh-CN" altLang="en-US" sz="2000"/>
              <a:t>近似算法，将神经层直接分配到特定芯片簇内的芯片上，减少通信成本</a:t>
            </a:r>
            <a:endParaRPr lang="zh-CN" altLang="en-US" sz="2000"/>
          </a:p>
        </p:txBody>
      </p:sp>
      <p:sp>
        <p:nvSpPr>
          <p:cNvPr id="12" name="文本框 11"/>
          <p:cNvSpPr txBox="1"/>
          <p:nvPr/>
        </p:nvSpPr>
        <p:spPr>
          <a:xfrm>
            <a:off x="2022475" y="4742180"/>
            <a:ext cx="7689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THERMOS:Thermally-Aware Multi-Objective Scheduling of AI Workloads on Heterogeneous Multi-Chiplet PIM Architectures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基本算法逻辑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155" y="1767205"/>
            <a:ext cx="6162675" cy="2009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37385" y="3998595"/>
            <a:ext cx="95180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 </a:t>
            </a:r>
            <a:r>
              <a:rPr lang="zh-CN" altLang="en-US" sz="2000"/>
              <a:t>将深度学习模块抽象为有向图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利用多</a:t>
            </a:r>
            <a:r>
              <a:rPr lang="en-US" altLang="zh-CN" sz="2000"/>
              <a:t>PIM</a:t>
            </a:r>
            <a:r>
              <a:rPr lang="zh-CN" altLang="en-US" sz="2000"/>
              <a:t>结构的异构集成</a:t>
            </a:r>
            <a:r>
              <a:rPr lang="en-US" altLang="zh-CN" sz="2000"/>
              <a:t>Chiplets</a:t>
            </a:r>
            <a:r>
              <a:rPr lang="zh-CN" altLang="en-US" sz="2000"/>
              <a:t>：</a:t>
            </a:r>
            <a:r>
              <a:rPr lang="en-US" altLang="zh-CN" sz="2000"/>
              <a:t>1</a:t>
            </a:r>
            <a:r>
              <a:rPr lang="zh-CN" altLang="en-US" sz="2000"/>
              <a:t>）标准</a:t>
            </a:r>
            <a:r>
              <a:rPr lang="en-US" altLang="zh-CN" sz="2000"/>
              <a:t> PIM </a:t>
            </a:r>
            <a:r>
              <a:rPr lang="zh-CN" altLang="en-US" sz="2000"/>
              <a:t>方法；</a:t>
            </a:r>
            <a:r>
              <a:rPr lang="en-US" altLang="zh-CN" sz="2000"/>
              <a:t>2</a:t>
            </a:r>
            <a:r>
              <a:rPr lang="zh-CN" altLang="en-US" sz="2000"/>
              <a:t>）共享</a:t>
            </a:r>
            <a:r>
              <a:rPr lang="en-US" altLang="zh-CN" sz="2000"/>
              <a:t> ADC </a:t>
            </a:r>
            <a:r>
              <a:rPr lang="zh-CN" altLang="en-US" sz="2000"/>
              <a:t>的</a:t>
            </a:r>
            <a:r>
              <a:rPr lang="en-US" altLang="zh-CN" sz="2000"/>
              <a:t> PIM </a:t>
            </a:r>
            <a:r>
              <a:rPr lang="zh-CN" altLang="en-US" sz="2000"/>
              <a:t>架构；</a:t>
            </a:r>
            <a:r>
              <a:rPr lang="en-US" altLang="zh-CN" sz="2000"/>
              <a:t>3</a:t>
            </a:r>
            <a:r>
              <a:rPr lang="zh-CN" altLang="en-US" sz="2000"/>
              <a:t>）无</a:t>
            </a:r>
            <a:r>
              <a:rPr lang="en-US" altLang="zh-CN" sz="2000"/>
              <a:t> ADC </a:t>
            </a:r>
            <a:r>
              <a:rPr lang="zh-CN" altLang="en-US" sz="2000"/>
              <a:t>的</a:t>
            </a:r>
            <a:r>
              <a:rPr lang="en-US" altLang="zh-CN" sz="2000"/>
              <a:t> PIM </a:t>
            </a:r>
            <a:r>
              <a:rPr lang="zh-CN" altLang="en-US" sz="2000"/>
              <a:t>架构；</a:t>
            </a:r>
            <a:r>
              <a:rPr lang="en-US" altLang="zh-CN" sz="2000"/>
              <a:t>4</a:t>
            </a:r>
            <a:r>
              <a:rPr lang="zh-CN" altLang="en-US" sz="2000"/>
              <a:t>）基于累加器的</a:t>
            </a:r>
            <a:r>
              <a:rPr lang="en-US" altLang="zh-CN" sz="2000"/>
              <a:t> PIM </a:t>
            </a:r>
            <a:r>
              <a:rPr lang="zh-CN" altLang="en-US" sz="2000"/>
              <a:t>架构；同时可以构建多</a:t>
            </a:r>
            <a:r>
              <a:rPr lang="en-US" altLang="zh-CN" sz="2000"/>
              <a:t>Chiplets</a:t>
            </a:r>
            <a:r>
              <a:rPr lang="zh-CN" altLang="en-US" sz="2000"/>
              <a:t>架构</a:t>
            </a:r>
            <a:r>
              <a:rPr lang="zh-CN" altLang="en-US" sz="2000"/>
              <a:t>表征图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THERMOS:Thermally-Aware Multi-Objective Scheduling of AI Workloads on Heterogeneous Multi-Chiplet PIM Architectures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1.4 THERMOS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的优化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964055" y="4062730"/>
            <a:ext cx="93668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第一级：增添偏好向量（不同偏好和为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），收集奖励向量，</a:t>
            </a:r>
            <a:r>
              <a:rPr lang="zh-CN" altLang="en-US" sz="2000"/>
              <a:t>这些奖励向量随后用于训练一个单一的偏好驱动策略。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第二级：设计近似算法处理无法映射到单一芯片组的</a:t>
            </a:r>
            <a:r>
              <a:rPr lang="zh-CN" altLang="en-US" sz="2000">
                <a:sym typeface="+mn-ea"/>
              </a:rPr>
              <a:t>神经层</a:t>
            </a:r>
            <a:endParaRPr lang="zh-CN" altLang="en-US" sz="20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240" y="1472565"/>
            <a:ext cx="2228850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THERMOS:Thermally-Aware Multi-Objective Scheduling of AI Workloads on Heterogeneous Multi-Chiplet PIM Architectures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1.5 MORL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具体实现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055" y="1593850"/>
            <a:ext cx="2913380" cy="2870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02860" y="1541780"/>
            <a:ext cx="6748145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使用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Actor-Critic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结构实现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MORL</a:t>
            </a: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Acotor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（策略网络）：由可微分决策树实现（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DDT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Critic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（价值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网络）：使用三层全连接神经网络，学习值函数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奖励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设计：奖励是一个向量形式的多目标奖励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245" y="4222115"/>
            <a:ext cx="4535805" cy="2534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THERMOS:Thermally-Aware Multi-Objective Scheduling of AI Workloads on Heterogeneous Multi-Chiplet PIM Architectures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1.6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实验设置和结果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055" y="1668145"/>
            <a:ext cx="6014720" cy="1984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055" y="3726815"/>
            <a:ext cx="6695440" cy="2233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/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/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>
              <p:custDataLst>
                <p:tags r:id="rId3"/>
              </p:custDataLst>
            </p:nvPr>
          </p:nvSpPr>
          <p:spPr>
            <a:xfrm>
              <a:off x="8891" y="3398"/>
              <a:ext cx="9612" cy="188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On Task Mapping in Multi-chiplet Based Many-Core Systems to Optimize Inter- and Intra-chiplet Communications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428" y="3545"/>
              <a:ext cx="2973" cy="1482"/>
              <a:chOff x="5428" y="3545"/>
              <a:chExt cx="2973" cy="1482"/>
            </a:xfrm>
          </p:grpSpPr>
          <p:sp>
            <p:nvSpPr>
              <p:cNvPr id="2" name="文本框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5"/>
                <a:ext cx="1128" cy="1016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2</a:t>
                </a:r>
                <a:endParaRPr kumimoji="1" lang="en-US" altLang="zh-CN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two</a:t>
                </a:r>
                <a:endParaRPr kumimoji="1" lang="en-US" altLang="zh-CN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3879" y="5932169"/>
            <a:ext cx="11064240" cy="64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[1] </a:t>
            </a:r>
            <a:r>
              <a:rPr lang="en-US" altLang="zh-CN" sz="16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Dong Y, Liu X, Hao X, et al. Hierarchical Power Co-Optimization and Management for LLM </a:t>
            </a:r>
            <a:r>
              <a:rPr lang="en-US" altLang="zh-CN" sz="1600" i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Chiplet</a:t>
            </a:r>
            <a:r>
              <a:rPr lang="en-US" altLang="zh-CN" sz="16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 Designs[C]//Proceedings of the 43rd IEEE/ACM International Conference on Computer-Aided Design. 2024: 1-9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.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（引用文献）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charset="0"/>
              </a:rPr>
              <a:t> 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On Task Mapping in Multi-chiplet Based Many-Core Systems to Optimize Inter- and Intra-chiplet Communications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2.1 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intro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65" y="1767205"/>
            <a:ext cx="3728085" cy="2007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175" y="1260475"/>
            <a:ext cx="4113530" cy="14928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640" y="2768600"/>
            <a:ext cx="4978400" cy="14712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32280" y="4255135"/>
            <a:ext cx="9908540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 algn="l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允许将任务分配到芯片上以最小化芯片间的通信量，并将通信量大的任务映射在一起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On Task Mapping in Multi-chiplet Based Many-Core Systems to Optimize Inter- and Intra-chiplet Communications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建模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0" y="1541780"/>
            <a:ext cx="3881120" cy="15640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421120" y="1329690"/>
            <a:ext cx="4956175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系统建模：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常见平铺式和集中式多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Chiplets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架构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应用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建模：定义任务和通信之间的逻辑关系，为映射算法提供输入结构。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热功率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建模：解决多芯粒系统中热耦合与功率约束的问题。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65" y="3359150"/>
            <a:ext cx="4979670" cy="2900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On Task Mapping in Multi-chiplet Based Many-Core Systems to Optimize Inter- and Intra-chiplet Communications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6304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任务映射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63065" y="1670685"/>
            <a:ext cx="9730740" cy="361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跨芯粒任务分配：把任务与芯粒的分配抽象为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BQP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问题，再优化为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BLP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问题解决，再进一步通过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Prime-Dual Interior Point Algorithm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解决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芯粒内任务映射：这一步是在每个芯粒内部完成任务到核心（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core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）的映射。目标是在满足功率与热约束的前提下，最小化芯粒内通信延迟。</a:t>
            </a:r>
            <a:endParaRPr lang="zh-CN" altLang="en-US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352800"/>
            <a:ext cx="7847330" cy="2916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2839</Words>
  <Application>WPS 演示</Application>
  <PresentationFormat>宽屏</PresentationFormat>
  <Paragraphs>146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Times New Roman Regular</vt:lpstr>
      <vt:lpstr>Times New Roman</vt:lpstr>
      <vt:lpstr>Times New Roman Bold</vt:lpstr>
      <vt:lpstr>Times New Roman Bold Italic</vt:lpstr>
      <vt:lpstr>Italic</vt:lpstr>
      <vt:lpstr>等线</vt:lpstr>
      <vt:lpstr>-apple-system</vt:lpstr>
      <vt:lpstr>Wingdings</vt:lpstr>
      <vt:lpstr>Arial Unicode MS</vt:lpstr>
      <vt:lpstr>等线 Light</vt:lpstr>
      <vt:lpstr>AMGDT</vt:lpstr>
      <vt:lpstr>BatangChe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星stars</cp:lastModifiedBy>
  <cp:revision>20</cp:revision>
  <dcterms:created xsi:type="dcterms:W3CDTF">2025-08-20T06:57:00Z</dcterms:created>
  <dcterms:modified xsi:type="dcterms:W3CDTF">2025-11-01T02:31:57Z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0EAC74A1DE0A486D8231C5F95BBFD015_13</vt:lpwstr>
  </property>
  <property fmtid="{D5CDD505-2E9C-101B-9397-08002B2CF9AE}" pid="3" name="KSOProductBuildVer">
    <vt:lpwstr>2052-12.1.0.23542</vt:lpwstr>
  </property>
</Properties>
</file>