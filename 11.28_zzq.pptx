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72" r:id="rId3"/>
    <p:sldId id="313" r:id="rId4"/>
    <p:sldId id="333" r:id="rId5"/>
    <p:sldId id="334" r:id="rId6"/>
    <p:sldId id="363" r:id="rId7"/>
    <p:sldId id="364" r:id="rId8"/>
    <p:sldId id="365" r:id="rId9"/>
    <p:sldId id="341" r:id="rId10"/>
    <p:sldId id="366" r:id="rId11"/>
    <p:sldId id="343" r:id="rId12"/>
    <p:sldId id="344" r:id="rId13"/>
    <p:sldId id="347" r:id="rId14"/>
    <p:sldId id="349" r:id="rId15"/>
    <p:sldId id="351" r:id="rId16"/>
    <p:sldId id="352" r:id="rId17"/>
    <p:sldId id="350" r:id="rId18"/>
    <p:sldId id="353" r:id="rId19"/>
    <p:sldId id="354" r:id="rId20"/>
    <p:sldId id="355" r:id="rId21"/>
    <p:sldId id="356" r:id="rId22"/>
    <p:sldId id="360" r:id="rId23"/>
    <p:sldId id="357" r:id="rId24"/>
    <p:sldId id="358" r:id="rId25"/>
    <p:sldId id="359" r:id="rId26"/>
    <p:sldId id="367" r:id="rId27"/>
    <p:sldId id="362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0DD1131-E15C-442C-ADEB-F5A77FD726CB}">
          <p14:sldIdLst>
            <p14:sldId id="257"/>
            <p14:sldId id="272"/>
          </p14:sldIdLst>
        </p14:section>
        <p14:section name="1" id="{3CE12ECF-0D44-4DDB-A890-C7DBAE28C2AA}">
          <p14:sldIdLst>
            <p14:sldId id="313"/>
            <p14:sldId id="333"/>
            <p14:sldId id="334"/>
            <p14:sldId id="363"/>
            <p14:sldId id="364"/>
            <p14:sldId id="365"/>
            <p14:sldId id="341"/>
            <p14:sldId id="366"/>
            <p14:sldId id="343"/>
            <p14:sldId id="344"/>
            <p14:sldId id="347"/>
            <p14:sldId id="349"/>
            <p14:sldId id="351"/>
            <p14:sldId id="352"/>
            <p14:sldId id="350"/>
            <p14:sldId id="353"/>
            <p14:sldId id="354"/>
            <p14:sldId id="355"/>
            <p14:sldId id="356"/>
            <p14:sldId id="360"/>
            <p14:sldId id="357"/>
            <p14:sldId id="358"/>
            <p14:sldId id="359"/>
            <p14:sldId id="367"/>
            <p14:sldId id="3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E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1828" autoAdjust="0"/>
  </p:normalViewPr>
  <p:slideViewPr>
    <p:cSldViewPr snapToGrid="0">
      <p:cViewPr varScale="1">
        <p:scale>
          <a:sx n="68" d="100"/>
          <a:sy n="68" d="100"/>
        </p:scale>
        <p:origin x="117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E31D2-F85F-48D9-85E1-643E8A75D6DA}" type="datetimeFigureOut">
              <a:rPr lang="zh-CN" altLang="en-US" smtClean="0"/>
              <a:t>2025-11-28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6FDFC-FEF2-4F9D-A0AF-43D16A2C7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361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64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888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768A4-6C70-36EE-8BE2-F36C0C8C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60BCC5-AE06-1DF5-5F41-59AB9C5B0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FB7706-69C0-60C4-935D-2556FFE78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E8CBD5-2A1D-D959-EE75-D56F1A4F1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299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192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5E653-FD3F-02F2-360B-8AE6A5164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F0611B-78C1-874A-A9FE-25DF1A064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FE5DAA-7D4E-A160-3E0F-DBE4DA515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0415CF-632B-B03C-4591-28C41D355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183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E7921-9315-4A97-46D1-22B57F64A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B88573-A472-9480-A036-C6CFCD564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B18190-DDF1-13A2-3ECB-DF7EE320C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A74400-BA6F-8C79-300E-091C0F50F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774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520C7-AA0E-B561-13EA-82FBDE52A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09CA80-42B3-4C4A-43CC-55E1807C2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015CC1-8304-14AC-A44E-D636AC89E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14A6AD-A8DB-1F97-8480-810F01C90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741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A8091-1759-A51C-73FF-5E514427E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9D5DF8-71F6-38A6-39AF-5E84C9CD2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5F0CEB-1C7C-AE16-A49B-8B567B6D6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B4578B-5082-AAC0-7B61-67206134E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730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5E1B6-C6A4-695C-C11D-F74AE4DFE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A97B74-F9A5-1689-3BBE-C95C1DA0E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26824D-5DD0-7A5C-C42F-B6803A00B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E35737-77DD-2578-8D5D-21508B574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149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38D6-9083-2EC2-D7C6-2C79B74A3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927B5D-1682-EDA3-7697-CE86F5428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224B38-240E-CF13-16E9-9D9FC1F5B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7CCD91-6AAB-3172-E233-653E21A18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604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85BD6-5E02-E6A0-0D80-1A2CFE8E8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89C9D6-6F01-F92D-A76B-991FB420F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FBAF9B-3D4B-DCD5-2265-E1347FB04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09DF1D-F506-E604-24E5-12B0EBD4C4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619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1289E-BD3C-A1C7-96F8-276A42425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EC625B-341B-13A6-C0B4-579AD397C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D74A6F-1BCA-3D56-3820-2C246E718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27CA44-6A13-F731-448A-DB6D8DAF4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741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21A74-99E8-88BB-24E7-0A4E86E12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113408-B5A9-C535-8227-89A114BEB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2D7CB2-1C1C-CB34-B2CA-317179732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1D0CE9-7312-DFA1-AF89-62E667D47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0324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81C36-2A0A-82A2-14D3-CDAC5613F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3ED8F1-CDBB-C88E-C1BE-07C5AD91D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05D897-3779-4673-0D44-080D58C8B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BF091C-07E2-1A37-8029-2A8CEF0DD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8757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53A87-C295-1582-DE41-710FFBA1C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429339-A469-8E73-E3E3-9E2A1E3DF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40FFFE-8100-64AA-FF87-F96951A8F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467BD3-78E7-BC82-FDAA-A3A3CFCD4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7330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45AD3-AFB2-29DD-BE6C-60297C659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FE0552-B460-E240-8481-904BB2930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A7427D-D95B-1478-3FE8-0EEDCE2B1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471460-DFD9-FEB3-8650-9B032DD012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400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B0ABB-CD70-C044-C24D-B0C2F530E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3A31ED-9F16-4C31-00AA-ED06088A8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B614C9-2A3F-E571-985E-E65AF453F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51476C-52B5-BA08-0150-ECC3803494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4621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7D66F-EA97-709E-DCD0-150AB90AB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E7B798-C681-587C-F661-2F71C49CC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2AB69D-B863-929B-ED0D-236926C9E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82152B-71C8-8762-1FA4-019AFEF1E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7005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38889-76B2-A9EF-B7DD-315F53586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D59009-72CA-6DE5-C061-8B7269733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61A0A5-6043-F79C-05C0-489B9CB50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FAC774-F774-68FE-D823-5F3F75A35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3442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76B79-DB5C-4100-1EBF-284197B82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4ECDDB-9B8E-2F2F-79ED-72011CEE1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BFF48E-71EC-9E05-C6C4-76ECFE122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E0F4C5-EA7A-52A2-C815-C893499ED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2512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C99D-D6BB-9B46-0898-EE5D2977E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24B7C1-E251-2629-99CF-5D9325EB0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1D501C-6A8D-462E-60EE-DFF77AEE9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B20B91-1EF6-018C-B5CB-5F79BF7AC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3435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EFA27-B7A8-BE09-F106-660551577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29087B-8972-3A6E-42EB-A2F4CAAA9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7A3989-AD17-C2DD-C69A-892CEF8AE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DE9D48-3A6B-B4D9-4AED-64081C0B3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30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7F877-9100-225E-4484-A2CA6CE14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B746C1-6AFE-1B29-07F6-EEBB63D4F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2DF99D-894C-DB47-1655-5A458E505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58A8D9-D68A-DF1F-AF5B-17B93E534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4453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36DE4-E540-1BB0-93BB-F9C60947D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95EB8D-66C3-0A9C-B601-64E557977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255489-3688-BC6C-448E-F9BA3FB5D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0BC29D-59BB-F15E-5367-844353C36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4750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BEFD1-4B18-9BE7-373E-04CC37E3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620736-0FE7-6A68-00EB-307D282A2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F23919-1E17-492A-B0E5-08B2D65EB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1B4FD1-0056-5AD6-BFC9-4D8B68165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5265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FE8EC-DE22-28BF-D17F-0DC1D7FC3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38D069-9BB1-5552-4237-E86EF2D86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757B46-DDB2-32E6-F66D-0796AAE46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4EF3D3-B8AC-B1E7-F8FD-30CAB5D80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8997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3DC48-6670-44C0-CE4D-250041420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138BAE-CDBB-0FF7-91E3-1107461D0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06640F-F56A-7A8B-DFC8-79B5CEE61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61FFC9-685A-20C3-1613-CDE98725B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838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D02B8-8476-189C-1438-6FC513E50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3F6F6D-F8DD-AE7E-6C55-3E53AEDBE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B16232-DD58-DB9D-18BB-2439B1B11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  <a:t>2025-11-28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A89B93-F3C9-2EE8-96E7-67D317FE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D8DB78-BB4A-AA85-E4A0-EC342A51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4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48D38-E5ED-980C-C7BF-9910626F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8D7898-17C3-8665-06E2-7F513653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7B3437-3E06-C63C-DE90-E0818545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  <a:t>2025-11-28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F62AFD-BB3E-DE3D-3004-12E315A9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5C4AB0-602A-3D15-9E95-081DAA65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342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9174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9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4.xml"/><Relationship Id="rId7" Type="http://schemas.openxmlformats.org/officeDocument/2006/relationships/notesSlide" Target="../notesSlides/notesSlide1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9.xml"/><Relationship Id="rId7" Type="http://schemas.openxmlformats.org/officeDocument/2006/relationships/notesSlide" Target="../notesSlides/notesSlide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24.xml"/><Relationship Id="rId7" Type="http://schemas.openxmlformats.org/officeDocument/2006/relationships/notesSlide" Target="../notesSlides/notesSlide26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5D877A0-4804-4917-810F-DD3372FB1F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979950"/>
            <a:ext cx="12192000" cy="2205024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0" y="1975169"/>
            <a:ext cx="12192000" cy="2219218"/>
          </a:xfrm>
          <a:prstGeom prst="rect">
            <a:avLst/>
          </a:prstGeom>
          <a:solidFill>
            <a:srgbClr val="141E8C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02566" y="2598003"/>
            <a:ext cx="10483033" cy="830997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LTR </a:t>
            </a:r>
            <a:r>
              <a:rPr kumimoji="1" lang="zh-CN" altLang="en-US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Versa-DNN</a:t>
            </a:r>
            <a:r>
              <a:rPr kumimoji="1" lang="zh-CN" altLang="en-US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M2M</a:t>
            </a:r>
            <a:r>
              <a:rPr kumimoji="1" lang="zh-CN" altLang="en-US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kumimoji="1" lang="en-US" altLang="zh-CN" sz="48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表格 18"/>
          <p:cNvGraphicFramePr/>
          <p:nvPr>
            <p:custDataLst>
              <p:tags r:id="rId2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考生姓名</a:t>
                      </a:r>
                    </a:p>
                  </a:txBody>
                  <a:tcPr anchor="ctr">
                    <a:solidFill>
                      <a:srgbClr val="9A0E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/>
          <p:nvPr>
            <p:custDataLst>
              <p:tags r:id="rId3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charset="0"/>
                          <a:ea typeface="微软雅黑" charset="0"/>
                        </a:rPr>
                        <a:t>汇报人</a:t>
                      </a: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349871436"/>
              </p:ext>
            </p:extLst>
          </p:nvPr>
        </p:nvGraphicFramePr>
        <p:xfrm>
          <a:off x="5488305" y="4700905"/>
          <a:ext cx="327787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7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zh-CN" altLang="en-US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张志权</a:t>
                      </a:r>
                      <a:endParaRPr kumimoji="1" lang="en-US" altLang="zh-CN" sz="2000" b="0" spc="12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 Regular" panose="02020803070505020304" charset="0"/>
                        <a:ea typeface="微软雅黑" panose="020B0503020204020204" pitchFamily="34" charset="-122"/>
                        <a:cs typeface="Times New Roman Regular" panose="02020803070505020304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/>
          <p:nvPr>
            <p:custDataLst>
              <p:tags r:id="rId5"/>
            </p:custDataLst>
          </p:nvPr>
        </p:nvGraphicFramePr>
        <p:xfrm>
          <a:off x="3507740" y="5422582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charset="0"/>
                          <a:ea typeface="微软雅黑" charset="0"/>
                        </a:rPr>
                        <a:t>汇报时间</a:t>
                      </a: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54954638"/>
              </p:ext>
            </p:extLst>
          </p:nvPr>
        </p:nvGraphicFramePr>
        <p:xfrm>
          <a:off x="5488305" y="5439092"/>
          <a:ext cx="328422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en-US" altLang="zh-CN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2025.11.28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1236066" y="3335912"/>
            <a:ext cx="2834140" cy="46037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rgbClr val="141E8C"/>
                </a:solidFill>
                <a:latin typeface="Times New Roman Bold" panose="02020803070505020304" charset="0"/>
                <a:cs typeface="Times New Roman Bold" panose="02020803070505020304" charset="0"/>
              </a:rPr>
              <a:t>CONTENS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822499" y="2613895"/>
            <a:ext cx="1662545" cy="70675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r>
              <a:rPr kumimoji="1" lang="en-US" altLang="zh-CN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cxnSp>
        <p:nvCxnSpPr>
          <p:cNvPr id="24" name="直线连接符 23"/>
          <p:cNvCxnSpPr/>
          <p:nvPr/>
        </p:nvCxnSpPr>
        <p:spPr>
          <a:xfrm>
            <a:off x="4462500" y="1297515"/>
            <a:ext cx="0" cy="419589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F7C0971-7369-E9FF-7DCF-2CA105016570}"/>
              </a:ext>
            </a:extLst>
          </p:cNvPr>
          <p:cNvGrpSpPr/>
          <p:nvPr/>
        </p:nvGrpSpPr>
        <p:grpSpPr>
          <a:xfrm>
            <a:off x="5047662" y="1965539"/>
            <a:ext cx="6586046" cy="738664"/>
            <a:chOff x="5439957" y="3724593"/>
            <a:chExt cx="6586046" cy="738664"/>
          </a:xfrm>
        </p:grpSpPr>
        <p:sp>
          <p:nvSpPr>
            <p:cNvPr id="8" name="文本框 7"/>
            <p:cNvSpPr txBox="1"/>
            <p:nvPr/>
          </p:nvSpPr>
          <p:spPr>
            <a:xfrm>
              <a:off x="6200062" y="3724593"/>
              <a:ext cx="582594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en-US" altLang="zh-CN" sz="1400" b="1" spc="300" dirty="0" err="1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Chiplet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Placement Order Exploration Based on Learning to Rank with Graph Representation</a:t>
              </a:r>
              <a:r>
                <a:rPr kumimoji="1" lang="zh-CN" altLang="en-US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2024</a:t>
              </a:r>
              <a:r>
                <a:rPr kumimoji="1" lang="zh-CN" altLang="en-US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ISEDA</a:t>
              </a:r>
              <a:r>
                <a:rPr kumimoji="1" lang="zh-CN" altLang="en-US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439957" y="3724593"/>
              <a:ext cx="6206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0</a:t>
              </a:r>
              <a:r>
                <a:rPr kumimoji="1" lang="en-US" altLang="zh-CN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1</a:t>
              </a:r>
              <a:endParaRPr kumimoji="1" lang="zh-CN" altLang="en-US" sz="28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CEE9B45-78F1-09B4-08D6-F5667E430648}"/>
              </a:ext>
            </a:extLst>
          </p:cNvPr>
          <p:cNvGrpSpPr/>
          <p:nvPr/>
        </p:nvGrpSpPr>
        <p:grpSpPr>
          <a:xfrm>
            <a:off x="5047662" y="3017124"/>
            <a:ext cx="6946648" cy="954107"/>
            <a:chOff x="5439957" y="3724593"/>
            <a:chExt cx="6946648" cy="954107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2407C5F2-ED20-B389-7D99-F6279BC16319}"/>
                </a:ext>
              </a:extLst>
            </p:cNvPr>
            <p:cNvSpPr txBox="1"/>
            <p:nvPr/>
          </p:nvSpPr>
          <p:spPr>
            <a:xfrm>
              <a:off x="6200062" y="3724593"/>
              <a:ext cx="618654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Versa-DNN: A Versatile Architecture Enabling  High-Performance and Energy-Efficient  Multi-DNN Acceleration</a:t>
              </a:r>
              <a:r>
                <a:rPr kumimoji="1" lang="zh-CN" altLang="en-US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（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2023</a:t>
              </a:r>
              <a:r>
                <a:rPr kumimoji="1" lang="zh-CN" altLang="en-US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，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TPDS</a:t>
              </a:r>
              <a:r>
                <a:rPr kumimoji="1" lang="zh-CN" altLang="en-US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）</a:t>
              </a:r>
              <a:endParaRPr kumimoji="1" lang="en-US" altLang="zh-CN" sz="1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just"/>
              <a:endParaRPr kumimoji="1" lang="zh-CN" altLang="en-US" sz="1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CE3E110E-0D81-5823-C7ED-E0693680EB04}"/>
                </a:ext>
              </a:extLst>
            </p:cNvPr>
            <p:cNvSpPr txBox="1"/>
            <p:nvPr/>
          </p:nvSpPr>
          <p:spPr>
            <a:xfrm>
              <a:off x="5439957" y="3724593"/>
              <a:ext cx="6206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0</a:t>
              </a:r>
              <a:r>
                <a:rPr kumimoji="1" lang="en-US" altLang="zh-CN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2</a:t>
              </a:r>
              <a:endParaRPr kumimoji="1" lang="zh-CN" altLang="en-US" sz="28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DE98BE4-FDCA-66C0-A57A-119C814BBFD8}"/>
              </a:ext>
            </a:extLst>
          </p:cNvPr>
          <p:cNvGrpSpPr/>
          <p:nvPr/>
        </p:nvGrpSpPr>
        <p:grpSpPr>
          <a:xfrm>
            <a:off x="5021696" y="4087741"/>
            <a:ext cx="6612012" cy="954107"/>
            <a:chOff x="5439957" y="3724593"/>
            <a:chExt cx="6612012" cy="954107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31D814F-9266-F74E-0827-5C76747867B1}"/>
                </a:ext>
              </a:extLst>
            </p:cNvPr>
            <p:cNvSpPr txBox="1"/>
            <p:nvPr/>
          </p:nvSpPr>
          <p:spPr>
            <a:xfrm>
              <a:off x="6200063" y="3724593"/>
              <a:ext cx="585190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M2M: A Fine-Grained Mapping Framework to  Accelerate Multiple DNNs on a Multi-</a:t>
              </a:r>
              <a:r>
                <a:rPr kumimoji="1" lang="en-US" altLang="zh-CN" sz="1400" b="1" spc="300" dirty="0" err="1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Chiplet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 Architecture</a:t>
              </a:r>
              <a:r>
                <a:rPr kumimoji="1" lang="zh-CN" altLang="en-US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（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2024</a:t>
              </a:r>
              <a:r>
                <a:rPr kumimoji="1" lang="zh-CN" altLang="en-US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，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VLSI</a:t>
              </a:r>
              <a:r>
                <a:rPr kumimoji="1" lang="zh-CN" altLang="en-US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）</a:t>
              </a:r>
              <a:endParaRPr kumimoji="1" lang="en-US" altLang="zh-CN" sz="1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just"/>
              <a:endParaRPr kumimoji="1" lang="zh-CN" altLang="en-US" sz="1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DF38DCF-2C3A-A359-152D-DA0E2D5501FE}"/>
                </a:ext>
              </a:extLst>
            </p:cNvPr>
            <p:cNvSpPr txBox="1"/>
            <p:nvPr/>
          </p:nvSpPr>
          <p:spPr>
            <a:xfrm>
              <a:off x="5439957" y="3724593"/>
              <a:ext cx="6206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0</a:t>
              </a:r>
              <a:r>
                <a:rPr kumimoji="1" lang="en-US" altLang="zh-CN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3</a:t>
              </a:r>
              <a:endParaRPr kumimoji="1" lang="zh-CN" altLang="en-US" sz="28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0963B-2353-FA90-5B2C-BD860E929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525901-2C19-64B6-0115-C29C7B064F88}"/>
              </a:ext>
            </a:extLst>
          </p:cNvPr>
          <p:cNvGrpSpPr/>
          <p:nvPr/>
        </p:nvGrpSpPr>
        <p:grpSpPr>
          <a:xfrm>
            <a:off x="0" y="2463167"/>
            <a:ext cx="12192000" cy="1440001"/>
            <a:chOff x="0" y="3114"/>
            <a:chExt cx="19200" cy="226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949082B-14B6-7CDC-E12A-73C38F068BF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A62AF432-531B-E32A-736F-BCB27B03E2C1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>
              <a:off x="7452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60B6048-639C-010F-B7C6-1867337A5C44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697" y="3302"/>
              <a:ext cx="11232" cy="1891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algn="just"/>
              <a:r>
                <a:rPr kumimoji="1" lang="en-US" altLang="zh-CN" sz="2400" b="1" spc="3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Chiplet</a:t>
              </a:r>
              <a:r>
                <a:rPr kumimoji="1" lang="en-US" altLang="zh-CN" sz="2400" b="1" spc="3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Placement Order Exploration Based on Learning to Rank with Graph Representation</a:t>
              </a:r>
              <a:r>
                <a:rPr kumimoji="1" lang="zh-CN" altLang="en-US" sz="2400" b="1" spc="3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（</a:t>
              </a:r>
              <a:r>
                <a:rPr kumimoji="1" lang="en-US" altLang="zh-CN" sz="2400" b="1" spc="3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2024</a:t>
              </a:r>
              <a:r>
                <a:rPr kumimoji="1" lang="zh-CN" altLang="en-US" sz="2400" b="1" spc="3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2400" b="1" spc="3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ISEDA</a:t>
              </a:r>
              <a:r>
                <a:rPr kumimoji="1" lang="zh-CN" altLang="en-US" sz="2400" b="1" spc="3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）</a:t>
              </a: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F4736AB-06FB-5B61-5C4D-22E415653AF6}"/>
                </a:ext>
              </a:extLst>
            </p:cNvPr>
            <p:cNvGrpSpPr/>
            <p:nvPr/>
          </p:nvGrpSpPr>
          <p:grpSpPr>
            <a:xfrm>
              <a:off x="4234" y="3544"/>
              <a:ext cx="2973" cy="1483"/>
              <a:chOff x="4234" y="3544"/>
              <a:chExt cx="2973" cy="1483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293E849-5609-7D84-1D4C-E7AFE76DBEFA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157" y="3544"/>
                <a:ext cx="1139" cy="101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1</a:t>
                </a:r>
                <a:endParaRPr kumimoji="1" lang="zh-CN" altLang="en-US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5DD8D6C-C2FD-204B-A89E-D09E09E157B9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234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one</a:t>
                </a:r>
                <a:endPara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endParaRPr>
              </a:p>
            </p:txBody>
          </p:sp>
        </p:grp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8D4285A3-B04F-B20A-A2F4-8FDB6AF7C5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14EE4E1-D5B5-A3D2-BE03-12C581BE1142}"/>
              </a:ext>
            </a:extLst>
          </p:cNvPr>
          <p:cNvSpPr txBox="1"/>
          <p:nvPr/>
        </p:nvSpPr>
        <p:spPr>
          <a:xfrm>
            <a:off x="338102" y="5979583"/>
            <a:ext cx="11064240" cy="641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[1] </a:t>
            </a:r>
            <a:r>
              <a:rPr lang="en-US" altLang="zh-CN" sz="1600" b="0" i="0" dirty="0">
                <a:solidFill>
                  <a:srgbClr val="2E414F"/>
                </a:solidFill>
                <a:effectLst/>
                <a:latin typeface="Roboto" panose="02000000000000000000" pitchFamily="2" charset="0"/>
              </a:rPr>
              <a:t>Deng, Zhi-Bing et al. “</a:t>
            </a:r>
            <a:r>
              <a:rPr lang="en-US" altLang="zh-CN" sz="1600" b="0" i="0" dirty="0" err="1">
                <a:solidFill>
                  <a:srgbClr val="2E414F"/>
                </a:solidFill>
                <a:effectLst/>
                <a:latin typeface="Roboto" panose="02000000000000000000" pitchFamily="2" charset="0"/>
              </a:rPr>
              <a:t>Chiplet</a:t>
            </a:r>
            <a:r>
              <a:rPr lang="en-US" altLang="zh-CN" sz="1600" b="0" i="0" dirty="0">
                <a:solidFill>
                  <a:srgbClr val="2E414F"/>
                </a:solidFill>
                <a:effectLst/>
                <a:latin typeface="Roboto" panose="02000000000000000000" pitchFamily="2" charset="0"/>
              </a:rPr>
              <a:t> Placement Order Exploration based on Learning to Rank with Graph Representation.” </a:t>
            </a:r>
            <a:r>
              <a:rPr lang="en-US" altLang="zh-CN" sz="1600" b="0" i="1" dirty="0">
                <a:solidFill>
                  <a:srgbClr val="2E414F"/>
                </a:solidFill>
                <a:effectLst/>
                <a:latin typeface="Roboto" panose="02000000000000000000" pitchFamily="2" charset="0"/>
              </a:rPr>
              <a:t>2024 2nd International Symposium of Electronics Design Automation (ISEDA)</a:t>
            </a:r>
            <a:r>
              <a:rPr lang="en-US" altLang="zh-CN" sz="1600" b="0" i="0" dirty="0">
                <a:solidFill>
                  <a:srgbClr val="2E414F"/>
                </a:solidFill>
                <a:effectLst/>
                <a:latin typeface="Roboto" panose="02000000000000000000" pitchFamily="2" charset="0"/>
              </a:rPr>
              <a:t> (2024): 605-610.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68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282654"/>
            <a:ext cx="107228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 Introduction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CDB903-D684-55E2-6677-63B387756AFA}"/>
              </a:ext>
            </a:extLst>
          </p:cNvPr>
          <p:cNvSpPr txBox="1"/>
          <p:nvPr/>
        </p:nvSpPr>
        <p:spPr>
          <a:xfrm>
            <a:off x="1964003" y="1116928"/>
            <a:ext cx="2425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1.1 Core Issue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14E892DD-EB0F-38B6-C737-373BBD0C0A6A}"/>
              </a:ext>
            </a:extLst>
          </p:cNvPr>
          <p:cNvSpPr txBox="1"/>
          <p:nvPr/>
        </p:nvSpPr>
        <p:spPr>
          <a:xfrm>
            <a:off x="1815254" y="1552761"/>
            <a:ext cx="9825203" cy="80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dirty="0"/>
              <a:t>在</a:t>
            </a:r>
            <a:r>
              <a:rPr lang="en-US" altLang="zh-CN" sz="2000" dirty="0"/>
              <a:t>2.5D</a:t>
            </a:r>
            <a:r>
              <a:rPr lang="zh-CN" altLang="en-US" sz="2000" dirty="0"/>
              <a:t>集成电路（</a:t>
            </a:r>
            <a:r>
              <a:rPr lang="en-US" altLang="zh-CN" sz="2000" dirty="0"/>
              <a:t>2.5D ICs</a:t>
            </a:r>
            <a:r>
              <a:rPr lang="zh-CN" altLang="en-US" sz="2000" dirty="0"/>
              <a:t>）设计中，基于强化学习（</a:t>
            </a:r>
            <a:r>
              <a:rPr lang="en-US" altLang="zh-CN" sz="2000" dirty="0"/>
              <a:t>RL</a:t>
            </a:r>
            <a:r>
              <a:rPr lang="zh-CN" altLang="en-US" sz="2000" dirty="0"/>
              <a:t>）的布局算法通常采用</a:t>
            </a:r>
            <a:r>
              <a:rPr lang="zh-CN" altLang="en-US" sz="2000" b="1" dirty="0"/>
              <a:t>顺序放置</a:t>
            </a:r>
            <a:r>
              <a:rPr lang="zh-CN" altLang="en-US" sz="2000" dirty="0"/>
              <a:t>（</a:t>
            </a:r>
            <a:r>
              <a:rPr lang="en-US" altLang="zh-CN" sz="2000" dirty="0"/>
              <a:t>Sequential Placement</a:t>
            </a:r>
            <a:r>
              <a:rPr lang="zh-CN" altLang="en-US" sz="2000" dirty="0"/>
              <a:t>）的策略。</a:t>
            </a:r>
            <a:endParaRPr lang="en-US" altLang="zh-CN" sz="20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EB1DC9-2C97-30AF-2EB4-335583183CDD}"/>
              </a:ext>
            </a:extLst>
          </p:cNvPr>
          <p:cNvSpPr txBox="1"/>
          <p:nvPr/>
        </p:nvSpPr>
        <p:spPr>
          <a:xfrm>
            <a:off x="1817511" y="2448334"/>
            <a:ext cx="9825203" cy="80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b="1" dirty="0"/>
              <a:t>核心痛点：</a:t>
            </a:r>
            <a:r>
              <a:rPr lang="zh-CN" altLang="en-US" sz="2000" dirty="0"/>
              <a:t> 布局结果对</a:t>
            </a:r>
            <a:r>
              <a:rPr lang="zh-CN" altLang="en-US" sz="2000" b="1" dirty="0"/>
              <a:t>放置顺序</a:t>
            </a:r>
            <a:r>
              <a:rPr lang="zh-CN" altLang="en-US" sz="2000" dirty="0"/>
              <a:t>（</a:t>
            </a:r>
            <a:r>
              <a:rPr lang="en-US" altLang="zh-CN" sz="2000" dirty="0"/>
              <a:t>Placement Order</a:t>
            </a:r>
            <a:r>
              <a:rPr lang="zh-CN" altLang="en-US" sz="2000" dirty="0"/>
              <a:t>）极度敏感。不同的放置顺序会导致最终的散热性能（峰值温度）和布线开销（总线长）差异巨大。</a:t>
            </a:r>
            <a:endParaRPr lang="en-US" altLang="zh-CN" sz="20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6D8B98-8C53-748C-C8C3-84A0698738C2}"/>
              </a:ext>
            </a:extLst>
          </p:cNvPr>
          <p:cNvSpPr txBox="1"/>
          <p:nvPr/>
        </p:nvSpPr>
        <p:spPr>
          <a:xfrm>
            <a:off x="1815253" y="3301989"/>
            <a:ext cx="9825203" cy="80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b="1" dirty="0"/>
              <a:t>现有局限：</a:t>
            </a:r>
            <a:r>
              <a:rPr lang="zh-CN" altLang="en-US" sz="2000" dirty="0"/>
              <a:t> 传统的启发式排序方法（例如简单地按芯片面积或连接数降序排列）往往无法找到最优解，导致设计性能不佳。</a:t>
            </a:r>
            <a:endParaRPr lang="en-US" altLang="zh-CN" sz="20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139CB9-66BC-1BC8-28AE-2CB3930D26DB}"/>
              </a:ext>
            </a:extLst>
          </p:cNvPr>
          <p:cNvSpPr txBox="1"/>
          <p:nvPr/>
        </p:nvSpPr>
        <p:spPr>
          <a:xfrm>
            <a:off x="2035991" y="4362484"/>
            <a:ext cx="2425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1.2 </a:t>
            </a:r>
            <a:r>
              <a:rPr kumimoji="1" lang="en-US" altLang="zh-CN" sz="2000" b="1" spc="12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Mehtod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F658AA2-D3F0-AC6D-9801-980B457DA28B}"/>
              </a:ext>
            </a:extLst>
          </p:cNvPr>
          <p:cNvSpPr txBox="1"/>
          <p:nvPr/>
        </p:nvSpPr>
        <p:spPr>
          <a:xfrm>
            <a:off x="1887242" y="4798317"/>
            <a:ext cx="9825203" cy="80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dirty="0"/>
              <a:t>作者提出了一种结合 </a:t>
            </a:r>
            <a:r>
              <a:rPr lang="zh-CN" altLang="en-US" sz="2000" b="1" dirty="0"/>
              <a:t>图神经网络 </a:t>
            </a:r>
            <a:r>
              <a:rPr lang="en-US" altLang="zh-CN" sz="2000" b="1" dirty="0"/>
              <a:t>(GNN)</a:t>
            </a:r>
            <a:r>
              <a:rPr lang="en-US" altLang="zh-CN" sz="2000" dirty="0"/>
              <a:t> </a:t>
            </a:r>
            <a:r>
              <a:rPr lang="zh-CN" altLang="en-US" sz="2000" dirty="0"/>
              <a:t>和 </a:t>
            </a:r>
            <a:r>
              <a:rPr lang="zh-CN" altLang="en-US" sz="2000" b="1" dirty="0"/>
              <a:t>排序学习 </a:t>
            </a:r>
            <a:r>
              <a:rPr lang="en-US" altLang="zh-CN" sz="2000" b="1" dirty="0"/>
              <a:t>(Learning to Rank, LTR)</a:t>
            </a:r>
            <a:r>
              <a:rPr lang="en-US" altLang="zh-CN" sz="2000" dirty="0"/>
              <a:t> </a:t>
            </a:r>
            <a:r>
              <a:rPr lang="zh-CN" altLang="en-US" sz="2000" dirty="0"/>
              <a:t>的预测框架，用于自动寻找最佳的芯粒放置顺序。</a:t>
            </a:r>
            <a:endParaRPr lang="en-US" altLang="zh-CN" sz="20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4A8C104-50FE-3C69-15C3-FE47416CF25F}"/>
              </a:ext>
            </a:extLst>
          </p:cNvPr>
          <p:cNvSpPr txBox="1"/>
          <p:nvPr/>
        </p:nvSpPr>
        <p:spPr>
          <a:xfrm>
            <a:off x="1889499" y="5693890"/>
            <a:ext cx="9825203" cy="80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b="1" dirty="0"/>
              <a:t>流程：</a:t>
            </a:r>
            <a:r>
              <a:rPr lang="zh-CN" altLang="en-US" sz="2000" dirty="0"/>
              <a:t> 先利用现有</a:t>
            </a:r>
            <a:r>
              <a:rPr lang="en-US" altLang="zh-CN" sz="2000" dirty="0"/>
              <a:t>RL</a:t>
            </a:r>
            <a:r>
              <a:rPr lang="zh-CN" altLang="en-US" sz="2000" dirty="0"/>
              <a:t>布局器生成训练数据 </a:t>
            </a:r>
            <a:r>
              <a:rPr lang="en-US" altLang="zh-CN" sz="2000" dirty="0"/>
              <a:t>-&gt; </a:t>
            </a:r>
            <a:r>
              <a:rPr lang="zh-CN" altLang="en-US" sz="2000" dirty="0"/>
              <a:t>训练</a:t>
            </a:r>
            <a:r>
              <a:rPr lang="en-US" altLang="zh-CN" sz="2000" dirty="0"/>
              <a:t>GNN+LTR</a:t>
            </a:r>
            <a:r>
              <a:rPr lang="zh-CN" altLang="en-US" sz="2000" dirty="0"/>
              <a:t>模型 </a:t>
            </a:r>
            <a:r>
              <a:rPr lang="en-US" altLang="zh-CN" sz="2000" dirty="0"/>
              <a:t>-&gt; </a:t>
            </a:r>
            <a:r>
              <a:rPr lang="zh-CN" altLang="en-US" sz="2000" dirty="0"/>
              <a:t>对新系统进行快速推理，推荐最佳顺序。</a:t>
            </a:r>
            <a:endParaRPr lang="en-US" altLang="zh-CN" sz="20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02793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DB986-157D-C33F-AFCE-0EF655274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854A7BB-A66E-5FA8-95D3-724A9B56B2CB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883F54F-828F-CED2-DE93-78A9FAF228DF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A0443BCE-31E9-B161-E1E2-62D351EDC0AE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E6B3B164-EFB0-E96A-EA05-AE8DFB75DD57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950B19-97C0-855B-20EE-38BF24505337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309F985-A87C-C9AB-75FA-AEAED9807598}"/>
              </a:ext>
            </a:extLst>
          </p:cNvPr>
          <p:cNvSpPr txBox="1"/>
          <p:nvPr/>
        </p:nvSpPr>
        <p:spPr>
          <a:xfrm>
            <a:off x="1663046" y="282654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 Solution Methods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23B3B2D-FC74-DDF6-0FD8-B2A95F5685F6}"/>
              </a:ext>
            </a:extLst>
          </p:cNvPr>
          <p:cNvSpPr txBox="1"/>
          <p:nvPr/>
        </p:nvSpPr>
        <p:spPr>
          <a:xfrm>
            <a:off x="1964003" y="1116928"/>
            <a:ext cx="8941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2.1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数据集生成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12E6ACC-1E34-1972-E815-EC22CB189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D31C2A3-F2BC-4534-AF9F-C7E981D5FC32}"/>
              </a:ext>
            </a:extLst>
          </p:cNvPr>
          <p:cNvSpPr txBox="1"/>
          <p:nvPr/>
        </p:nvSpPr>
        <p:spPr>
          <a:xfrm>
            <a:off x="1535002" y="1669110"/>
            <a:ext cx="9811656" cy="1434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zh-CN" sz="1800" u="sng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1800" u="sng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RL Planner</a:t>
            </a:r>
            <a:r>
              <a:rPr lang="zh-CN" altLang="zh-CN" sz="1800" u="sng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对不同</a:t>
            </a:r>
            <a:r>
              <a:rPr lang="en-US" altLang="zh-CN" sz="1800" u="sng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Chiplet</a:t>
            </a:r>
            <a:r>
              <a:rPr lang="zh-CN" altLang="zh-CN" sz="1800" u="sng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系统生成大量布局结果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，根据结果在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峰值温度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总线长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散点图上距</a:t>
            </a:r>
            <a:r>
              <a:rPr lang="zh-CN" alt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“ 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帕累托前沿（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Pareto Frontier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的距离，定义布局顺序的优劣（相关性等级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1-10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dirty="0"/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20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3947A8-1D31-BC65-8A20-DA9AE1F1D6D6}"/>
              </a:ext>
            </a:extLst>
          </p:cNvPr>
          <p:cNvSpPr txBox="1"/>
          <p:nvPr/>
        </p:nvSpPr>
        <p:spPr>
          <a:xfrm>
            <a:off x="1535001" y="2818430"/>
            <a:ext cx="7033265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20000"/>
              </a:lnSpc>
              <a:buSzPct val="80000"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-apple-system"/>
              </a:rPr>
              <a:t>1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-apple-system"/>
              </a:rPr>
              <a:t>）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-apple-system"/>
              </a:rPr>
              <a:t>RL Planner 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-apple-system"/>
              </a:rPr>
              <a:t>基于强化学习的顺序芯粒布局框架</a:t>
            </a:r>
            <a:endParaRPr lang="en-US" altLang="zh-CN" sz="20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9C9F0F-F6CC-30C7-68B1-3FB975D44A0E}"/>
              </a:ext>
            </a:extLst>
          </p:cNvPr>
          <p:cNvSpPr/>
          <p:nvPr/>
        </p:nvSpPr>
        <p:spPr>
          <a:xfrm>
            <a:off x="3296356" y="4069291"/>
            <a:ext cx="1715911" cy="5781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放置顺序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5B468E-6BC0-E345-CE85-E201439BFEC8}"/>
              </a:ext>
            </a:extLst>
          </p:cNvPr>
          <p:cNvSpPr txBox="1"/>
          <p:nvPr/>
        </p:nvSpPr>
        <p:spPr>
          <a:xfrm>
            <a:off x="2099733" y="5450152"/>
            <a:ext cx="9416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局限性</a:t>
            </a:r>
            <a:r>
              <a:rPr lang="zh-CN" alt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它是顺序放置的。这意味着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Chiplet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的放置顺序会极大影响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RL Planner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的最终效果</a:t>
            </a:r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16BD755-034E-AC75-2AF9-06B6FD65157C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5012267" y="4358358"/>
            <a:ext cx="238195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9CB21D19-ECC6-C673-6FED-AEB811F66B32}"/>
              </a:ext>
            </a:extLst>
          </p:cNvPr>
          <p:cNvSpPr/>
          <p:nvPr/>
        </p:nvSpPr>
        <p:spPr>
          <a:xfrm>
            <a:off x="7563555" y="3777405"/>
            <a:ext cx="3172178" cy="11514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每个芯粒的最终位置（</a:t>
            </a:r>
            <a:r>
              <a:rPr lang="en-US" altLang="zh-CN" b="1" dirty="0">
                <a:solidFill>
                  <a:schemeClr val="tx1"/>
                </a:solidFill>
              </a:rPr>
              <a:t>X</a:t>
            </a:r>
            <a:r>
              <a:rPr lang="zh-CN" altLang="en-US" b="1" dirty="0">
                <a:solidFill>
                  <a:schemeClr val="tx1"/>
                </a:solidFill>
              </a:rPr>
              <a:t>，</a:t>
            </a:r>
            <a:r>
              <a:rPr lang="en-US" altLang="zh-CN" b="1" dirty="0">
                <a:solidFill>
                  <a:schemeClr val="tx1"/>
                </a:solidFill>
              </a:rPr>
              <a:t>Y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峰值温度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总线长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D0842FF-8F9C-C7FD-09BA-2A9A0A82EAE9}"/>
              </a:ext>
            </a:extLst>
          </p:cNvPr>
          <p:cNvSpPr txBox="1"/>
          <p:nvPr/>
        </p:nvSpPr>
        <p:spPr>
          <a:xfrm>
            <a:off x="5325264" y="3637189"/>
            <a:ext cx="19252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在这种放置顺序下寻找最优布局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750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020CD-45A4-45C0-5D3D-E5B374A15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2803ADE-C687-1455-6CB6-E8E56AF31649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F7593E6-B5B5-5ECB-4C8E-3C98999E40A9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1AB92876-F676-AC0A-376A-972BECCBE87A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EE670FCE-F7D1-58D4-D3C4-C8EA19A61059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C3F16B1-CF49-3BF3-E701-6CEE79F98D1B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07A3911-9A75-CC9C-7319-23123625476B}"/>
              </a:ext>
            </a:extLst>
          </p:cNvPr>
          <p:cNvSpPr txBox="1"/>
          <p:nvPr/>
        </p:nvSpPr>
        <p:spPr>
          <a:xfrm>
            <a:off x="1663046" y="282654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 Solution Methods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6C3C5B2-EB98-CDF9-8A99-6279E5C73307}"/>
              </a:ext>
            </a:extLst>
          </p:cNvPr>
          <p:cNvSpPr txBox="1"/>
          <p:nvPr/>
        </p:nvSpPr>
        <p:spPr>
          <a:xfrm>
            <a:off x="1964003" y="1116928"/>
            <a:ext cx="8941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2.1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数据集生成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D00EC8-162F-5B1B-80D4-E6122D91C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FC06C07-F43C-025A-FE61-00CC65ABA159}"/>
              </a:ext>
            </a:extLst>
          </p:cNvPr>
          <p:cNvSpPr txBox="1"/>
          <p:nvPr/>
        </p:nvSpPr>
        <p:spPr>
          <a:xfrm>
            <a:off x="1535002" y="1669110"/>
            <a:ext cx="9811656" cy="73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RL Planner</a:t>
            </a:r>
            <a:r>
              <a:rPr lang="zh-CN" alt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的基础上，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给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RL Planner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找到一个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最优的输入顺序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：对于开源与合成的芯粒系统，</a:t>
            </a:r>
            <a:r>
              <a:rPr lang="zh-CN" altLang="zh-CN" sz="1800" b="1" dirty="0">
                <a:solidFill>
                  <a:srgbClr val="EE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排列出它们所有可能的放置顺序构建数据集。</a:t>
            </a:r>
            <a:endParaRPr lang="en-US" altLang="zh-CN" sz="20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AB8F58-31AA-009A-1CE3-69B16C531060}"/>
              </a:ext>
            </a:extLst>
          </p:cNvPr>
          <p:cNvSpPr txBox="1"/>
          <p:nvPr/>
        </p:nvSpPr>
        <p:spPr>
          <a:xfrm>
            <a:off x="2271888" y="2587867"/>
            <a:ext cx="89718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dirty="0">
                <a:solidFill>
                  <a:srgbClr val="EE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确定总线长和峰值温度（相互制约）的相关性：</a:t>
            </a:r>
            <a:r>
              <a:rPr lang="zh-CN" altLang="en-US" sz="1800" b="1" dirty="0">
                <a:solidFill>
                  <a:srgbClr val="EE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对于一个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芯粒系统，其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一共具有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720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个放置顺序会产生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720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个结果，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根据结果在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峰值温度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总线长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散点图上距</a:t>
            </a:r>
            <a:r>
              <a:rPr lang="zh-CN" altLang="en-US" b="1" u="sng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b="1" u="sng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帕累托前沿（</a:t>
            </a:r>
            <a:r>
              <a:rPr lang="en-US" altLang="zh-CN" sz="1800" b="1" u="sng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Pareto Frontier</a:t>
            </a:r>
            <a:r>
              <a:rPr lang="zh-CN" altLang="zh-CN" sz="1800" b="1" u="sng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b="1" u="sng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的距离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赋予该散点相关性值（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1-10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F1EEAAF-C248-2D05-2829-B6017B32EEE9}"/>
              </a:ext>
            </a:extLst>
          </p:cNvPr>
          <p:cNvSpPr txBox="1"/>
          <p:nvPr/>
        </p:nvSpPr>
        <p:spPr>
          <a:xfrm>
            <a:off x="2271887" y="3834796"/>
            <a:ext cx="41913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>
              <a:spcAft>
                <a:spcPts val="1000"/>
              </a:spcAft>
            </a:pPr>
            <a:r>
              <a:rPr lang="en-US" altLang="zh-CN" sz="1800" b="1" dirty="0">
                <a:solidFill>
                  <a:srgbClr val="EE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Pareto </a:t>
            </a:r>
            <a:r>
              <a:rPr lang="zh-CN" altLang="zh-CN" sz="1800" b="1" dirty="0">
                <a:solidFill>
                  <a:srgbClr val="EE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曲线（帕累托曲线）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：解决多目标优化问题，比如汽车零件要求刚度要很大，同时质量很轻，这就是一个两目标问题，还有三目标优化等，多目标优化就是给出一些可接收的选择（帕累托最优解，其对应的函数值为帕累托最优前沿），然后由用户自己去评判想选谁。</a:t>
            </a:r>
            <a:endParaRPr lang="zh-CN" altLang="zh-CN" sz="1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2B516EB-5143-E8BC-CB8A-B59E94A55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516" y="3625144"/>
            <a:ext cx="4971447" cy="312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99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2028E-6E15-DB70-75EA-F8CAC0F16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1ADB73E-B7B8-3F80-738F-6365613A8DD3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4E90DF5-D4AD-C7BB-B4B2-27D386C68674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BC071D39-9BF7-A0D8-98C6-5242A45FBE58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A2800F81-8310-BD74-2F3C-09154E584AD9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88118CC-8899-CA0A-E01D-5D4F98AFFC95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895EDC6-B6F7-7311-B841-E983215962DE}"/>
              </a:ext>
            </a:extLst>
          </p:cNvPr>
          <p:cNvSpPr txBox="1"/>
          <p:nvPr/>
        </p:nvSpPr>
        <p:spPr>
          <a:xfrm>
            <a:off x="1663046" y="282654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 Solution Methods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9440571-E4C2-BAEC-33ED-9257A1B1CA78}"/>
              </a:ext>
            </a:extLst>
          </p:cNvPr>
          <p:cNvSpPr txBox="1"/>
          <p:nvPr/>
        </p:nvSpPr>
        <p:spPr>
          <a:xfrm>
            <a:off x="1964003" y="1116928"/>
            <a:ext cx="8941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2.1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数据集生成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6A8B49-593B-3E58-9A14-092A110DC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AF66D99-1B18-F890-2E7A-6EFB03943E0B}"/>
              </a:ext>
            </a:extLst>
          </p:cNvPr>
          <p:cNvSpPr txBox="1"/>
          <p:nvPr/>
        </p:nvSpPr>
        <p:spPr>
          <a:xfrm>
            <a:off x="1535002" y="1669110"/>
            <a:ext cx="9811656" cy="403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800" b="1" dirty="0">
                <a:solidFill>
                  <a:srgbClr val="EE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寻找</a:t>
            </a:r>
            <a:r>
              <a:rPr lang="en-US" altLang="zh-CN" sz="1800" b="1" dirty="0">
                <a:solidFill>
                  <a:srgbClr val="EE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Pareto </a:t>
            </a:r>
            <a:r>
              <a:rPr lang="zh-CN" altLang="zh-CN" sz="1800" b="1" dirty="0">
                <a:solidFill>
                  <a:srgbClr val="EE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曲线（帕累托曲线）</a:t>
            </a:r>
            <a:endParaRPr lang="en-US" altLang="zh-CN" sz="20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B41B25C-D3C5-BF0D-F3B4-984C2AB21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858" y="2161721"/>
            <a:ext cx="9669182" cy="459997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1889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9DEF0-F944-EBE1-7AA6-B5742FF03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768F1D4-7CD3-3EB0-0A6F-B9C016DAFC9C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BEB3F02-D0B4-7910-138A-0B121EF62F56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0C5B934B-ED4F-9FCA-B3D2-1FC26AC2F49E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61460552-66B1-1C06-6582-B61914E78679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EA3C75-E814-7FBD-D903-218B23A1AB23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7160A1E-A444-6B86-97C9-AFFFCEC01A50}"/>
              </a:ext>
            </a:extLst>
          </p:cNvPr>
          <p:cNvSpPr txBox="1"/>
          <p:nvPr/>
        </p:nvSpPr>
        <p:spPr>
          <a:xfrm>
            <a:off x="1663046" y="282654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 Solution Methods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21038B6-5E5C-C16A-9907-985D152418A1}"/>
              </a:ext>
            </a:extLst>
          </p:cNvPr>
          <p:cNvSpPr txBox="1"/>
          <p:nvPr/>
        </p:nvSpPr>
        <p:spPr>
          <a:xfrm>
            <a:off x="1964003" y="1116928"/>
            <a:ext cx="8941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2.1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数据集生成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94E2C8-7D6D-B1EA-68A6-9A2389820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515D63A-C355-E297-CFCF-A22FD594A8D2}"/>
              </a:ext>
            </a:extLst>
          </p:cNvPr>
          <p:cNvSpPr txBox="1"/>
          <p:nvPr/>
        </p:nvSpPr>
        <p:spPr>
          <a:xfrm>
            <a:off x="1535002" y="1669110"/>
            <a:ext cx="9811656" cy="403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1800" b="1" dirty="0">
                <a:solidFill>
                  <a:srgbClr val="EE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赋予所有结果相关性值</a:t>
            </a:r>
            <a:endParaRPr lang="en-US" altLang="zh-CN" sz="20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4DBD6690-BBD8-6BA8-4A5D-C9B57E784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657" y="2076284"/>
            <a:ext cx="6627318" cy="175851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3BF3EE0-E0A2-B4CE-BBA8-2906EA1F52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1242" y="3822683"/>
            <a:ext cx="6097693" cy="277823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690160F-13E1-4E80-B3E3-888ED132DDA4}"/>
              </a:ext>
            </a:extLst>
          </p:cNvPr>
          <p:cNvSpPr txBox="1"/>
          <p:nvPr/>
        </p:nvSpPr>
        <p:spPr>
          <a:xfrm>
            <a:off x="1535002" y="2268440"/>
            <a:ext cx="39062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>
              <a:spcAft>
                <a:spcPts val="1000"/>
              </a:spcAft>
            </a:pP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定级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1-9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（先确定级别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，再增加容忍度确定级别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9…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其实就是相当于将曲线进行平移来确定每一级别的点）：</a:t>
            </a:r>
            <a:endParaRPr lang="zh-CN" altLang="zh-CN" sz="1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680AB5-3966-D3B8-C5F6-9FA582958D17}"/>
              </a:ext>
            </a:extLst>
          </p:cNvPr>
          <p:cNvSpPr txBox="1"/>
          <p:nvPr/>
        </p:nvSpPr>
        <p:spPr>
          <a:xfrm>
            <a:off x="7710620" y="4618689"/>
            <a:ext cx="41853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spcAft>
                <a:spcPts val="1000"/>
              </a:spcAft>
            </a:pPr>
            <a:r>
              <a:rPr lang="zh-CN" altLang="zh-CN" sz="1800" b="1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确定强相关和弱相关：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相对强相关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强相关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在这里仅仅意味着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在这一对里，我是更好的那一个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1400" dirty="0">
              <a:effectLst/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44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36829-DBE9-E283-D862-C6960305F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C76E636-D508-194E-AF18-5BFD76B5C3FC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431F63B-CE28-9C41-7369-D622E7379C29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56EBC921-1B17-D9E8-11D9-83F3C1075528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89F9E197-6278-FF9A-ADEE-C038872EB367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0C79065-7CA9-C03B-0239-D970A4690CB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176D0B-1980-AD3A-1EA8-3C1D6C627883}"/>
              </a:ext>
            </a:extLst>
          </p:cNvPr>
          <p:cNvSpPr txBox="1"/>
          <p:nvPr/>
        </p:nvSpPr>
        <p:spPr>
          <a:xfrm>
            <a:off x="1663046" y="282654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 Solution Methods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881A6FF-D696-6A14-4FD7-4D34E55EBDD8}"/>
              </a:ext>
            </a:extLst>
          </p:cNvPr>
          <p:cNvSpPr txBox="1"/>
          <p:nvPr/>
        </p:nvSpPr>
        <p:spPr>
          <a:xfrm>
            <a:off x="1964003" y="1116928"/>
            <a:ext cx="8941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2.2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图级表示构建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Graph-Level representation 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3D2A042-9EA6-25A9-3D24-1346AF72E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E2FCC38-B0D5-A635-24F6-A2344B95FF97}"/>
              </a:ext>
            </a:extLst>
          </p:cNvPr>
          <p:cNvSpPr txBox="1"/>
          <p:nvPr/>
        </p:nvSpPr>
        <p:spPr>
          <a:xfrm>
            <a:off x="1535001" y="1824814"/>
            <a:ext cx="9471665" cy="110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zh-CN" dirty="0">
                <a:latin typeface="Inter"/>
              </a:rPr>
              <a:t>每一个具有特定放置顺序的布局都可以将</a:t>
            </a:r>
            <a:r>
              <a:rPr lang="en-US" altLang="zh-CN" dirty="0" err="1">
                <a:latin typeface="Inter"/>
              </a:rPr>
              <a:t>Chiplet</a:t>
            </a:r>
            <a:r>
              <a:rPr lang="zh-CN" altLang="zh-CN" dirty="0">
                <a:latin typeface="Inter"/>
              </a:rPr>
              <a:t>系统抽象为一个无向图，各个</a:t>
            </a:r>
            <a:r>
              <a:rPr lang="en-US" altLang="zh-CN" dirty="0" err="1">
                <a:latin typeface="Inter"/>
              </a:rPr>
              <a:t>Chiplet</a:t>
            </a:r>
            <a:r>
              <a:rPr lang="zh-CN" altLang="zh-CN" dirty="0">
                <a:latin typeface="Inter"/>
              </a:rPr>
              <a:t>为节点，互连关系为边。</a:t>
            </a: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20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5ABBB3F-F087-9385-6A32-064BD1B81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9925" y="2703593"/>
            <a:ext cx="8986290" cy="238521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0D10348-46D9-776D-EC8C-7A7948EEA405}"/>
              </a:ext>
            </a:extLst>
          </p:cNvPr>
          <p:cNvSpPr txBox="1"/>
          <p:nvPr/>
        </p:nvSpPr>
        <p:spPr>
          <a:xfrm>
            <a:off x="1535001" y="5190152"/>
            <a:ext cx="9471665" cy="403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b="1" dirty="0">
                <a:latin typeface="Inter"/>
              </a:rPr>
              <a:t>无向图</a:t>
            </a:r>
            <a:r>
              <a:rPr lang="zh-CN" altLang="en-US" dirty="0">
                <a:latin typeface="Inter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Inter"/>
              </a:rPr>
              <a:t>→</a:t>
            </a:r>
            <a:r>
              <a:rPr lang="zh-CN" altLang="en-US" dirty="0">
                <a:latin typeface="Inter"/>
              </a:rPr>
              <a:t> 邻接矩阵 </a:t>
            </a:r>
            <a:endParaRPr lang="en-US" altLang="zh-CN" sz="20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E809140-DC0C-3D30-D93B-AE0DF3CE8563}"/>
              </a:ext>
            </a:extLst>
          </p:cNvPr>
          <p:cNvSpPr txBox="1"/>
          <p:nvPr/>
        </p:nvSpPr>
        <p:spPr>
          <a:xfrm>
            <a:off x="1535000" y="5593276"/>
            <a:ext cx="9471665" cy="73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b="1" dirty="0">
                <a:latin typeface="Inter"/>
              </a:rPr>
              <a:t>节点</a:t>
            </a:r>
            <a:r>
              <a:rPr lang="zh-CN" altLang="en-US" dirty="0">
                <a:latin typeface="Inter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Inter"/>
              </a:rPr>
              <a:t>→</a:t>
            </a:r>
            <a:r>
              <a:rPr lang="zh-CN" altLang="en-US" dirty="0">
                <a:latin typeface="Inter"/>
              </a:rPr>
              <a:t> </a:t>
            </a:r>
            <a:r>
              <a:rPr lang="en-US" altLang="zh-CN" dirty="0">
                <a:latin typeface="Inter"/>
              </a:rPr>
              <a:t>7</a:t>
            </a:r>
            <a:r>
              <a:rPr lang="zh-CN" altLang="en-US" dirty="0">
                <a:latin typeface="Inter"/>
              </a:rPr>
              <a:t>维特征向量：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包括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Chiplet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的长宽、功率、对应的放置顺序步骤、放置后的可用面积变化、功率变化及互连线长变化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latin typeface="Inter"/>
              </a:rPr>
              <a:t> </a:t>
            </a:r>
            <a:endParaRPr lang="en-US" altLang="zh-CN" sz="20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17072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4205-57F0-AC74-FFDB-A36623C4D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8F12F6B-AFBC-F21E-6E73-ABCEDCF94A10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2180228-D597-526B-0EC1-B4726AA9552A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50D0CD09-BF14-397C-2706-6E67D66B6621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93592A80-D189-910E-174D-4B8BECBB6C0E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49F095-0E5D-38E9-A53F-28F2C709DFA1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A12B240-25E6-9DFB-F584-8D46493E3E62}"/>
              </a:ext>
            </a:extLst>
          </p:cNvPr>
          <p:cNvSpPr txBox="1"/>
          <p:nvPr/>
        </p:nvSpPr>
        <p:spPr>
          <a:xfrm>
            <a:off x="1663046" y="282654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 Solution Methods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03D5B02-8D23-38F5-75CB-A796668E4BA0}"/>
              </a:ext>
            </a:extLst>
          </p:cNvPr>
          <p:cNvSpPr txBox="1"/>
          <p:nvPr/>
        </p:nvSpPr>
        <p:spPr>
          <a:xfrm>
            <a:off x="1964003" y="1116928"/>
            <a:ext cx="8941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2.3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网络训练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C1F1F7-1810-02E1-C5AD-3DFCC547E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A43F8AF-2418-1760-ABDD-5A88138BDF7E}"/>
              </a:ext>
            </a:extLst>
          </p:cNvPr>
          <p:cNvSpPr txBox="1"/>
          <p:nvPr/>
        </p:nvSpPr>
        <p:spPr>
          <a:xfrm>
            <a:off x="1535001" y="1621612"/>
            <a:ext cx="9471665" cy="110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zh-CN" dirty="0">
                <a:latin typeface="Inter"/>
              </a:rPr>
              <a:t>每一个具有特定放置顺序的布局都可以将</a:t>
            </a:r>
            <a:r>
              <a:rPr lang="en-US" altLang="zh-CN" dirty="0" err="1">
                <a:latin typeface="Inter"/>
              </a:rPr>
              <a:t>Chiplet</a:t>
            </a:r>
            <a:r>
              <a:rPr lang="zh-CN" altLang="zh-CN" dirty="0">
                <a:latin typeface="Inter"/>
              </a:rPr>
              <a:t>系统抽象为一个无向图，各个</a:t>
            </a:r>
            <a:r>
              <a:rPr lang="en-US" altLang="zh-CN" dirty="0" err="1">
                <a:latin typeface="Inter"/>
              </a:rPr>
              <a:t>Chiplet</a:t>
            </a:r>
            <a:r>
              <a:rPr lang="zh-CN" altLang="zh-CN" dirty="0">
                <a:latin typeface="Inter"/>
              </a:rPr>
              <a:t>为节点，互连关系为边。</a:t>
            </a:r>
          </a:p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20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574B2E-B383-02D8-1C23-663DE6A34D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640" y="2462065"/>
            <a:ext cx="5157360" cy="411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586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5B3B1-6AFD-590D-6912-8A1091CC3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CC138514-11DB-A4E5-45AF-470A4891B557}"/>
              </a:ext>
            </a:extLst>
          </p:cNvPr>
          <p:cNvGrpSpPr/>
          <p:nvPr/>
        </p:nvGrpSpPr>
        <p:grpSpPr>
          <a:xfrm>
            <a:off x="0" y="2463165"/>
            <a:ext cx="12192000" cy="1440000"/>
            <a:chOff x="0" y="3114"/>
            <a:chExt cx="19200" cy="226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B75A89D-D614-D136-E17F-EB11759F00CE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66849D49-9414-EC5A-2956-5F507EEF03A2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>
              <a:off x="8646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085622D-953A-984C-57BD-1FFA8507DD27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8891" y="3310"/>
              <a:ext cx="10096" cy="1891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en-US" altLang="zh-CN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Versa-DNN: A Versatile Architecture Enabling  High-Performance and Energy-Efficient  Multi-DNN Acceleration</a:t>
              </a:r>
              <a:r>
                <a:rPr kumimoji="1" lang="zh-CN" altLang="en-US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（</a:t>
              </a:r>
              <a:r>
                <a:rPr kumimoji="1" lang="en-US" altLang="zh-CN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2023</a:t>
              </a:r>
              <a:r>
                <a:rPr kumimoji="1" lang="zh-CN" altLang="en-US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，</a:t>
              </a:r>
              <a:r>
                <a:rPr kumimoji="1" lang="en-US" altLang="zh-CN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TPDS</a:t>
              </a:r>
              <a:r>
                <a:rPr kumimoji="1" lang="zh-CN" altLang="en-US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）</a:t>
              </a:r>
              <a:endParaRPr kumimoji="1" lang="en-US" altLang="zh-CN" b="1" i="1" dirty="0">
                <a:solidFill>
                  <a:schemeClr val="bg1"/>
                </a:solidFill>
                <a:uFillTx/>
                <a:latin typeface="Times New Roman Bold Italic" panose="02020803070505020304" charset="0"/>
                <a:cs typeface="Times New Roman Bold Italic" panose="02020803070505020304" charset="0"/>
                <a:sym typeface="+mn-ea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CB932833-1934-241B-CCFA-4C05586F853F}"/>
                </a:ext>
              </a:extLst>
            </p:cNvPr>
            <p:cNvGrpSpPr/>
            <p:nvPr/>
          </p:nvGrpSpPr>
          <p:grpSpPr>
            <a:xfrm>
              <a:off x="5428" y="3544"/>
              <a:ext cx="2973" cy="1483"/>
              <a:chOff x="5428" y="3544"/>
              <a:chExt cx="2973" cy="1483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D8B0F0D-5385-1960-2657-A8F594B94B8D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351" y="3544"/>
                <a:ext cx="1139" cy="101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2</a:t>
                </a:r>
                <a:endParaRPr kumimoji="1" lang="zh-CN" altLang="en-US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B9C1516-8F2D-4439-A462-0D3821E6DC1D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28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one</a:t>
                </a:r>
                <a:endPara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endParaRPr>
              </a:p>
            </p:txBody>
          </p:sp>
        </p:grp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790D4175-FE5A-080B-A7C4-67A2A6E99A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55FB946-D1BF-599F-8740-5FEDBF6C013A}"/>
              </a:ext>
            </a:extLst>
          </p:cNvPr>
          <p:cNvSpPr txBox="1"/>
          <p:nvPr/>
        </p:nvSpPr>
        <p:spPr>
          <a:xfrm>
            <a:off x="563879" y="5810249"/>
            <a:ext cx="11064240" cy="64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[2] 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Yang, Jiaqi, Hao Zheng, and Ahmed Louri. "Versa-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dnn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A versatile architecture enabling high-performance and energy-efficient multi-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dnn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acceleration." </a:t>
            </a:r>
            <a:r>
              <a:rPr lang="en-US" altLang="zh-CN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 Transactions on Parallel and Distributed Systems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35.2 (2023): 349-361.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05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01DF5-64E0-D3B8-3F1A-63773185D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A139FB2-34DB-58FE-4814-74963ADB6955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BF9C364-D947-48CA-816D-E4AC3ECB7415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DD9967C1-27FF-213D-086D-9F450AB05CD2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0CDFE7A-D589-6AAA-56EF-532E09AA5B00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39733C-1858-17BC-750F-89BDE06613A3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FA805EE-CC45-8344-7E1D-028CCFD4E044}"/>
              </a:ext>
            </a:extLst>
          </p:cNvPr>
          <p:cNvSpPr txBox="1"/>
          <p:nvPr/>
        </p:nvSpPr>
        <p:spPr>
          <a:xfrm>
            <a:off x="1663046" y="282654"/>
            <a:ext cx="107228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 Introduction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F9189DB-910F-C7CE-05D2-1D756D6216BD}"/>
              </a:ext>
            </a:extLst>
          </p:cNvPr>
          <p:cNvSpPr txBox="1"/>
          <p:nvPr/>
        </p:nvSpPr>
        <p:spPr>
          <a:xfrm>
            <a:off x="1964003" y="1116928"/>
            <a:ext cx="2425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1.1 Core Issue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F3C28CD-E368-BCC9-61C9-F21554738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8CA136ED-E7E5-9E87-BA46-AEEB73D40AC7}"/>
              </a:ext>
            </a:extLst>
          </p:cNvPr>
          <p:cNvSpPr txBox="1"/>
          <p:nvPr/>
        </p:nvSpPr>
        <p:spPr>
          <a:xfrm>
            <a:off x="1815254" y="1552761"/>
            <a:ext cx="9825203" cy="80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i="0" dirty="0">
                <a:solidFill>
                  <a:srgbClr val="000000"/>
                </a:solidFill>
                <a:effectLst/>
                <a:latin typeface="-apple-system"/>
              </a:rPr>
              <a:t>多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-apple-system"/>
              </a:rPr>
              <a:t>DNN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-apple-system"/>
              </a:rPr>
              <a:t>并发需求激增，现有加速器架构难</a:t>
            </a:r>
            <a:r>
              <a:rPr lang="zh-CN" altLang="en-US" sz="2000" dirty="0">
                <a:solidFill>
                  <a:srgbClr val="000000"/>
                </a:solidFill>
                <a:latin typeface="-apple-system"/>
              </a:rPr>
              <a:t>适配多</a:t>
            </a:r>
            <a:r>
              <a:rPr lang="en-US" altLang="zh-CN" sz="2000" dirty="0">
                <a:solidFill>
                  <a:srgbClr val="000000"/>
                </a:solidFill>
                <a:latin typeface="-apple-system"/>
              </a:rPr>
              <a:t>DNN</a:t>
            </a:r>
            <a:r>
              <a:rPr lang="zh-CN" altLang="en-US" sz="2000" dirty="0">
                <a:solidFill>
                  <a:srgbClr val="000000"/>
                </a:solidFill>
                <a:latin typeface="-apple-system"/>
              </a:rPr>
              <a:t>特性，资源竞争严重、片外访问效率低</a:t>
            </a:r>
            <a:endParaRPr lang="en-US" altLang="zh-CN" sz="20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64F2F04-29DF-9D91-71E3-2EAD2A78A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175601"/>
            <a:ext cx="10102784" cy="19283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0033AB4-39E2-7F38-CB55-4B8B628F8358}"/>
              </a:ext>
            </a:extLst>
          </p:cNvPr>
          <p:cNvSpPr txBox="1"/>
          <p:nvPr/>
        </p:nvSpPr>
        <p:spPr>
          <a:xfrm>
            <a:off x="1815253" y="2416074"/>
            <a:ext cx="9825203" cy="1545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Inter"/>
              </a:rPr>
              <a:t>Versa-DNN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Inter"/>
              </a:rPr>
              <a:t>架构 </a:t>
            </a:r>
            <a:r>
              <a:rPr lang="en-US" altLang="zh-CN" sz="2000" b="0" i="0" dirty="0">
                <a:effectLst/>
                <a:latin typeface="Inter"/>
              </a:rPr>
              <a:t>—— </a:t>
            </a:r>
            <a:r>
              <a:rPr lang="zh-CN" altLang="en-US" sz="2000" b="0" i="0" dirty="0">
                <a:effectLst/>
                <a:latin typeface="Inter"/>
              </a:rPr>
              <a:t>一款支持</a:t>
            </a:r>
            <a:r>
              <a:rPr lang="zh-CN" altLang="en-US" sz="2000" i="0" dirty="0">
                <a:effectLst/>
                <a:latin typeface="Inter"/>
              </a:rPr>
              <a:t>多 </a:t>
            </a:r>
            <a:r>
              <a:rPr lang="en-US" altLang="zh-CN" sz="2000" i="0" dirty="0">
                <a:effectLst/>
                <a:latin typeface="Inter"/>
              </a:rPr>
              <a:t>DNN </a:t>
            </a:r>
            <a:r>
              <a:rPr lang="zh-CN" altLang="en-US" sz="2000" i="0" dirty="0">
                <a:effectLst/>
                <a:latin typeface="Inter"/>
              </a:rPr>
              <a:t>高效并行</a:t>
            </a:r>
            <a:r>
              <a:rPr lang="zh-CN" altLang="en-US" sz="2000" b="0" i="0" dirty="0">
                <a:effectLst/>
                <a:latin typeface="Inter"/>
              </a:rPr>
              <a:t>加速的通用加速器，其核心设计包括：</a:t>
            </a:r>
            <a:r>
              <a:rPr lang="zh-CN" altLang="en-US" sz="2000" b="1" i="0" dirty="0">
                <a:effectLst/>
                <a:latin typeface="Inter"/>
              </a:rPr>
              <a:t>片外内存访问优化策略</a:t>
            </a:r>
            <a:r>
              <a:rPr lang="zh-CN" altLang="en-US" sz="2000" b="0" i="0" dirty="0">
                <a:effectLst/>
                <a:latin typeface="Inter"/>
              </a:rPr>
              <a:t>（减少片外访问）、</a:t>
            </a:r>
            <a:r>
              <a:rPr lang="zh-CN" altLang="en-US" sz="2000" b="1" i="0" dirty="0">
                <a:effectLst/>
                <a:latin typeface="Inter"/>
              </a:rPr>
              <a:t>通信与计算感知调度算法</a:t>
            </a:r>
            <a:r>
              <a:rPr lang="zh-CN" altLang="en-US" sz="2000" i="0" dirty="0">
                <a:effectLst/>
                <a:latin typeface="Inter"/>
              </a:rPr>
              <a:t>以及</a:t>
            </a:r>
            <a:r>
              <a:rPr lang="zh-CN" altLang="en-US" sz="2000" b="1" i="0" dirty="0">
                <a:effectLst/>
                <a:latin typeface="Inter"/>
              </a:rPr>
              <a:t>自适应加速器架构</a:t>
            </a:r>
            <a:r>
              <a:rPr lang="zh-CN" altLang="en-US" sz="2000" b="0" i="0" dirty="0">
                <a:effectLst/>
                <a:latin typeface="Inter"/>
              </a:rPr>
              <a:t>（含分布式缓冲区、可动态重构的 </a:t>
            </a:r>
            <a:r>
              <a:rPr lang="en-US" altLang="zh-CN" sz="2000" b="0" i="0" dirty="0">
                <a:effectLst/>
                <a:latin typeface="Inter"/>
              </a:rPr>
              <a:t>NoC</a:t>
            </a:r>
            <a:r>
              <a:rPr lang="zh-CN" altLang="en-US" sz="2000" b="0" i="0" dirty="0">
                <a:effectLst/>
                <a:latin typeface="Inter"/>
              </a:rPr>
              <a:t>）；</a:t>
            </a:r>
            <a:endParaRPr lang="zh-CN" altLang="en-US" sz="2000" dirty="0"/>
          </a:p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endParaRPr lang="en-US" altLang="zh-CN" sz="20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71255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D476D-DE83-2F74-A955-02084A43C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F395E92-A462-FA05-B820-97DD4BE0352A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64EB87C-7822-78F1-4A90-114128EBE9AF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A3DAB664-DC7E-90DC-49EC-FF3D153156FC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942777A7-F5B8-8413-0D8B-3D9AC9D9A073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9E0AF56-38D2-6616-8AE1-18B1C74C521B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30AF60B-F5DE-4950-19F6-F868C0F8529E}"/>
              </a:ext>
            </a:extLst>
          </p:cNvPr>
          <p:cNvSpPr txBox="1"/>
          <p:nvPr/>
        </p:nvSpPr>
        <p:spPr>
          <a:xfrm>
            <a:off x="1663046" y="282654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 Solution Methods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8D27030-0D6F-2ED9-097C-73628C69951B}"/>
              </a:ext>
            </a:extLst>
          </p:cNvPr>
          <p:cNvSpPr txBox="1"/>
          <p:nvPr/>
        </p:nvSpPr>
        <p:spPr>
          <a:xfrm>
            <a:off x="1964003" y="1116928"/>
            <a:ext cx="8941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2.1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片外内存访问优化策略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3799C0E-E1FF-B454-EC8D-14BCEFC0F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AB3712C-F00E-CB26-4F47-31A27261F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834" y="2666230"/>
            <a:ext cx="5670650" cy="33831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EE41D27-7A67-24A4-451F-A6D7921D5FD6}"/>
              </a:ext>
            </a:extLst>
          </p:cNvPr>
          <p:cNvSpPr txBox="1"/>
          <p:nvPr/>
        </p:nvSpPr>
        <p:spPr>
          <a:xfrm>
            <a:off x="1512423" y="1693060"/>
            <a:ext cx="10128033" cy="80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-apple-system"/>
              </a:rPr>
              <a:t>现在常见的四种数据流格式有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-apple-system"/>
              </a:rPr>
              <a:t>权重固定数据流（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latin typeface="-apple-system"/>
              </a:rPr>
              <a:t>WS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-apple-system"/>
              </a:rPr>
              <a:t>）、输入固定数据流（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latin typeface="-apple-system"/>
              </a:rPr>
              <a:t>IS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-apple-system"/>
              </a:rPr>
              <a:t>）、输出固定数据流（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latin typeface="-apple-system"/>
              </a:rPr>
              <a:t>OS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-apple-system"/>
              </a:rPr>
              <a:t>）、行固定数据流（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latin typeface="-apple-system"/>
              </a:rPr>
              <a:t>RS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-apple-system"/>
              </a:rPr>
              <a:t>）</a:t>
            </a:r>
            <a:endParaRPr lang="en-US" altLang="zh-CN" sz="2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6710AB7-6400-A137-A624-A75A06E9A212}"/>
              </a:ext>
            </a:extLst>
          </p:cNvPr>
          <p:cNvSpPr txBox="1"/>
          <p:nvPr/>
        </p:nvSpPr>
        <p:spPr>
          <a:xfrm>
            <a:off x="2227662" y="2785438"/>
            <a:ext cx="38683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选择将哪一类数据（权重、输入或输出）长期保留在处理单元（PE）的本地寄存器中，以实现最高效的复用，从而减少向更高层级缓存（如全局缓存或片外DRAM）访问的能量消耗和延迟。</a:t>
            </a:r>
          </a:p>
        </p:txBody>
      </p:sp>
    </p:spTree>
    <p:extLst>
      <p:ext uri="{BB962C8B-B14F-4D97-AF65-F5344CB8AC3E}">
        <p14:creationId xmlns:p14="http://schemas.microsoft.com/office/powerpoint/2010/main" val="2535394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FACD5-946B-E88E-00FA-F8E11122B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EE91197-E8BF-F00F-3F91-282710B1D5E0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3A2D8E1-10F5-4D80-CBB2-C2734EC56FD5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24BCC398-B35D-2861-FB0B-F1DBA27E1C78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6BF52E00-3333-0C99-14A0-57D315F69015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85D0C42-CE94-F55C-A8C2-A920BC5447E4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43AAFD7-5B78-1D3C-21D4-5B700ECED7FF}"/>
              </a:ext>
            </a:extLst>
          </p:cNvPr>
          <p:cNvSpPr txBox="1"/>
          <p:nvPr/>
        </p:nvSpPr>
        <p:spPr>
          <a:xfrm>
            <a:off x="1663046" y="282654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 Solution Methods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7E53135-DB5E-3CEB-3880-C6FEF3089E1F}"/>
              </a:ext>
            </a:extLst>
          </p:cNvPr>
          <p:cNvSpPr txBox="1"/>
          <p:nvPr/>
        </p:nvSpPr>
        <p:spPr>
          <a:xfrm>
            <a:off x="1964003" y="1116928"/>
            <a:ext cx="8941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2.1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片外内存访问优化策略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FAE1661-4599-170C-4DCA-3B7495FBE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A61B6F-162A-210F-B3C9-EE8C7FE2C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540" y="2676098"/>
            <a:ext cx="6797760" cy="379243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AD725CB-D3CA-7A22-70CF-053404C7430A}"/>
              </a:ext>
            </a:extLst>
          </p:cNvPr>
          <p:cNvSpPr txBox="1"/>
          <p:nvPr/>
        </p:nvSpPr>
        <p:spPr>
          <a:xfrm>
            <a:off x="1209645" y="1517038"/>
            <a:ext cx="10982355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-apple-system"/>
              </a:rPr>
              <a:t>由于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-apple-system"/>
              </a:rPr>
              <a:t>K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-apple-system"/>
              </a:rPr>
              <a:t>维度输入没有，所以为了避免在片上缓存重复存储相同的数据，所以增加一个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-apple-system"/>
              </a:rPr>
              <a:t>n</a:t>
            </a:r>
            <a:r>
              <a:rPr lang="zh-CN" altLang="en-US" sz="2000" dirty="0">
                <a:solidFill>
                  <a:srgbClr val="000000"/>
                </a:solidFill>
                <a:latin typeface="-apple-system"/>
              </a:rPr>
              <a:t>维度</a:t>
            </a:r>
            <a:endParaRPr lang="en-US" altLang="zh-CN" sz="2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0B87578-6CC5-E5A8-B3D6-6D948F17AB6C}"/>
              </a:ext>
            </a:extLst>
          </p:cNvPr>
          <p:cNvSpPr txBox="1"/>
          <p:nvPr/>
        </p:nvSpPr>
        <p:spPr>
          <a:xfrm>
            <a:off x="1663045" y="2141875"/>
            <a:ext cx="33756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）在分布式缓存架构中，要完全分布一个数据矩阵（使其在任何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Tile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的缓存中都不重复），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-apple-system"/>
              </a:rPr>
              <a:t>必须至少对其两个维度进行并行化切割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。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024A2B-4392-05CE-C8C4-D184FC22A8B1}"/>
              </a:ext>
            </a:extLst>
          </p:cNvPr>
          <p:cNvSpPr txBox="1"/>
          <p:nvPr/>
        </p:nvSpPr>
        <p:spPr>
          <a:xfrm>
            <a:off x="1663044" y="3709747"/>
            <a:ext cx="33756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2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）需要对输入和权重进行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-apple-system"/>
              </a:rPr>
              <a:t>对称的、维度对应的划分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。例如，如果输入在通道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C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上被分成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4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块，那么权重也最好在对应的通道维度上分成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4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块。这样，数据（输入块和权重块）就能以规则的方式配对和计算。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007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8FC02-525C-BED6-405F-F60B1917B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2C4F462-B52C-A8EC-F5BB-8F36C28D0ABC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F37592D-B0D7-042D-F789-EF04D8AFD72C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7F16B515-CD78-F7E2-B1A8-FBFDB20E173F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EBF61B90-48DE-83AF-1DA6-C4AEC84A9138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4D546AD-607A-E465-3829-898D2C8D2381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1D43F1E-587B-06D4-DC1F-6E923EB0F6B4}"/>
              </a:ext>
            </a:extLst>
          </p:cNvPr>
          <p:cNvSpPr txBox="1"/>
          <p:nvPr/>
        </p:nvSpPr>
        <p:spPr>
          <a:xfrm>
            <a:off x="1663046" y="282654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 Solution Methods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94C60FB-86C5-0F7C-7F97-07F1D8073B6D}"/>
              </a:ext>
            </a:extLst>
          </p:cNvPr>
          <p:cNvSpPr txBox="1"/>
          <p:nvPr/>
        </p:nvSpPr>
        <p:spPr>
          <a:xfrm>
            <a:off x="1964003" y="1116928"/>
            <a:ext cx="8941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2.2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通信与计算感知调度算法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9D409E-67C3-1E20-D7B8-E3E51820C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14794D0-DD58-A8ED-F48D-AF5A9B309BAC}"/>
              </a:ext>
            </a:extLst>
          </p:cNvPr>
          <p:cNvSpPr txBox="1"/>
          <p:nvPr/>
        </p:nvSpPr>
        <p:spPr>
          <a:xfrm>
            <a:off x="1512424" y="1693060"/>
            <a:ext cx="10128033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dirty="0">
                <a:solidFill>
                  <a:srgbClr val="000000"/>
                </a:solidFill>
                <a:latin typeface="-apple-system"/>
              </a:rPr>
              <a:t>数据流选择</a:t>
            </a:r>
            <a:endParaRPr lang="en-US" altLang="zh-CN" sz="2000" dirty="0">
              <a:solidFill>
                <a:srgbClr val="000000"/>
              </a:solidFill>
              <a:latin typeface="-apple-system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23CBD40-0078-2305-2A3C-808718A60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721" y="2292390"/>
            <a:ext cx="3170178" cy="46436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19405E9-E7C9-06E5-2E1E-BDE57D572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0721" y="2724259"/>
            <a:ext cx="4455176" cy="91989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3EA8CBF-8828-8974-49B3-7424877512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4003" y="3764624"/>
            <a:ext cx="5116903" cy="197183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B5A6D62-73D5-1D1C-51E3-BFC0415649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2447" y="1217668"/>
            <a:ext cx="4904611" cy="509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26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02A94-E60A-24E1-F74C-7A7BD638A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D459DAF-4689-D507-EC79-F943B89D6AA2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D42EED9-ABA3-234E-FD76-F0D1830DEC99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7222B003-3B14-CC77-2DE4-D04E00E537C4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AAC263DE-E8AC-B445-24A0-710304B6B043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0F0F56-860E-79CA-B26B-A7DE9BA624FF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C2938BF-2A3E-EA6E-9375-458CDB164C14}"/>
              </a:ext>
            </a:extLst>
          </p:cNvPr>
          <p:cNvSpPr txBox="1"/>
          <p:nvPr/>
        </p:nvSpPr>
        <p:spPr>
          <a:xfrm>
            <a:off x="1663046" y="282654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 Solution Methods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29D79F8-286C-EE87-0CF1-13A50FAE37B1}"/>
              </a:ext>
            </a:extLst>
          </p:cNvPr>
          <p:cNvSpPr txBox="1"/>
          <p:nvPr/>
        </p:nvSpPr>
        <p:spPr>
          <a:xfrm>
            <a:off x="1964003" y="1116928"/>
            <a:ext cx="8941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2.2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通信与计算感知调度算法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ED1636-C9E6-7F53-AC3A-ED23C3B4F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49AC748-F84C-D817-816D-1BD8DCCA2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1326" y="2552637"/>
            <a:ext cx="4806063" cy="7678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9CC899A-1B39-4EFC-1019-B880A34825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8322" y="3332274"/>
            <a:ext cx="4806062" cy="58568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B584E1F-24C6-8914-BE15-22AA06C56A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5859" y="3876153"/>
            <a:ext cx="4638590" cy="76168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3BEA2AF-ACAC-B93E-DA14-8699889086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2427" y="4690678"/>
            <a:ext cx="5168317" cy="81992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FE275D0-893E-A16B-BEDE-3BE290D2D2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5073" y="5363518"/>
            <a:ext cx="4313567" cy="68903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C2FAA16-478E-9B1A-9EC8-4589F09A88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28074" y="620172"/>
            <a:ext cx="3974745" cy="583472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F489C867-21E5-46D7-2C68-4EE7FEBF7480}"/>
              </a:ext>
            </a:extLst>
          </p:cNvPr>
          <p:cNvSpPr txBox="1"/>
          <p:nvPr/>
        </p:nvSpPr>
        <p:spPr>
          <a:xfrm>
            <a:off x="1512424" y="1693060"/>
            <a:ext cx="10128033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dirty="0">
                <a:solidFill>
                  <a:srgbClr val="000000"/>
                </a:solidFill>
                <a:latin typeface="-apple-system"/>
              </a:rPr>
              <a:t>候选任务选择</a:t>
            </a:r>
            <a:endParaRPr lang="en-US" altLang="zh-CN" sz="2000" dirty="0">
              <a:solidFill>
                <a:srgbClr val="000000"/>
              </a:solidFill>
              <a:latin typeface="-apple-system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498DB96-FE7C-5B49-D263-AAC0CB2FF773}"/>
              </a:ext>
            </a:extLst>
          </p:cNvPr>
          <p:cNvSpPr txBox="1"/>
          <p:nvPr/>
        </p:nvSpPr>
        <p:spPr>
          <a:xfrm>
            <a:off x="3950824" y="1676844"/>
            <a:ext cx="10128033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dirty="0">
                <a:solidFill>
                  <a:srgbClr val="000000"/>
                </a:solidFill>
                <a:latin typeface="-apple-system"/>
              </a:rPr>
              <a:t>资源（</a:t>
            </a:r>
            <a:r>
              <a:rPr lang="en-US" altLang="zh-CN" sz="2000" dirty="0">
                <a:solidFill>
                  <a:srgbClr val="000000"/>
                </a:solidFill>
                <a:latin typeface="-apple-system"/>
              </a:rPr>
              <a:t>Tiles</a:t>
            </a:r>
            <a:r>
              <a:rPr lang="zh-CN" altLang="en-US" sz="2000" dirty="0">
                <a:solidFill>
                  <a:srgbClr val="000000"/>
                </a:solidFill>
                <a:latin typeface="-apple-system"/>
              </a:rPr>
              <a:t>）分配</a:t>
            </a:r>
            <a:endParaRPr lang="en-US" altLang="zh-CN" sz="2000" dirty="0">
              <a:solidFill>
                <a:srgbClr val="000000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63906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3DDAD-2233-170C-7B8E-4F34E36AF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23049E3-1145-79ED-A47F-B3CA85193DD8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5F0B66-AA4B-3400-68BF-BBD8976ABCDB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DBF4EFB4-E383-1FA8-159C-A40248D6D891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ADA40795-416B-E106-784E-40F3CEE0F8E5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6FAA9D-17B0-F07B-4EB0-0FA7DC110EF0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AB15BDA-90F0-EE05-CDF4-D5710319F0CB}"/>
              </a:ext>
            </a:extLst>
          </p:cNvPr>
          <p:cNvSpPr txBox="1"/>
          <p:nvPr/>
        </p:nvSpPr>
        <p:spPr>
          <a:xfrm>
            <a:off x="1663046" y="282654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 Solution Methods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A3BD63F-72AD-96EB-2389-1FCD8C60F69A}"/>
              </a:ext>
            </a:extLst>
          </p:cNvPr>
          <p:cNvSpPr txBox="1"/>
          <p:nvPr/>
        </p:nvSpPr>
        <p:spPr>
          <a:xfrm>
            <a:off x="1964003" y="1116928"/>
            <a:ext cx="8941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2.3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自适应加速器架构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4506B56-D87F-311A-C2E0-374623BF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4543230-E8AE-8E92-8A24-19C64FAA9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77444"/>
            <a:ext cx="5477096" cy="3296247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5591D86-0F18-6A85-2DBA-E87B650FA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3052" y="3716258"/>
            <a:ext cx="8899683" cy="243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76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DFEE8-A2A9-842C-246B-44C8A03F1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0983B27-7D6B-6340-BEB5-C0A10E910B9F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00714FD-1CB6-3D7F-3FBF-4B07B66DEF02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30947156-73D0-9B48-AF03-B8CFAEF21B13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0AD14D80-E199-EBD3-266F-309BA4327E3F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95A69F-D455-6056-A10C-6F9DAB003277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6AD04E0-6CEE-38D0-24E1-67DD72AA2C03}"/>
              </a:ext>
            </a:extLst>
          </p:cNvPr>
          <p:cNvSpPr txBox="1"/>
          <p:nvPr/>
        </p:nvSpPr>
        <p:spPr>
          <a:xfrm>
            <a:off x="1663046" y="282654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 Solution Methods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A6AB6D2-9A5B-5895-AF08-8DD5678C5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28EDFC6-0680-3B8E-0C3A-5A8A8A158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046" y="1743493"/>
            <a:ext cx="5459114" cy="383821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DDDA4454-05DF-E133-4D0A-F01EC19ED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3292" y="1110261"/>
            <a:ext cx="3041420" cy="27859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2AFC3D9-5BCC-4895-0E34-F0E7CFF113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7333" y="4070238"/>
            <a:ext cx="2788356" cy="2670204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F19A849-AE58-C887-3AD4-2364D3009342}"/>
              </a:ext>
            </a:extLst>
          </p:cNvPr>
          <p:cNvCxnSpPr>
            <a:cxnSpLocks/>
          </p:cNvCxnSpPr>
          <p:nvPr/>
        </p:nvCxnSpPr>
        <p:spPr>
          <a:xfrm flipV="1">
            <a:off x="6494145" y="1241778"/>
            <a:ext cx="1803188" cy="745137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5136AA9-1771-1A1B-3F02-E8AE59CCD1A9}"/>
              </a:ext>
            </a:extLst>
          </p:cNvPr>
          <p:cNvCxnSpPr>
            <a:cxnSpLocks/>
          </p:cNvCxnSpPr>
          <p:nvPr/>
        </p:nvCxnSpPr>
        <p:spPr>
          <a:xfrm>
            <a:off x="6494145" y="2240280"/>
            <a:ext cx="1803188" cy="1594516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147FE0B-47BE-4FF2-E9C3-FBD35293800B}"/>
              </a:ext>
            </a:extLst>
          </p:cNvPr>
          <p:cNvCxnSpPr>
            <a:cxnSpLocks/>
          </p:cNvCxnSpPr>
          <p:nvPr/>
        </p:nvCxnSpPr>
        <p:spPr>
          <a:xfrm flipH="1">
            <a:off x="8400288" y="3590544"/>
            <a:ext cx="682752" cy="621792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6E2B2FD-D1AA-6565-6F23-65A596B52D96}"/>
              </a:ext>
            </a:extLst>
          </p:cNvPr>
          <p:cNvCxnSpPr>
            <a:cxnSpLocks/>
          </p:cNvCxnSpPr>
          <p:nvPr/>
        </p:nvCxnSpPr>
        <p:spPr>
          <a:xfrm>
            <a:off x="9382231" y="3590956"/>
            <a:ext cx="1645433" cy="621380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87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7E9DD-A4F2-24BC-EFBB-238F25DE4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8BF65293-D5FE-25B4-CDF7-8C86D361A284}"/>
              </a:ext>
            </a:extLst>
          </p:cNvPr>
          <p:cNvGrpSpPr/>
          <p:nvPr/>
        </p:nvGrpSpPr>
        <p:grpSpPr>
          <a:xfrm>
            <a:off x="0" y="2463165"/>
            <a:ext cx="12192000" cy="1440000"/>
            <a:chOff x="0" y="3114"/>
            <a:chExt cx="19200" cy="226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FA271B7-B1E5-2A00-C985-C6D829891B2C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4BF632B7-EDF6-97D2-5640-DBBC046AB10C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>
              <a:off x="8646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72A6D04-92A2-F184-2436-1CBD1616A807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8891" y="3310"/>
              <a:ext cx="10096" cy="1891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en-US" altLang="zh-CN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M2M: A Fine-Grained Mapping Framework to  Accelerate Multiple DNNs on a Multi-</a:t>
              </a:r>
              <a:r>
                <a:rPr kumimoji="1" lang="en-US" altLang="zh-CN" sz="2400" b="1" i="1" dirty="0" err="1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Chiplet</a:t>
              </a:r>
              <a:r>
                <a:rPr kumimoji="1" lang="en-US" altLang="zh-CN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  Architecture</a:t>
              </a:r>
              <a:r>
                <a:rPr kumimoji="1" lang="zh-CN" altLang="en-US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（</a:t>
              </a:r>
              <a:r>
                <a:rPr kumimoji="1" lang="en-US" altLang="zh-CN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2024</a:t>
              </a:r>
              <a:r>
                <a:rPr kumimoji="1" lang="zh-CN" altLang="en-US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，</a:t>
              </a:r>
              <a:r>
                <a:rPr kumimoji="1" lang="en-US" altLang="zh-CN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VLSI</a:t>
              </a:r>
              <a:r>
                <a:rPr kumimoji="1" lang="zh-CN" altLang="en-US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）</a:t>
              </a:r>
              <a:endParaRPr kumimoji="1" lang="en-US" altLang="zh-CN" b="1" i="1" dirty="0">
                <a:solidFill>
                  <a:schemeClr val="bg1"/>
                </a:solidFill>
                <a:uFillTx/>
                <a:latin typeface="Times New Roman Bold Italic" panose="02020803070505020304" charset="0"/>
                <a:cs typeface="Times New Roman Bold Italic" panose="02020803070505020304" charset="0"/>
                <a:sym typeface="+mn-ea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B95F3682-2686-A6BD-747E-A8D4050677F8}"/>
                </a:ext>
              </a:extLst>
            </p:cNvPr>
            <p:cNvGrpSpPr/>
            <p:nvPr/>
          </p:nvGrpSpPr>
          <p:grpSpPr>
            <a:xfrm>
              <a:off x="5428" y="3544"/>
              <a:ext cx="2973" cy="1483"/>
              <a:chOff x="5428" y="3544"/>
              <a:chExt cx="2973" cy="1483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3AB5159-D818-F32F-3903-4B6A139F8DDB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351" y="3544"/>
                <a:ext cx="1139" cy="101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3</a:t>
                </a:r>
                <a:endParaRPr kumimoji="1" lang="zh-CN" altLang="en-US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5E33915-388E-290C-A39E-04C0103ED884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28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one</a:t>
                </a:r>
                <a:endPara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endParaRPr>
              </a:p>
            </p:txBody>
          </p:sp>
        </p:grp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577F942E-F4BE-A9AE-D0B4-E4711C49AA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FF79741-39E0-775E-B24F-268B9A4FCD08}"/>
              </a:ext>
            </a:extLst>
          </p:cNvPr>
          <p:cNvSpPr txBox="1"/>
          <p:nvPr/>
        </p:nvSpPr>
        <p:spPr>
          <a:xfrm>
            <a:off x="563879" y="5810249"/>
            <a:ext cx="11064240" cy="64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[3] 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Zhang J, Wang X, Ye Y, et al. M2M: A Fine-Grained Map** Framework to Accelerate Multiple DNNs on a Multi-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Chiplet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Architecture[J]. IEEE Transactions on Very Large Scale Integration (VLSI) Systems, 2024.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702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ED5A6-19F2-8270-F92A-47F166A28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234378F-962E-CECC-89FD-149D768BBFDE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80E1B2F-F30D-93D9-543F-5FC2E27DF54D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C562DF40-E720-16D3-174B-00C233E58AC0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FECF8573-E5A8-5B65-34D7-980BABB9B0EF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BA38114-7297-F7CD-55CC-D07E3F8779C8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699832-3D68-F12F-F8DD-D52050B31806}"/>
              </a:ext>
            </a:extLst>
          </p:cNvPr>
          <p:cNvSpPr txBox="1"/>
          <p:nvPr/>
        </p:nvSpPr>
        <p:spPr>
          <a:xfrm>
            <a:off x="1663046" y="282654"/>
            <a:ext cx="107228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 Introduction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0CA0BF3-F0F0-9D5F-26AF-206EE82E8E4F}"/>
              </a:ext>
            </a:extLst>
          </p:cNvPr>
          <p:cNvSpPr txBox="1"/>
          <p:nvPr/>
        </p:nvSpPr>
        <p:spPr>
          <a:xfrm>
            <a:off x="1964003" y="1116928"/>
            <a:ext cx="2425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1.1 Core Issue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C7878DB-0FD9-FD1E-6921-258FEA7EC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EE67E3D1-B88A-4177-0A95-B6E50D39942C}"/>
              </a:ext>
            </a:extLst>
          </p:cNvPr>
          <p:cNvSpPr txBox="1"/>
          <p:nvPr/>
        </p:nvSpPr>
        <p:spPr>
          <a:xfrm>
            <a:off x="1747520" y="1657002"/>
            <a:ext cx="9825203" cy="1176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i="0" dirty="0">
                <a:solidFill>
                  <a:srgbClr val="000000"/>
                </a:solidFill>
                <a:effectLst/>
                <a:latin typeface="-apple-system"/>
              </a:rPr>
              <a:t>自动驾驶、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-apple-system"/>
              </a:rPr>
              <a:t>AR/VR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-apple-system"/>
              </a:rPr>
              <a:t>等应用需多 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-apple-system"/>
              </a:rPr>
              <a:t>DNN 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-apple-system"/>
              </a:rPr>
              <a:t>协同，但传统单芯粒加速器成本高、扩展性差；多芯粒架构通过 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-apple-system"/>
              </a:rPr>
              <a:t>2.5D/3D 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-apple-system"/>
              </a:rPr>
              <a:t>集成平衡性能与成本，却面临三大核心问题：</a:t>
            </a:r>
            <a:endParaRPr lang="en-US" altLang="zh-CN" sz="2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lvl="1">
              <a:lnSpc>
                <a:spcPct val="120000"/>
              </a:lnSpc>
              <a:buSzPct val="80000"/>
            </a:pPr>
            <a:r>
              <a:rPr lang="zh-CN" altLang="en-US" sz="2000" b="1" i="0" dirty="0">
                <a:effectLst/>
                <a:latin typeface="Inter"/>
              </a:rPr>
              <a:t>                         分布式内存访问、异构互连网络复杂、计算资源扩展难</a:t>
            </a:r>
            <a:endParaRPr lang="en-US" altLang="zh-CN" sz="20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5897A4-511A-9263-8B69-42B9E92F3DBB}"/>
              </a:ext>
            </a:extLst>
          </p:cNvPr>
          <p:cNvSpPr txBox="1"/>
          <p:nvPr/>
        </p:nvSpPr>
        <p:spPr>
          <a:xfrm>
            <a:off x="1677490" y="2956265"/>
            <a:ext cx="9825203" cy="1545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Inter"/>
              </a:rPr>
              <a:t>M2M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Inter"/>
              </a:rPr>
              <a:t>细粒度映射框架</a:t>
            </a:r>
            <a:r>
              <a:rPr lang="en-US" altLang="zh-CN" sz="2000" b="0" i="0" dirty="0">
                <a:effectLst/>
                <a:latin typeface="Inter"/>
              </a:rPr>
              <a:t>—— </a:t>
            </a:r>
            <a:r>
              <a:rPr lang="zh-CN" altLang="en-US" sz="2000" b="0" i="0" dirty="0">
                <a:effectLst/>
                <a:latin typeface="Inter"/>
              </a:rPr>
              <a:t>通过</a:t>
            </a:r>
            <a:r>
              <a:rPr lang="en-US" altLang="zh-CN" sz="2000" b="1" i="0" dirty="0">
                <a:effectLst/>
                <a:latin typeface="Inter"/>
              </a:rPr>
              <a:t>PCA + </a:t>
            </a:r>
            <a:r>
              <a:rPr lang="zh-CN" altLang="en-US" sz="2000" b="1" i="0" dirty="0">
                <a:effectLst/>
                <a:latin typeface="Inter"/>
              </a:rPr>
              <a:t>层次聚类 </a:t>
            </a:r>
            <a:r>
              <a:rPr lang="zh-CN" altLang="en-US" sz="2000" i="0" dirty="0">
                <a:effectLst/>
                <a:latin typeface="Inter"/>
              </a:rPr>
              <a:t>简化多 </a:t>
            </a:r>
            <a:r>
              <a:rPr lang="en-US" altLang="zh-CN" sz="2000" i="0" dirty="0">
                <a:effectLst/>
                <a:latin typeface="Inter"/>
              </a:rPr>
              <a:t>DNN </a:t>
            </a:r>
            <a:r>
              <a:rPr lang="zh-CN" altLang="en-US" sz="2000" i="0" dirty="0">
                <a:effectLst/>
                <a:latin typeface="Inter"/>
              </a:rPr>
              <a:t>计算图</a:t>
            </a:r>
            <a:r>
              <a:rPr lang="zh-CN" altLang="en-US" sz="2000" b="0" i="0" dirty="0">
                <a:effectLst/>
                <a:latin typeface="Inter"/>
              </a:rPr>
              <a:t>、</a:t>
            </a:r>
            <a:r>
              <a:rPr lang="zh-CN" altLang="en-US" sz="2000" b="1" i="0" dirty="0">
                <a:effectLst/>
                <a:latin typeface="Inter"/>
              </a:rPr>
              <a:t>遗传算法</a:t>
            </a:r>
            <a:r>
              <a:rPr lang="zh-CN" altLang="en-US" sz="2000" i="0" dirty="0">
                <a:effectLst/>
                <a:latin typeface="Inter"/>
              </a:rPr>
              <a:t>优化块内循环</a:t>
            </a:r>
            <a:r>
              <a:rPr lang="zh-CN" altLang="en-US" sz="2000" b="0" i="0" dirty="0">
                <a:effectLst/>
                <a:latin typeface="Inter"/>
              </a:rPr>
              <a:t>、</a:t>
            </a:r>
            <a:r>
              <a:rPr lang="zh-CN" altLang="en-US" sz="2000" b="1" i="0" dirty="0">
                <a:effectLst/>
                <a:latin typeface="Inter"/>
              </a:rPr>
              <a:t>时空块调度</a:t>
            </a:r>
            <a:r>
              <a:rPr lang="zh-CN" altLang="en-US" sz="2000" b="0" i="0" dirty="0">
                <a:effectLst/>
                <a:latin typeface="Inter"/>
              </a:rPr>
              <a:t>探索任务执行顺序与芯粒分配数 、</a:t>
            </a:r>
            <a:r>
              <a:rPr lang="zh-CN" altLang="en-US" sz="2000" b="1" i="0" dirty="0">
                <a:effectLst/>
                <a:latin typeface="Inter"/>
              </a:rPr>
              <a:t>模拟退火算法</a:t>
            </a:r>
            <a:r>
              <a:rPr lang="zh-CN" altLang="en-US" sz="2000" b="0" i="0" dirty="0">
                <a:effectLst/>
                <a:latin typeface="Inter"/>
              </a:rPr>
              <a:t>适配 </a:t>
            </a:r>
            <a:r>
              <a:rPr lang="en-US" altLang="zh-CN" sz="2000" b="0" i="0" dirty="0">
                <a:effectLst/>
                <a:latin typeface="Inter"/>
              </a:rPr>
              <a:t>Mesh/</a:t>
            </a:r>
            <a:r>
              <a:rPr lang="en-US" altLang="zh-CN" sz="2000" b="0" i="0" dirty="0" err="1">
                <a:effectLst/>
                <a:latin typeface="Inter"/>
              </a:rPr>
              <a:t>CMesh</a:t>
            </a:r>
            <a:r>
              <a:rPr lang="en-US" altLang="zh-CN" sz="2000" b="0" i="0" dirty="0">
                <a:effectLst/>
                <a:latin typeface="Inter"/>
              </a:rPr>
              <a:t>/Ring </a:t>
            </a:r>
            <a:r>
              <a:rPr lang="zh-CN" altLang="en-US" sz="2000" b="0" i="0" dirty="0">
                <a:effectLst/>
                <a:latin typeface="Inter"/>
              </a:rPr>
              <a:t>互连（通信感知块映射） ，并设计</a:t>
            </a:r>
            <a:r>
              <a:rPr lang="en-US" altLang="zh-CN" sz="2000" b="1" i="0" dirty="0" err="1">
                <a:effectLst/>
                <a:latin typeface="Inter"/>
              </a:rPr>
              <a:t>NoP</a:t>
            </a:r>
            <a:r>
              <a:rPr lang="en-US" altLang="zh-CN" sz="2000" b="1" i="0" dirty="0">
                <a:effectLst/>
                <a:latin typeface="Inter"/>
              </a:rPr>
              <a:t> </a:t>
            </a:r>
            <a:r>
              <a:rPr lang="zh-CN" altLang="en-US" sz="2000" b="1" i="0" dirty="0">
                <a:effectLst/>
                <a:latin typeface="Inter"/>
              </a:rPr>
              <a:t>链路微调 </a:t>
            </a:r>
            <a:r>
              <a:rPr lang="en-US" altLang="zh-CN" sz="2000" b="1" i="0" dirty="0">
                <a:effectLst/>
                <a:latin typeface="Inter"/>
              </a:rPr>
              <a:t>QoS </a:t>
            </a:r>
            <a:r>
              <a:rPr lang="zh-CN" altLang="en-US" sz="2000" b="1" i="0" dirty="0">
                <a:effectLst/>
                <a:latin typeface="Inter"/>
              </a:rPr>
              <a:t>策略</a:t>
            </a:r>
            <a:r>
              <a:rPr lang="zh-CN" altLang="en-US" sz="2000" dirty="0">
                <a:latin typeface="Inter"/>
              </a:rPr>
              <a:t>让</a:t>
            </a:r>
            <a:r>
              <a:rPr lang="zh-CN" altLang="en-US" sz="2000" b="0" i="0" dirty="0">
                <a:effectLst/>
                <a:latin typeface="Inter"/>
              </a:rPr>
              <a:t>权重公平排队；</a:t>
            </a:r>
            <a:endParaRPr lang="en-US" altLang="zh-CN" sz="20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EEFF701-EED4-12D6-C718-2F25F1E61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675" y="4558390"/>
            <a:ext cx="10381325" cy="180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9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80C7E-3252-5840-6855-7D8AE1205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6B504CB-DBB6-1E4B-3CFB-590676EE5C19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5FBBC0-0F42-173D-BDAE-324D76426B82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762D99AC-C529-7FDE-ECDC-17B58313C48E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60F98890-3AA0-BA19-4BED-7C483D022C15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D2ACF89-D976-EA76-4538-217B60701698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5CE3F0A-E50F-DC6D-78EF-AD02EDD44DC0}"/>
              </a:ext>
            </a:extLst>
          </p:cNvPr>
          <p:cNvSpPr txBox="1"/>
          <p:nvPr/>
        </p:nvSpPr>
        <p:spPr>
          <a:xfrm>
            <a:off x="1663046" y="282654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 Solution Methods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4D564F8-BA6F-1B8A-CA65-4C4CFE69F117}"/>
              </a:ext>
            </a:extLst>
          </p:cNvPr>
          <p:cNvSpPr txBox="1"/>
          <p:nvPr/>
        </p:nvSpPr>
        <p:spPr>
          <a:xfrm>
            <a:off x="1964003" y="1116928"/>
            <a:ext cx="8941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2.1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网络划分  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PCA +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层次聚类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0FE092-0CCF-CEA5-161F-5228D6ED7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FC8DB95-2A24-D085-018A-79E02672CC0F}"/>
              </a:ext>
            </a:extLst>
          </p:cNvPr>
          <p:cNvSpPr txBox="1"/>
          <p:nvPr/>
        </p:nvSpPr>
        <p:spPr>
          <a:xfrm>
            <a:off x="1670611" y="2617193"/>
            <a:ext cx="10128033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en-US" altLang="zh-CN" sz="2000" b="1" i="0" dirty="0">
                <a:solidFill>
                  <a:srgbClr val="000000"/>
                </a:solidFill>
                <a:effectLst/>
                <a:latin typeface="-apple-system"/>
              </a:rPr>
              <a:t>PCA</a:t>
            </a:r>
            <a:r>
              <a:rPr lang="zh-CN" altLang="en-US" sz="2000" b="1" dirty="0">
                <a:solidFill>
                  <a:srgbClr val="000000"/>
                </a:solidFill>
                <a:latin typeface="-apple-system"/>
              </a:rPr>
              <a:t>主成分分析</a:t>
            </a:r>
            <a:endParaRPr lang="en-US" altLang="zh-CN" sz="2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BD8AF2-099E-6A00-989B-5AB145D3A786}"/>
              </a:ext>
            </a:extLst>
          </p:cNvPr>
          <p:cNvSpPr txBox="1"/>
          <p:nvPr/>
        </p:nvSpPr>
        <p:spPr>
          <a:xfrm>
            <a:off x="1663046" y="1693863"/>
            <a:ext cx="101280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dirty="0"/>
              <a:t>       </a:t>
            </a:r>
            <a:r>
              <a:rPr lang="zh-CN" altLang="en-US" dirty="0"/>
              <a:t>网络划分( Network Partitioning ) ：首先，为了降低复杂度，使用主成分分析( Principal Component Analysis，PCA )和层次聚类</a:t>
            </a:r>
            <a:r>
              <a:rPr lang="zh-CN" altLang="en-US" b="1" dirty="0"/>
              <a:t>合并相似的网络层</a:t>
            </a:r>
            <a:r>
              <a:rPr lang="zh-CN" altLang="en-US" dirty="0"/>
              <a:t>将异构网络模型划分为多个DNN块。每个DNN块是调度和映射中探索的基本粒度。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C07452F-9B4D-FE2A-94E4-3CBDC3276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089" y="3054878"/>
            <a:ext cx="7180752" cy="187287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A6E8F51-5CBF-6A2D-0B61-43EDB60FF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1089" y="4927751"/>
            <a:ext cx="3591860" cy="149595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791C392-3673-B834-6D0D-625925E3BE54}"/>
              </a:ext>
            </a:extLst>
          </p:cNvPr>
          <p:cNvSpPr txBox="1"/>
          <p:nvPr/>
        </p:nvSpPr>
        <p:spPr>
          <a:xfrm>
            <a:off x="6423252" y="5212264"/>
            <a:ext cx="52172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dirty="0"/>
              <a:t>计算样本矩阵的协方差矩阵计算特征值和特征向量，</a:t>
            </a:r>
            <a:endParaRPr lang="en-US" altLang="zh-CN" dirty="0"/>
          </a:p>
          <a:p>
            <a:pPr algn="just"/>
            <a:r>
              <a:rPr lang="zh-CN" altLang="en-US" b="1" dirty="0"/>
              <a:t>选取最大的特征值</a:t>
            </a:r>
            <a:r>
              <a:rPr lang="zh-CN" altLang="en-US" dirty="0"/>
              <a:t>对应的主成分。</a:t>
            </a:r>
          </a:p>
        </p:txBody>
      </p:sp>
    </p:spTree>
    <p:extLst>
      <p:ext uri="{BB962C8B-B14F-4D97-AF65-F5344CB8AC3E}">
        <p14:creationId xmlns:p14="http://schemas.microsoft.com/office/powerpoint/2010/main" val="32035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A0861-2E1A-F0BB-3E6B-4DD40C668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2CF18EE-2637-E2CD-D412-212F191672E2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F3E7340-7486-70BC-68A2-EF229EE7B796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78A9E831-766F-C486-609C-CC57DE6516A5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466FC6EB-1F4E-BE56-65EE-55B0EC0340AB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843824-6722-74E6-B854-DF0A10ADE583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C5C5A2-F2F7-2580-314D-FEC3B689027A}"/>
              </a:ext>
            </a:extLst>
          </p:cNvPr>
          <p:cNvSpPr txBox="1"/>
          <p:nvPr/>
        </p:nvSpPr>
        <p:spPr>
          <a:xfrm>
            <a:off x="1663046" y="282654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 Solution Methods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31CC192-0BED-5B2B-772C-6E3DF7DC50BF}"/>
              </a:ext>
            </a:extLst>
          </p:cNvPr>
          <p:cNvSpPr txBox="1"/>
          <p:nvPr/>
        </p:nvSpPr>
        <p:spPr>
          <a:xfrm>
            <a:off x="1964003" y="1116928"/>
            <a:ext cx="8941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2.1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网络划分  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PCA +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层次聚类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10D0377-A5E5-D398-A184-2C70DD799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11FE908-F674-7E75-93E2-5E79888A1831}"/>
              </a:ext>
            </a:extLst>
          </p:cNvPr>
          <p:cNvSpPr txBox="1"/>
          <p:nvPr/>
        </p:nvSpPr>
        <p:spPr>
          <a:xfrm>
            <a:off x="1670611" y="1578609"/>
            <a:ext cx="10128033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b="1" i="0" dirty="0">
                <a:solidFill>
                  <a:srgbClr val="000000"/>
                </a:solidFill>
                <a:effectLst/>
                <a:latin typeface="-apple-system"/>
              </a:rPr>
              <a:t>层次聚类</a:t>
            </a:r>
            <a:endParaRPr lang="en-US" altLang="zh-CN" sz="2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A605272-C52F-A9EA-DA7B-2A066F536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233" y="2190655"/>
            <a:ext cx="10121373" cy="31502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184208F-3D50-0E4D-6092-C08DBC298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2654" y="2812662"/>
            <a:ext cx="9009298" cy="360720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FD4FE69-1FEC-EB08-7C80-9AFA8D4A4F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4449" y="2855534"/>
            <a:ext cx="3392631" cy="210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02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48C99-DAF5-3FB4-D01A-41D0EA2CA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432C67E-0263-9CBD-3FBD-5A52E55F8EDC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8C6E938-87F0-F6FC-919A-FDE8CEC17597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422B06C6-77C2-3D83-5363-7883934D40AC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19A92BC5-5D8A-ECFD-E120-94FF4B2C6B84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6EC35AC-9AA8-7F8F-8FDC-15309EA96E2B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52B43D-96DA-E603-AA15-EB1A9439E0DB}"/>
              </a:ext>
            </a:extLst>
          </p:cNvPr>
          <p:cNvSpPr txBox="1"/>
          <p:nvPr/>
        </p:nvSpPr>
        <p:spPr>
          <a:xfrm>
            <a:off x="1663046" y="282654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 Solution Methods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4872646-317E-9AD7-F29C-2F9B3C56E202}"/>
              </a:ext>
            </a:extLst>
          </p:cNvPr>
          <p:cNvSpPr txBox="1"/>
          <p:nvPr/>
        </p:nvSpPr>
        <p:spPr>
          <a:xfrm>
            <a:off x="1964003" y="1116928"/>
            <a:ext cx="8941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2.2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块内循环优化 遗传算法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37C567-2615-30A4-AE4D-BBAA7CF2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18FACCC-BCEE-8845-1CA7-AC51E22BD3F0}"/>
              </a:ext>
            </a:extLst>
          </p:cNvPr>
          <p:cNvSpPr txBox="1"/>
          <p:nvPr/>
        </p:nvSpPr>
        <p:spPr>
          <a:xfrm>
            <a:off x="1512423" y="1546303"/>
            <a:ext cx="10128033" cy="80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b="1" dirty="0">
                <a:solidFill>
                  <a:srgbClr val="000000"/>
                </a:solidFill>
                <a:latin typeface="-apple-system"/>
              </a:rPr>
              <a:t>在对网络层进行分块以后，针对每个</a:t>
            </a:r>
            <a:r>
              <a:rPr lang="en-US" altLang="zh-CN" sz="2000" b="1" dirty="0">
                <a:solidFill>
                  <a:srgbClr val="000000"/>
                </a:solidFill>
                <a:latin typeface="-apple-system"/>
              </a:rPr>
              <a:t>DNN Block</a:t>
            </a:r>
            <a:r>
              <a:rPr lang="zh-CN" altLang="en-US" sz="2000" b="1" dirty="0">
                <a:solidFill>
                  <a:srgbClr val="000000"/>
                </a:solidFill>
                <a:latin typeface="-apple-system"/>
              </a:rPr>
              <a:t>，找到最优循环执行方式，包括循环分块、循环展开、循环交换。</a:t>
            </a:r>
            <a:endParaRPr lang="en-US" altLang="zh-CN" sz="2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E85C399-B912-72AB-03D2-9DCA8E122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3765" y="3189460"/>
            <a:ext cx="7100711" cy="3385886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E13930C-14AC-DF10-370F-32FB7CC62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172970"/>
              </p:ext>
            </p:extLst>
          </p:nvPr>
        </p:nvGraphicFramePr>
        <p:xfrm>
          <a:off x="10117947" y="2364609"/>
          <a:ext cx="1690572" cy="4239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286">
                  <a:extLst>
                    <a:ext uri="{9D8B030D-6E8A-4147-A177-3AD203B41FA5}">
                      <a16:colId xmlns:a16="http://schemas.microsoft.com/office/drawing/2014/main" val="739940369"/>
                    </a:ext>
                  </a:extLst>
                </a:gridCol>
                <a:gridCol w="845286">
                  <a:extLst>
                    <a:ext uri="{9D8B030D-6E8A-4147-A177-3AD203B41FA5}">
                      <a16:colId xmlns:a16="http://schemas.microsoft.com/office/drawing/2014/main" val="852960539"/>
                    </a:ext>
                  </a:extLst>
                </a:gridCol>
              </a:tblGrid>
              <a:tr h="34114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PP1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PP2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789702"/>
                  </a:ext>
                </a:extLst>
              </a:tr>
              <a:tr h="34114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PQ1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PQ1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763833"/>
                  </a:ext>
                </a:extLst>
              </a:tr>
              <a:tr h="34114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644824"/>
                  </a:ext>
                </a:extLst>
              </a:tr>
              <a:tr h="34114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PK1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PK1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309226"/>
                  </a:ext>
                </a:extLst>
              </a:tr>
              <a:tr h="34114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PP2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PP2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556181"/>
                  </a:ext>
                </a:extLst>
              </a:tr>
              <a:tr h="34114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PQ2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PQ2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820429"/>
                  </a:ext>
                </a:extLst>
              </a:tr>
              <a:tr h="34114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PC2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PC2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806209"/>
                  </a:ext>
                </a:extLst>
              </a:tr>
              <a:tr h="34114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PK2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PK2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095037"/>
                  </a:ext>
                </a:extLst>
              </a:tr>
              <a:tr h="65670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循环顺序</a:t>
                      </a:r>
                      <a:endParaRPr lang="en-US" altLang="zh-C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循环顺序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87097"/>
                  </a:ext>
                </a:extLst>
              </a:tr>
              <a:tr h="65670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750329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08D63FCB-403C-C285-11EE-2177AAAF2908}"/>
              </a:ext>
            </a:extLst>
          </p:cNvPr>
          <p:cNvSpPr txBox="1"/>
          <p:nvPr/>
        </p:nvSpPr>
        <p:spPr>
          <a:xfrm>
            <a:off x="1512423" y="2319022"/>
            <a:ext cx="3454688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dirty="0">
                <a:solidFill>
                  <a:srgbClr val="000000"/>
                </a:solidFill>
                <a:latin typeface="-apple-system"/>
              </a:rPr>
              <a:t>交叉：交换基因</a:t>
            </a:r>
            <a:endParaRPr lang="en-US" altLang="zh-CN" sz="20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44ABADB-C8F8-78E6-9331-6D119754BD22}"/>
              </a:ext>
            </a:extLst>
          </p:cNvPr>
          <p:cNvSpPr txBox="1"/>
          <p:nvPr/>
        </p:nvSpPr>
        <p:spPr>
          <a:xfrm>
            <a:off x="1512422" y="2658926"/>
            <a:ext cx="4740663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dirty="0">
                <a:solidFill>
                  <a:srgbClr val="000000"/>
                </a:solidFill>
                <a:latin typeface="-apple-system"/>
              </a:rPr>
              <a:t>变异：随机改变基某段基因的值</a:t>
            </a:r>
            <a:endParaRPr lang="en-US" altLang="zh-CN" sz="20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1BC601-B23D-F058-0C9C-BC4E3641E9D0}"/>
              </a:ext>
            </a:extLst>
          </p:cNvPr>
          <p:cNvSpPr txBox="1"/>
          <p:nvPr/>
        </p:nvSpPr>
        <p:spPr>
          <a:xfrm>
            <a:off x="9560008" y="1915635"/>
            <a:ext cx="1909504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20000"/>
              </a:lnSpc>
              <a:buSzPct val="80000"/>
            </a:pPr>
            <a:r>
              <a:rPr lang="zh-CN" altLang="en-US" sz="2000" i="0" dirty="0">
                <a:solidFill>
                  <a:srgbClr val="000000"/>
                </a:solidFill>
                <a:effectLst/>
                <a:latin typeface="-apple-system"/>
              </a:rPr>
              <a:t>染色体</a:t>
            </a:r>
            <a:endParaRPr lang="en-US" altLang="zh-CN" sz="20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4397186-529B-80B9-E6A6-C7BBCBB4BBC3}"/>
              </a:ext>
            </a:extLst>
          </p:cNvPr>
          <p:cNvSpPr txBox="1"/>
          <p:nvPr/>
        </p:nvSpPr>
        <p:spPr>
          <a:xfrm>
            <a:off x="8894252" y="2763072"/>
            <a:ext cx="1909504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20000"/>
              </a:lnSpc>
              <a:buSzPct val="80000"/>
            </a:pPr>
            <a:r>
              <a:rPr lang="zh-CN" altLang="en-US" sz="2000" i="0" dirty="0">
                <a:solidFill>
                  <a:srgbClr val="000000"/>
                </a:solidFill>
                <a:effectLst/>
                <a:latin typeface="-apple-system"/>
              </a:rPr>
              <a:t>基因</a:t>
            </a:r>
            <a:endParaRPr lang="en-US" altLang="zh-CN" sz="20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173059-56FE-CB78-4B80-39244922610E}"/>
              </a:ext>
            </a:extLst>
          </p:cNvPr>
          <p:cNvSpPr txBox="1"/>
          <p:nvPr/>
        </p:nvSpPr>
        <p:spPr>
          <a:xfrm>
            <a:off x="2236969" y="4663561"/>
            <a:ext cx="1909504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20000"/>
              </a:lnSpc>
              <a:buSzPct val="80000"/>
            </a:pPr>
            <a:r>
              <a:rPr lang="en-US" altLang="zh-CN" sz="2000" i="0" dirty="0">
                <a:solidFill>
                  <a:schemeClr val="bg1"/>
                </a:solidFill>
                <a:effectLst/>
                <a:latin typeface="-apple-system"/>
              </a:rPr>
              <a:t>N</a:t>
            </a:r>
            <a:r>
              <a:rPr lang="zh-CN" altLang="en-US" sz="2000" dirty="0">
                <a:solidFill>
                  <a:schemeClr val="bg1"/>
                </a:solidFill>
                <a:latin typeface="-apple-system"/>
              </a:rPr>
              <a:t>条</a:t>
            </a:r>
            <a:endParaRPr lang="en-US" altLang="zh-CN" sz="200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1B66FD0-DE6E-B74A-7945-BD48DE623166}"/>
              </a:ext>
            </a:extLst>
          </p:cNvPr>
          <p:cNvSpPr txBox="1"/>
          <p:nvPr/>
        </p:nvSpPr>
        <p:spPr>
          <a:xfrm>
            <a:off x="3482617" y="4975253"/>
            <a:ext cx="1909504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20000"/>
              </a:lnSpc>
              <a:buSzPct val="80000"/>
            </a:pPr>
            <a:r>
              <a:rPr lang="en-US" altLang="zh-CN" sz="2000" i="0" dirty="0">
                <a:solidFill>
                  <a:schemeClr val="bg1"/>
                </a:solidFill>
                <a:effectLst/>
                <a:latin typeface="-apple-system"/>
              </a:rPr>
              <a:t>N</a:t>
            </a:r>
            <a:r>
              <a:rPr lang="zh-CN" altLang="en-US" sz="2000" dirty="0">
                <a:solidFill>
                  <a:schemeClr val="bg1"/>
                </a:solidFill>
                <a:latin typeface="-apple-system"/>
              </a:rPr>
              <a:t>条</a:t>
            </a:r>
            <a:endParaRPr lang="en-US" altLang="zh-CN" sz="200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8C886FB-4467-AD2B-C223-5653A7B0947E}"/>
              </a:ext>
            </a:extLst>
          </p:cNvPr>
          <p:cNvSpPr/>
          <p:nvPr/>
        </p:nvSpPr>
        <p:spPr>
          <a:xfrm>
            <a:off x="6412089" y="3952647"/>
            <a:ext cx="778934" cy="322986"/>
          </a:xfrm>
          <a:prstGeom prst="rect">
            <a:avLst/>
          </a:prstGeom>
          <a:noFill/>
          <a:ln w="190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7427BF4-DD5C-A5DE-C1CD-B4C7B92881FE}"/>
              </a:ext>
            </a:extLst>
          </p:cNvPr>
          <p:cNvCxnSpPr>
            <a:cxnSpLocks/>
          </p:cNvCxnSpPr>
          <p:nvPr/>
        </p:nvCxnSpPr>
        <p:spPr>
          <a:xfrm flipV="1">
            <a:off x="6738164" y="2981914"/>
            <a:ext cx="452859" cy="924308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B0468562-203E-487C-4941-69915265278B}"/>
              </a:ext>
            </a:extLst>
          </p:cNvPr>
          <p:cNvSpPr txBox="1"/>
          <p:nvPr/>
        </p:nvSpPr>
        <p:spPr>
          <a:xfrm>
            <a:off x="6026172" y="2532365"/>
            <a:ext cx="2397438" cy="403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20000"/>
              </a:lnSpc>
              <a:buSzPct val="80000"/>
            </a:pPr>
            <a:r>
              <a:rPr lang="zh-CN" altLang="en-US" i="0" dirty="0">
                <a:solidFill>
                  <a:srgbClr val="000000"/>
                </a:solidFill>
                <a:effectLst/>
                <a:latin typeface="-apple-system"/>
              </a:rPr>
              <a:t>要优化的目标</a:t>
            </a:r>
            <a:endParaRPr lang="en-US" altLang="zh-CN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8F7707C-A0FA-772E-FBB5-05917494FE4E}"/>
              </a:ext>
            </a:extLst>
          </p:cNvPr>
          <p:cNvSpPr txBox="1"/>
          <p:nvPr/>
        </p:nvSpPr>
        <p:spPr>
          <a:xfrm>
            <a:off x="4892052" y="5666908"/>
            <a:ext cx="1909504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20000"/>
              </a:lnSpc>
              <a:buSzPct val="80000"/>
            </a:pPr>
            <a:r>
              <a:rPr lang="en-US" altLang="zh-CN" sz="2000" i="0" dirty="0">
                <a:solidFill>
                  <a:schemeClr val="bg1"/>
                </a:solidFill>
                <a:effectLst/>
                <a:latin typeface="-apple-system"/>
              </a:rPr>
              <a:t>2N</a:t>
            </a:r>
            <a:r>
              <a:rPr lang="zh-CN" altLang="en-US" sz="2000" dirty="0">
                <a:solidFill>
                  <a:schemeClr val="bg1"/>
                </a:solidFill>
                <a:latin typeface="-apple-system"/>
              </a:rPr>
              <a:t>条</a:t>
            </a:r>
            <a:endParaRPr lang="en-US" altLang="zh-CN" sz="200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95290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59E8D-49DB-1628-80F8-4DF7D0CB1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26BA9A0-7938-EDBD-0FDF-617517B5109D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DADC16F-0242-6E60-B300-0995DBBA01FB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79B4947A-5DDD-73A9-B79A-C6F026457E6C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DD13AD48-0061-BA3F-C606-5C497FAD6F7F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F6C024C-0543-F8A9-1F07-D672755B7B8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42F653-B22A-8510-DF0B-9B6D3F75E960}"/>
              </a:ext>
            </a:extLst>
          </p:cNvPr>
          <p:cNvSpPr txBox="1"/>
          <p:nvPr/>
        </p:nvSpPr>
        <p:spPr>
          <a:xfrm>
            <a:off x="1663046" y="282654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 Solution Methods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D63AE77-E4F7-E5B1-2D5E-026978867FB7}"/>
              </a:ext>
            </a:extLst>
          </p:cNvPr>
          <p:cNvSpPr txBox="1"/>
          <p:nvPr/>
        </p:nvSpPr>
        <p:spPr>
          <a:xfrm>
            <a:off x="1964003" y="1116928"/>
            <a:ext cx="8941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2.3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时空块调度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377FF0-FCBD-5872-F83B-76DBA233F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0CC3F19-9AC2-3C6F-4624-AA2158D13BEF}"/>
              </a:ext>
            </a:extLst>
          </p:cNvPr>
          <p:cNvSpPr txBox="1"/>
          <p:nvPr/>
        </p:nvSpPr>
        <p:spPr>
          <a:xfrm>
            <a:off x="1512424" y="1693060"/>
            <a:ext cx="6502398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b="1" dirty="0">
                <a:solidFill>
                  <a:srgbClr val="000000"/>
                </a:solidFill>
                <a:latin typeface="-apple-system"/>
              </a:rPr>
              <a:t>给每个</a:t>
            </a:r>
            <a:r>
              <a:rPr lang="en-US" altLang="zh-CN" sz="2000" b="1" dirty="0">
                <a:solidFill>
                  <a:srgbClr val="000000"/>
                </a:solidFill>
                <a:latin typeface="-apple-system"/>
              </a:rPr>
              <a:t>DNN</a:t>
            </a:r>
            <a:r>
              <a:rPr lang="zh-CN" altLang="en-US" sz="2000" b="1" dirty="0">
                <a:solidFill>
                  <a:srgbClr val="000000"/>
                </a:solidFill>
                <a:latin typeface="-apple-system"/>
              </a:rPr>
              <a:t>块安排什么时候执行，用哪组芯粒执行</a:t>
            </a:r>
            <a:endParaRPr lang="en-US" altLang="zh-CN" sz="2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FE4CBCA-D65A-3D7D-DC5B-5DEBEE545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821" y="1716258"/>
            <a:ext cx="3734560" cy="469358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C1B52DE-85C9-94FD-E55D-80E184B459EE}"/>
              </a:ext>
            </a:extLst>
          </p:cNvPr>
          <p:cNvSpPr txBox="1"/>
          <p:nvPr/>
        </p:nvSpPr>
        <p:spPr>
          <a:xfrm>
            <a:off x="1512423" y="2341328"/>
            <a:ext cx="5294777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20000"/>
              </a:lnSpc>
              <a:buSzPct val="80000"/>
            </a:pPr>
            <a:r>
              <a:rPr lang="en-US" altLang="zh-CN" sz="2000" b="1" dirty="0">
                <a:solidFill>
                  <a:srgbClr val="000000"/>
                </a:solidFill>
                <a:latin typeface="-apple-system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-apple-system"/>
              </a:rPr>
              <a:t>）划分时间帧</a:t>
            </a:r>
            <a:r>
              <a:rPr lang="en-US" altLang="zh-CN" sz="2000" b="1" dirty="0">
                <a:solidFill>
                  <a:srgbClr val="000000"/>
                </a:solidFill>
                <a:latin typeface="-apple-system"/>
              </a:rPr>
              <a:t>TP</a:t>
            </a:r>
            <a:endParaRPr lang="en-US" altLang="zh-CN" sz="2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1D9FA85-2F94-2331-8972-CDBC2749E900}"/>
              </a:ext>
            </a:extLst>
          </p:cNvPr>
          <p:cNvSpPr txBox="1"/>
          <p:nvPr/>
        </p:nvSpPr>
        <p:spPr>
          <a:xfrm>
            <a:off x="1512423" y="2894770"/>
            <a:ext cx="5757621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20000"/>
              </a:lnSpc>
              <a:buSzPct val="80000"/>
            </a:pPr>
            <a:r>
              <a:rPr lang="en-US" altLang="zh-CN" sz="2000" b="1" dirty="0">
                <a:solidFill>
                  <a:srgbClr val="000000"/>
                </a:solidFill>
                <a:latin typeface="-apple-system"/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-apple-system"/>
              </a:rPr>
              <a:t>）划分空间分区</a:t>
            </a:r>
            <a:r>
              <a:rPr lang="en-US" altLang="zh-CN" sz="2000" b="1" dirty="0">
                <a:solidFill>
                  <a:srgbClr val="000000"/>
                </a:solidFill>
                <a:latin typeface="-apple-system"/>
              </a:rPr>
              <a:t>SP</a:t>
            </a:r>
            <a:endParaRPr lang="en-US" altLang="zh-CN" sz="2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97C456-DB36-8E76-D277-40CB689C747D}"/>
              </a:ext>
            </a:extLst>
          </p:cNvPr>
          <p:cNvSpPr txBox="1"/>
          <p:nvPr/>
        </p:nvSpPr>
        <p:spPr>
          <a:xfrm>
            <a:off x="1512424" y="3443759"/>
            <a:ext cx="5588288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20000"/>
              </a:lnSpc>
              <a:buSzPct val="80000"/>
            </a:pPr>
            <a:r>
              <a:rPr lang="en-US" altLang="zh-CN" sz="2000" b="1" dirty="0">
                <a:solidFill>
                  <a:srgbClr val="000000"/>
                </a:solidFill>
                <a:latin typeface="-apple-system"/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  <a:latin typeface="-apple-system"/>
              </a:rPr>
              <a:t>）给块分配时间帧和空间分区</a:t>
            </a:r>
            <a:endParaRPr lang="en-US" altLang="zh-CN" sz="2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F44773-3570-3D6A-BCCE-496A47180FC8}"/>
              </a:ext>
            </a:extLst>
          </p:cNvPr>
          <p:cNvSpPr txBox="1"/>
          <p:nvPr/>
        </p:nvSpPr>
        <p:spPr>
          <a:xfrm>
            <a:off x="1512423" y="4095178"/>
            <a:ext cx="6393473" cy="1176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20000"/>
              </a:lnSpc>
              <a:buSzPct val="80000"/>
            </a:pPr>
            <a:r>
              <a:rPr lang="zh-CN" altLang="en-US" sz="2000" b="1" i="0" dirty="0">
                <a:solidFill>
                  <a:srgbClr val="000000"/>
                </a:solidFill>
                <a:effectLst/>
                <a:latin typeface="-apple-system"/>
              </a:rPr>
              <a:t>要求：</a:t>
            </a:r>
            <a:endParaRPr lang="en-US" altLang="zh-CN" sz="2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lvl="1" algn="just">
              <a:lnSpc>
                <a:spcPct val="120000"/>
              </a:lnSpc>
              <a:buSzPct val="80000"/>
            </a:pPr>
            <a:r>
              <a:rPr lang="en-US" altLang="zh-CN" sz="2000" b="1" dirty="0">
                <a:solidFill>
                  <a:srgbClr val="000000"/>
                </a:solidFill>
                <a:latin typeface="-apple-system"/>
              </a:rPr>
              <a:t>*</a:t>
            </a:r>
            <a:r>
              <a:rPr lang="zh-CN" altLang="en-US" sz="2000" b="1" dirty="0">
                <a:solidFill>
                  <a:srgbClr val="000000"/>
                </a:solidFill>
                <a:latin typeface="-apple-system"/>
              </a:rPr>
              <a:t>每个时间帧都要保证每个芯粒都在工作</a:t>
            </a:r>
            <a:endParaRPr lang="en-US" altLang="zh-CN" sz="2000" b="1" dirty="0">
              <a:solidFill>
                <a:srgbClr val="000000"/>
              </a:solidFill>
              <a:latin typeface="-apple-system"/>
            </a:endParaRPr>
          </a:p>
          <a:p>
            <a:pPr lvl="1" algn="just">
              <a:lnSpc>
                <a:spcPct val="120000"/>
              </a:lnSpc>
              <a:buSzPct val="80000"/>
            </a:pPr>
            <a:r>
              <a:rPr lang="en-US" altLang="zh-CN" sz="2000" b="1" dirty="0">
                <a:solidFill>
                  <a:srgbClr val="000000"/>
                </a:solidFill>
                <a:latin typeface="-apple-system"/>
              </a:rPr>
              <a:t>*</a:t>
            </a:r>
            <a:r>
              <a:rPr lang="zh-CN" altLang="en-US" sz="2000" b="1" dirty="0">
                <a:solidFill>
                  <a:srgbClr val="000000"/>
                </a:solidFill>
                <a:latin typeface="-apple-system"/>
              </a:rPr>
              <a:t>保证数据依赖关系</a:t>
            </a:r>
            <a:endParaRPr lang="en-US" altLang="zh-CN" sz="2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619363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A79B2-D06D-B420-122D-A65A45A51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63E878F-D971-1525-6EF0-752D0DC172A3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758BC52-1BBF-9AB9-BD45-AC96D9F67C33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3C5D4AD5-F96D-B8AE-29D0-4218C7200B1A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4EB40572-0D67-A410-4C07-F2E42FF5A7FB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A00B87-8605-42F3-ABC6-C70042D88B87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DA08759-4C5A-7C0C-8B8A-5949E76D08E6}"/>
              </a:ext>
            </a:extLst>
          </p:cNvPr>
          <p:cNvSpPr txBox="1"/>
          <p:nvPr/>
        </p:nvSpPr>
        <p:spPr>
          <a:xfrm>
            <a:off x="1663046" y="282654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 Solution Methods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0710F06-DCC1-1445-7453-F26E72323D1F}"/>
              </a:ext>
            </a:extLst>
          </p:cNvPr>
          <p:cNvSpPr txBox="1"/>
          <p:nvPr/>
        </p:nvSpPr>
        <p:spPr>
          <a:xfrm>
            <a:off x="1964003" y="1116928"/>
            <a:ext cx="8941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2.4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通信感知块映射 模拟退火算法</a:t>
            </a: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 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CDB97F-A8EA-E13C-F759-202548BF3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4397889-BEE5-C3F6-08DC-E7D862073690}"/>
              </a:ext>
            </a:extLst>
          </p:cNvPr>
          <p:cNvSpPr txBox="1"/>
          <p:nvPr/>
        </p:nvSpPr>
        <p:spPr>
          <a:xfrm>
            <a:off x="1512423" y="1693060"/>
            <a:ext cx="10128033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b="1" dirty="0">
                <a:solidFill>
                  <a:srgbClr val="000000"/>
                </a:solidFill>
                <a:latin typeface="-apple-system"/>
              </a:rPr>
              <a:t>映射：抽象调度到具体执行，将已经调度好的</a:t>
            </a:r>
            <a:r>
              <a:rPr lang="en-US" altLang="zh-CN" sz="2000" b="1" dirty="0">
                <a:solidFill>
                  <a:srgbClr val="000000"/>
                </a:solidFill>
                <a:latin typeface="-apple-system"/>
              </a:rPr>
              <a:t>DNN</a:t>
            </a:r>
            <a:r>
              <a:rPr lang="zh-CN" altLang="en-US" sz="2000" b="1" dirty="0">
                <a:solidFill>
                  <a:srgbClr val="000000"/>
                </a:solidFill>
                <a:latin typeface="-apple-system"/>
              </a:rPr>
              <a:t>块精确地映射到具体的芯粒上</a:t>
            </a:r>
            <a:endParaRPr lang="en-US" altLang="zh-CN" sz="2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4FE4F3D-9B28-0BD2-0298-23B83ACEAA79}"/>
              </a:ext>
            </a:extLst>
          </p:cNvPr>
          <p:cNvSpPr txBox="1"/>
          <p:nvPr/>
        </p:nvSpPr>
        <p:spPr>
          <a:xfrm>
            <a:off x="1512422" y="2292390"/>
            <a:ext cx="3386955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20000"/>
              </a:lnSpc>
              <a:buSzPct val="80000"/>
            </a:pPr>
            <a:r>
              <a:rPr lang="zh-CN" altLang="en-US" sz="2000" b="1" dirty="0">
                <a:solidFill>
                  <a:srgbClr val="000000"/>
                </a:solidFill>
                <a:latin typeface="-apple-system"/>
              </a:rPr>
              <a:t>寻找最优映射方案：</a:t>
            </a:r>
            <a:endParaRPr lang="en-US" altLang="zh-CN" sz="2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2AE291-8D4C-2EF0-0EF1-28E052F6B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990" y="2232345"/>
            <a:ext cx="6914943" cy="448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72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2EAF6-D5CB-4300-309C-F9E4D2BA0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9C5E54DA-74CB-BA2D-25BA-C7C18F28EF05}"/>
              </a:ext>
            </a:extLst>
          </p:cNvPr>
          <p:cNvGrpSpPr/>
          <p:nvPr/>
        </p:nvGrpSpPr>
        <p:grpSpPr>
          <a:xfrm>
            <a:off x="0" y="2463165"/>
            <a:ext cx="12192000" cy="1440000"/>
            <a:chOff x="0" y="3114"/>
            <a:chExt cx="19200" cy="226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1C7096D-8BE1-0D04-3744-A2AFA21053D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DC0160AC-0788-B58D-2990-A927B520B9E3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>
              <a:off x="6422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CD8B144-97B0-6B41-5B00-99E103183B86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434" y="3562"/>
              <a:ext cx="11535" cy="1309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en-US" altLang="zh-CN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Automated Runtime-Aware Scheduling  for Multi-Tenant DNN Inference on GPU</a:t>
              </a:r>
              <a:r>
                <a:rPr kumimoji="1" lang="zh-CN" altLang="en-US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（</a:t>
              </a:r>
              <a:r>
                <a:rPr kumimoji="1" lang="en-US" altLang="zh-CN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2021</a:t>
              </a:r>
              <a:r>
                <a:rPr kumimoji="1" lang="zh-CN" altLang="en-US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，</a:t>
              </a:r>
              <a:r>
                <a:rPr kumimoji="1" lang="en-US" altLang="zh-CN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ICCAD</a:t>
              </a:r>
              <a:r>
                <a:rPr kumimoji="1" lang="zh-CN" altLang="en-US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）</a:t>
              </a:r>
              <a:endParaRPr kumimoji="1" lang="en-US" altLang="zh-CN" b="1" i="1" dirty="0">
                <a:solidFill>
                  <a:schemeClr val="bg1"/>
                </a:solidFill>
                <a:uFillTx/>
                <a:latin typeface="Times New Roman Bold Italic" panose="02020803070505020304" charset="0"/>
                <a:cs typeface="Times New Roman Bold Italic" panose="02020803070505020304" charset="0"/>
                <a:sym typeface="+mn-ea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D340FDA6-D37D-11F6-BEB5-174026876D0F}"/>
                </a:ext>
              </a:extLst>
            </p:cNvPr>
            <p:cNvGrpSpPr/>
            <p:nvPr/>
          </p:nvGrpSpPr>
          <p:grpSpPr>
            <a:xfrm>
              <a:off x="3330" y="3544"/>
              <a:ext cx="2973" cy="1483"/>
              <a:chOff x="3330" y="3544"/>
              <a:chExt cx="2973" cy="1483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E17EC19-D799-1A03-A3C9-517D39CF1B9C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253" y="3544"/>
                <a:ext cx="1139" cy="101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4</a:t>
                </a:r>
                <a:endParaRPr kumimoji="1" lang="zh-CN" altLang="en-US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5270DEF-C263-A20C-A78B-6E258AB1D543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330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one</a:t>
                </a:r>
                <a:endPara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endParaRPr>
              </a:p>
            </p:txBody>
          </p:sp>
        </p:grp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B31FCE62-7BD6-341D-ACDD-749B47533F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3228699-1285-3441-650D-E6676EF95690}"/>
              </a:ext>
            </a:extLst>
          </p:cNvPr>
          <p:cNvSpPr txBox="1"/>
          <p:nvPr/>
        </p:nvSpPr>
        <p:spPr>
          <a:xfrm>
            <a:off x="563879" y="5505449"/>
            <a:ext cx="11064240" cy="198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[4] 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F. Yu et al., "Automated Runtime-Aware Scheduling for Multi-Tenant DNN Inference on GPU," 2021 IEEE/ACM International Conference On Computer Aided Design (ICCAD), Munich, Germany, 2021, pp. 1-9,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doi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10.1109/ICCAD51958.2021.9643501. keywords: {Processor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scheduling;Computational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modeling;Graphics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processing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units;Optimal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scheduling;Transforms;Aerospace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electronics;Search</a:t>
            </a:r>
            <a:r>
              <a:rPr lang="en-US" altLang="zh-CN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problems},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US" altLang="zh-CN" sz="16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96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3D730-D585-3F90-3344-FFBAC4975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EA10665-1FC3-BE16-B079-14751C03902A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320D23B-EDDA-B330-0503-144A94DE172C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D9A0A0D1-A928-4BC4-E8D3-833B4F4FB172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172BB25D-9101-57B2-D824-77BAA4D8407B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3A521A-3159-082E-E096-27A1EED4B3A6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A747F9F-D1B3-90FF-904B-FF861C4ACE57}"/>
              </a:ext>
            </a:extLst>
          </p:cNvPr>
          <p:cNvSpPr txBox="1"/>
          <p:nvPr/>
        </p:nvSpPr>
        <p:spPr>
          <a:xfrm>
            <a:off x="1663046" y="282654"/>
            <a:ext cx="107228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 Introduction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4E82F69-3167-8F1D-32A6-42AFBE503D6C}"/>
              </a:ext>
            </a:extLst>
          </p:cNvPr>
          <p:cNvSpPr txBox="1"/>
          <p:nvPr/>
        </p:nvSpPr>
        <p:spPr>
          <a:xfrm>
            <a:off x="1964003" y="1116928"/>
            <a:ext cx="2425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1.1 Core Issue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16804FC-E874-0304-7883-FCF99AE89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1DB665BB-3B25-1ED6-367D-37C1C43E2993}"/>
              </a:ext>
            </a:extLst>
          </p:cNvPr>
          <p:cNvSpPr txBox="1"/>
          <p:nvPr/>
        </p:nvSpPr>
        <p:spPr>
          <a:xfrm>
            <a:off x="1747520" y="1657002"/>
            <a:ext cx="9825203" cy="4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i="0" dirty="0">
                <a:solidFill>
                  <a:srgbClr val="000000"/>
                </a:solidFill>
                <a:effectLst/>
                <a:latin typeface="-apple-system"/>
              </a:rPr>
              <a:t>多场景应用需多 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-apple-system"/>
              </a:rPr>
              <a:t>DNN 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-apple-system"/>
              </a:rPr>
              <a:t>协同，</a:t>
            </a:r>
            <a:r>
              <a:rPr lang="zh-CN" altLang="en-US" sz="2000" dirty="0">
                <a:solidFill>
                  <a:srgbClr val="000000"/>
                </a:solidFill>
                <a:latin typeface="-apple-system"/>
              </a:rPr>
              <a:t>而执行效率不高</a:t>
            </a:r>
            <a:endParaRPr lang="en-US" altLang="zh-CN" sz="20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D91DCA-3E9F-3688-B16E-41645714EC09}"/>
              </a:ext>
            </a:extLst>
          </p:cNvPr>
          <p:cNvSpPr txBox="1"/>
          <p:nvPr/>
        </p:nvSpPr>
        <p:spPr>
          <a:xfrm>
            <a:off x="1747519" y="2234650"/>
            <a:ext cx="9825203" cy="8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b="0" i="0" dirty="0">
                <a:effectLst/>
                <a:latin typeface="Inter"/>
              </a:rPr>
              <a:t>①把模型拆成多个阶段，控制每个阶段的算子数量；</a:t>
            </a:r>
            <a:endParaRPr lang="en-US" altLang="zh-CN" sz="2000" b="0" i="0" dirty="0">
              <a:effectLst/>
              <a:latin typeface="Inter"/>
            </a:endParaRPr>
          </a:p>
          <a:p>
            <a:pPr lvl="1">
              <a:lnSpc>
                <a:spcPct val="120000"/>
              </a:lnSpc>
              <a:buSzPct val="80000"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    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②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AI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自动搜索算法寻找最优调度；</a:t>
            </a:r>
            <a:endParaRPr lang="en-US" altLang="zh-CN" sz="2000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CD88A7-F76E-A008-BC86-789117270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8596" y="3040895"/>
            <a:ext cx="5614382" cy="372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25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58*36"/>
  <p:tag name="TABLE_ENDDRAG_RECT" val="573*376*258*3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6420</TotalTime>
  <Words>1941</Words>
  <Application>Microsoft Office PowerPoint</Application>
  <PresentationFormat>宽屏</PresentationFormat>
  <Paragraphs>203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0" baseType="lpstr">
      <vt:lpstr>-apple-system</vt:lpstr>
      <vt:lpstr>Inter</vt:lpstr>
      <vt:lpstr>Times New Roman Regular</vt:lpstr>
      <vt:lpstr>等线</vt:lpstr>
      <vt:lpstr>微软雅黑</vt:lpstr>
      <vt:lpstr>Arial</vt:lpstr>
      <vt:lpstr>Calibri</vt:lpstr>
      <vt:lpstr>Roboto</vt:lpstr>
      <vt:lpstr>Times New Roman</vt:lpstr>
      <vt:lpstr>Times New Roman Bold</vt:lpstr>
      <vt:lpstr>Times New Roman Bold Italic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liao huang</dc:creator>
  <cp:lastModifiedBy>e7926</cp:lastModifiedBy>
  <cp:revision>93</cp:revision>
  <dcterms:created xsi:type="dcterms:W3CDTF">2025-08-20T06:57:41Z</dcterms:created>
  <dcterms:modified xsi:type="dcterms:W3CDTF">2025-11-28T02:45:02Z</dcterms:modified>
</cp:coreProperties>
</file>