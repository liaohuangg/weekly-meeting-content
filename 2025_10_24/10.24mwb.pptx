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7" r:id="rId4"/>
    <p:sldId id="272" r:id="rId6"/>
    <p:sldId id="313" r:id="rId7"/>
    <p:sldId id="333" r:id="rId8"/>
    <p:sldId id="334" r:id="rId9"/>
    <p:sldId id="335" r:id="rId10"/>
    <p:sldId id="337" r:id="rId11"/>
    <p:sldId id="344" r:id="rId12"/>
    <p:sldId id="338" r:id="rId13"/>
    <p:sldId id="339" r:id="rId14"/>
    <p:sldId id="345" r:id="rId15"/>
    <p:sldId id="340" r:id="rId16"/>
    <p:sldId id="342" r:id="rId17"/>
    <p:sldId id="346" r:id="rId18"/>
    <p:sldId id="347" r:id="rId19"/>
    <p:sldId id="348" r:id="rId20"/>
    <p:sldId id="35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3"/>
            <p14:sldId id="334"/>
            <p14:sldId id="335"/>
            <p14:sldId id="337"/>
          </p14:sldIdLst>
        </p14:section>
        <p14:section name="2" id="{977f628f-371a-4ae8-9075-8a7b82055960}">
          <p14:sldIdLst>
            <p14:sldId id="344"/>
            <p14:sldId id="338"/>
            <p14:sldId id="339"/>
          </p14:sldIdLst>
        </p14:section>
        <p14:section name="3" id="{9c2eac56-c425-435a-af09-564749d76778}">
          <p14:sldIdLst>
            <p14:sldId id="345"/>
            <p14:sldId id="340"/>
            <p14:sldId id="342"/>
            <p14:sldId id="346"/>
            <p14:sldId id="347"/>
            <p14:sldId id="348"/>
          </p14:sldIdLst>
        </p14:section>
        <p14:section name="无标题节" id="{a485789a-f235-456b-8029-8712b98ee80f}">
          <p14:sldIdLst>
            <p14:sldId id="35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80133" autoAdjust="0"/>
  </p:normalViewPr>
  <p:slideViewPr>
    <p:cSldViewPr snapToGrid="0">
      <p:cViewPr varScale="1">
        <p:scale>
          <a:sx n="129" d="100"/>
          <a:sy n="129" d="100"/>
        </p:scale>
        <p:origin x="19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75590" y="2481687"/>
            <a:ext cx="10040472" cy="82994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</a:t>
            </a:r>
            <a:endParaRPr kumimoji="1" lang="zh-CN" altLang="en-US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考生姓名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汇报人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穆文博</a:t>
                      </a:r>
                      <a:endParaRPr kumimoji="1" lang="zh-CN" altLang="en-US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6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汇报时间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7"/>
            </p:custData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2025.10.24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  <a:endParaRPr kumimoji="1" lang="en-US" altLang="zh-CN" sz="2400" b="1" dirty="0">
              <a:solidFill>
                <a:srgbClr val="141E8C"/>
              </a:solidFill>
              <a:latin typeface="Times New Roman Bold" panose="02020803070505020304" charset="0"/>
              <a:cs typeface="Times New Roman Bold" panose="020208030705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kumimoji="1" lang="zh-CN" altLang="en-US" sz="40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5222774" y="1535473"/>
            <a:ext cx="5733160" cy="737235"/>
            <a:chOff x="5439957" y="3724593"/>
            <a:chExt cx="5733160" cy="73723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>
              <a:off x="6200063" y="3724593"/>
              <a:ext cx="4973054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Simba: Scaling Deep-Learning Inference with Chiplet-Based Architecture (2019 MICRO, NVIDIA)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"/>
              </p:custDataLst>
            </p:nvPr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5222774" y="2613905"/>
            <a:ext cx="5733415" cy="953135"/>
            <a:chOff x="5222774" y="3596205"/>
            <a:chExt cx="5733415" cy="953135"/>
          </a:xfrm>
        </p:grpSpPr>
        <p:sp>
          <p:nvSpPr>
            <p:cNvPr id="2" name="文本框 1"/>
            <p:cNvSpPr txBox="1"/>
            <p:nvPr>
              <p:custDataLst>
                <p:tags r:id="rId5"/>
              </p:custDataLst>
            </p:nvPr>
          </p:nvSpPr>
          <p:spPr>
            <a:xfrm>
              <a:off x="6017794" y="3596205"/>
              <a:ext cx="493839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Gemini: Mapping and Architecture Co-exploration for Large-scale DNN Chiplet Accelerators (2024 HPCA, Jingwei Cai, Tsinghua University)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6"/>
              </p:custDataLst>
            </p:nvPr>
          </p:nvSpPr>
          <p:spPr>
            <a:xfrm>
              <a:off x="5222774" y="3596205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5222774" y="3908035"/>
            <a:ext cx="5732780" cy="953135"/>
            <a:chOff x="5222774" y="3326965"/>
            <a:chExt cx="5732780" cy="953135"/>
          </a:xfrm>
        </p:grpSpPr>
        <p:sp>
          <p:nvSpPr>
            <p:cNvPr id="5" name="文本框 4"/>
            <p:cNvSpPr txBox="1"/>
            <p:nvPr>
              <p:custDataLst>
                <p:tags r:id="rId8"/>
              </p:custDataLst>
            </p:nvPr>
          </p:nvSpPr>
          <p:spPr>
            <a:xfrm>
              <a:off x="6017794" y="3326965"/>
              <a:ext cx="4937760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THERMOS: Thermally-Aware Multi-Objective Scheduling of AI Workloads on Heterogeneous Multi-Chiplet PIM Architectures (2025 TECS)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9"/>
              </p:custDataLst>
            </p:nvPr>
          </p:nvSpPr>
          <p:spPr>
            <a:xfrm>
              <a:off x="5222774" y="3326965"/>
              <a:ext cx="6146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3</a:t>
              </a:r>
              <a:endParaRPr kumimoji="1" lang="en-US" altLang="zh-CN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398"/>
              <a:ext cx="9612" cy="159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0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Simba: Scaling Deep-Learning Inference with Chiplet-Based Architecture</a:t>
              </a:r>
              <a:endParaRPr kumimoji="1" lang="en-US" altLang="zh-CN" sz="2000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Simba: Scaling Deep-Learning Inference with Chiplet-Based Architecture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2606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架构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2153285"/>
            <a:ext cx="9323070" cy="3486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Simba: Scaling Deep-Learning Inference with Chiplet-Based Architecture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7433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Baseline DNN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映射策略：均匀分块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(Uniform Tiling)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55" y="4745990"/>
            <a:ext cx="4352925" cy="12915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035" y="2037715"/>
            <a:ext cx="4343400" cy="39998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759585"/>
            <a:ext cx="4521835" cy="288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DNN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层的每个维度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C, K, P, Q)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可以在系统的每个层级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(Package, Chiplet, PE, Vector-MAC)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上进行时间或空间分块。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默认数据流：在输入通道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(C)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和输出通道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(K)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维度上均匀划分权重，以利用并行性。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Simba: Scaling Deep-Learning Inference with Chiplet-Based Architecture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967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Mapping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优化方法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：非均匀工作分区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(Nonuniform Work Partitioning)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595" y="1892300"/>
            <a:ext cx="5229225" cy="43986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759585"/>
            <a:ext cx="4132580" cy="288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目标：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解决由不同通信延迟引起的尾延迟问题。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Simba: Scaling Deep-Learning Inference with Chiplet-Based Architecture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9676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优化方法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：通信感知的数据布局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(Communication-Aware Data Placement)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0" y="3834765"/>
            <a:ext cx="8491220" cy="24841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759585"/>
            <a:ext cx="9401175" cy="2136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目标：数据的物理存放位置对通信延迟高度敏感。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将需要多播的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IA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数据块放置在封装的中心位置，以最小化到所有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chiplet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的聚合多播跳数；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OA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数据块放置在封装的外围区域，以最小化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OA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通信延迟。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贪心算法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(greedy algorithm)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398"/>
              <a:ext cx="9612" cy="159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0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Gemini: Mapping and Architecture Co-exploration for Large-scale DNN Chiplet Accelerators</a:t>
              </a:r>
              <a:endParaRPr kumimoji="1" lang="en-US" altLang="zh-CN" sz="2000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5"/>
              <a:ext cx="2973" cy="1482"/>
              <a:chOff x="5428" y="3545"/>
              <a:chExt cx="2973" cy="1482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5"/>
                <a:ext cx="1128" cy="1016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en-US" altLang="zh-CN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two</a:t>
                </a:r>
                <a:endPara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Gemini: Mapping and Architecture Co-exploration for Large-scale DNN Chiplet Accelerators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2606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Gemini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架构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0" y="1275080"/>
            <a:ext cx="5260975" cy="5242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Gemini: Mapping and Architecture Co-exploration for Large-scale DNN Chiplet Accelerators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2606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Mapping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51355" y="1767205"/>
            <a:ext cx="9401175" cy="288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Tangram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：不同层分组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Layer-Pipeline (LP) spatial mapping scheme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：每组具体的映射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Simulated Annealing (SA) algorithm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：探索映射空间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208"/>
              <a:ext cx="9612" cy="2082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0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THERMOS: Thermally-Aware Multi-Objective Scheduling of AI Workloads on Heterogeneous Multi-Chiplet PIM Architectures</a:t>
              </a:r>
              <a:endParaRPr kumimoji="1" lang="en-US" altLang="zh-CN" sz="2000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5"/>
              <a:ext cx="2973" cy="1482"/>
              <a:chOff x="5428" y="3545"/>
              <a:chExt cx="2973" cy="1482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5"/>
                <a:ext cx="1128" cy="1016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3</a:t>
                </a:r>
                <a:endParaRPr kumimoji="1" lang="en-US" altLang="zh-CN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t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hree</a:t>
                </a:r>
                <a:endPara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THERMOS: Thermally-Aware Multi-Objective Scheduling of AI Workloads on Heterogeneous Multi-Chiplet PIM Architectures</a:t>
            </a:r>
            <a:endParaRPr kumimoji="1" lang="en-US" altLang="zh-CN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025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THERMOS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架构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575" y="2734310"/>
            <a:ext cx="9348470" cy="3442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541780"/>
            <a:ext cx="9401175" cy="1446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Standard (ReRAM)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4mm</a:t>
            </a:r>
            <a:r>
              <a:rPr lang="en-US" altLang="zh-CN" sz="16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Accumulator (ReRAM)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4mm</a:t>
            </a:r>
            <a:r>
              <a:rPr lang="en-US" altLang="zh-CN" sz="16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，温度阈值：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330K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Shared ADC (SRAM)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9mm</a:t>
            </a:r>
            <a:r>
              <a:rPr lang="en-US" altLang="zh-CN" sz="16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ADC-less (SRAM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，全数字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4mm</a:t>
            </a:r>
            <a:r>
              <a:rPr lang="en-US" altLang="zh-CN" sz="16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温度阈值：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358K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(Simba Chiplet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6nm2)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THERMOS: Thermally-Aware Multi-Objective Scheduling of AI Workloads on Heterogeneous Multi-Chiplet PIM Architectures</a:t>
            </a:r>
            <a:endParaRPr kumimoji="1" lang="en-US" altLang="zh-CN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025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核心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内容</a:t>
            </a:r>
            <a:endParaRPr kumimoji="1" lang="zh-CN" altLang="en-US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541780"/>
            <a:ext cx="9401175" cy="218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两级调度方法：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Level 1 (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重点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 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多目标强化学习</a:t>
            </a:r>
            <a:r>
              <a:rPr lang="en-US" altLang="zh-CN" sz="1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(MORL)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策略：选哪种类型的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PIM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Level 2: 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邻近驱动算法</a:t>
            </a:r>
            <a:r>
              <a:rPr lang="en-US" altLang="zh-CN" sz="1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(Proximity-driven)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：映射到具体的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Chiplet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热约束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：阈值限流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(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暂停该芯片上正在运行的任务，并阻止分配新任务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)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70" y="3896360"/>
            <a:ext cx="7700645" cy="25546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64055" y="3329940"/>
            <a:ext cx="3738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THERMOS 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框架</a:t>
            </a:r>
            <a:endParaRPr kumimoji="1" lang="zh-CN" altLang="en-US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THERMOS: Thermally-Aware Multi-Objective Scheduling of AI Workloads on Heterogeneous Multi-Chiplet PIM Architectures</a:t>
            </a:r>
            <a:endParaRPr kumimoji="1" lang="en-US" altLang="zh-CN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3958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(L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evel1) MORL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机制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964055" y="1541780"/>
                <a:ext cx="9401175" cy="50088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问题被定义为</a:t>
                </a:r>
                <a:r>
                  <a:rPr lang="zh-CN" altLang="en-US" sz="16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马尔可夫决策</a:t>
                </a:r>
                <a:r>
                  <a:rPr lang="en-US" altLang="zh-CN" sz="16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(MDP)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：元组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(S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状态，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A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动作，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P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转移概率，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奖励函数，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y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折扣因子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)</a:t>
                </a:r>
                <a:endParaRPr lang="en-US" altLang="zh-CN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模型：</a:t>
                </a:r>
                <a:r>
                  <a:rPr lang="en-US" altLang="zh-CN" sz="16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Actor-Critic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，训练算法：</a:t>
                </a:r>
                <a:r>
                  <a:rPr lang="zh-CN" altLang="en-US" sz="16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近端策略优化</a:t>
                </a:r>
                <a:r>
                  <a:rPr lang="en-US" altLang="zh-CN" sz="16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(PPO)</a:t>
                </a:r>
                <a:endParaRPr lang="en-US" altLang="zh-CN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Actor (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𝜋</m:t>
                    </m:r>
                  </m:oMath>
                </a14:m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): DDT 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决策树，负责动作选择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(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选簇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)</a:t>
                </a:r>
                <a:endParaRPr lang="en-US" altLang="zh-CN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Critic (</a:t>
                </a:r>
                <a:r>
                  <a:rPr 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V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): 3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层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fc 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网络，负责评估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Actor 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动作的价值</a:t>
                </a: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奖励机制：主要、次要，两次奖励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</a:t>
                </a:r>
                <a:endParaRPr lang="en-US" altLang="zh-CN" sz="16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055" y="1541780"/>
                <a:ext cx="9401175" cy="500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b="33752"/>
          <a:stretch>
            <a:fillRect/>
          </a:stretch>
        </p:blipFill>
        <p:spPr>
          <a:xfrm>
            <a:off x="7397750" y="2313305"/>
            <a:ext cx="2118360" cy="15392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055" y="3507740"/>
            <a:ext cx="3727450" cy="3886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155" y="3896360"/>
            <a:ext cx="7757160" cy="5981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035" y="4395470"/>
            <a:ext cx="3727450" cy="4197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964055" y="5026025"/>
            <a:ext cx="94011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为高效训练多项目标，我们采用多线程技术并行运行三种偏好设置（最小执行时间、最小能耗以及平衡两者）。每个进程与各自的环境副本进行交互，并收集符合其特定偏好的（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）元组形式轨迹。在训练周期结束时，这些轨迹将通过公式（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）和（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）所述的损失函数来更新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Actor-Critic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2611755"/>
            <a:ext cx="2139950" cy="878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THERMOS: Thermally-Aware Multi-Objective Scheduling of AI Workloads on Heterogeneous Multi-Chiplet PIM Architectures</a:t>
            </a:r>
            <a:endParaRPr kumimoji="1" lang="en-US" altLang="zh-CN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07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仿真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框架</a:t>
            </a:r>
            <a:endParaRPr kumimoji="1" lang="zh-CN" altLang="en-US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2348865"/>
            <a:ext cx="6559550" cy="30943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793105" y="2565400"/>
            <a:ext cx="1334770" cy="6311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018145" y="2565400"/>
            <a:ext cx="1367790" cy="631190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561705" y="4504055"/>
            <a:ext cx="1209040" cy="53784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65" y="86995"/>
            <a:ext cx="99777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85000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THERMOS: Thermally-Aware Multi-Objective Scheduling of AI Workloads on Heterogeneous Multi-Chiplet PIM Architectures</a:t>
            </a:r>
            <a:endParaRPr kumimoji="1" lang="en-US" altLang="zh-CN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07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Baseline 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调度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算法</a:t>
            </a:r>
            <a:endParaRPr kumimoji="1" lang="zh-CN" altLang="en-US" sz="20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64055" y="1541780"/>
            <a:ext cx="9401175" cy="218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：主要调度物理位置相邻的连续层以减少通信开销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Big-Little (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单一类型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PIM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、不同大小阵列尺寸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：工作负载分配给利用率最高的小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Chiplet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RELMAS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：与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Simba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类似的架构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RL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的调度算法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75590" y="2481687"/>
            <a:ext cx="10040472" cy="82994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考生姓名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汇报人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穆文博</a:t>
                      </a:r>
                      <a:endParaRPr kumimoji="1" lang="zh-CN" altLang="en-US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6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汇报时间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7"/>
            </p:custData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2025.10.24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8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9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0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1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2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3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4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5.xml><?xml version="1.0" encoding="utf-8"?>
<p:tagLst xmlns:p="http://schemas.openxmlformats.org/presentationml/2006/main">
  <p:tag name="KSO_WM_DIAGRAM_VIRTUALLY_FRAME" val="{&quot;height&quot;:283.06590551181097,&quot;left&quot;:411.24204724409446,&quot;top&quot;:120.90338582677165,&quot;width&quot;:548.7579527559055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TABLE_ENDDRAG_ORIGIN_RECT" val="258*36"/>
  <p:tag name="TABLE_ENDDRAG_RECT" val="573*376*258*36"/>
</p:tagLst>
</file>

<file path=ppt/tags/tag33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34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35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36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3116</Words>
  <Application>WPS 演示</Application>
  <PresentationFormat>宽屏</PresentationFormat>
  <Paragraphs>180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Times New Roman Regular</vt:lpstr>
      <vt:lpstr>Times New Roman</vt:lpstr>
      <vt:lpstr>Times New Roman Bold</vt:lpstr>
      <vt:lpstr>Times New Roman Bold Italic</vt:lpstr>
      <vt:lpstr>Italic</vt:lpstr>
      <vt:lpstr>-apple-system</vt:lpstr>
      <vt:lpstr>Cambria Math</vt:lpstr>
      <vt:lpstr>等线</vt:lpstr>
      <vt:lpstr>Arial Unicode MS</vt:lpstr>
      <vt:lpstr>等线 Light</vt:lpstr>
      <vt:lpstr>AMGDT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Fall and get up！</cp:lastModifiedBy>
  <cp:revision>126</cp:revision>
  <dcterms:created xsi:type="dcterms:W3CDTF">2025-08-20T06:57:00Z</dcterms:created>
  <dcterms:modified xsi:type="dcterms:W3CDTF">2025-10-24T10:18:24Z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E869162669004EFE906E5AAE13FB5135_12</vt:lpwstr>
  </property>
  <property fmtid="{D5CDD505-2E9C-101B-9397-08002B2CF9AE}" pid="3" name="KSOProductBuildVer">
    <vt:lpwstr>2052-12.1.0.23125</vt:lpwstr>
  </property>
</Properties>
</file>