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sldIdLst>
    <p:sldId id="257" r:id="rId4"/>
    <p:sldId id="333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48" r:id="rId19"/>
    <p:sldId id="350" r:id="rId20"/>
    <p:sldId id="352" r:id="rId21"/>
    <p:sldId id="351" r:id="rId22"/>
    <p:sldId id="353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0DD1131-E15C-442C-ADEB-F5A77FD726CB}">
          <p14:sldIdLst>
            <p14:sldId id="257"/>
          </p14:sldIdLst>
        </p14:section>
        <p14:section name="1" id="{3CE12ECF-0D44-4DDB-A890-C7DBAE28C2AA}">
          <p14:sldIdLst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8"/>
            <p14:sldId id="350"/>
            <p14:sldId id="352"/>
            <p14:sldId id="351"/>
            <p14:sldId id="35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01" autoAdjust="0"/>
    <p:restoredTop sz="80133" autoAdjust="0"/>
  </p:normalViewPr>
  <p:slideViewPr>
    <p:cSldViewPr snapToGrid="0">
      <p:cViewPr varScale="1">
        <p:scale>
          <a:sx n="127" d="100"/>
          <a:sy n="127" d="100"/>
        </p:scale>
        <p:origin x="207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E31D2-F85F-48D9-85E1-643E8A75D6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6FDFC-FEF2-4F9D-A0AF-43D16A2C7A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9.jpe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79950"/>
            <a:ext cx="12192000" cy="2205024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0" y="1975169"/>
            <a:ext cx="12192000" cy="2219218"/>
          </a:xfrm>
          <a:prstGeom prst="rect">
            <a:avLst/>
          </a:prstGeom>
          <a:solidFill>
            <a:srgbClr val="141E8C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23545" y="2481687"/>
            <a:ext cx="10040472" cy="82994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kumimoji="1" lang="en-US" altLang="zh-CN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1" lang="zh-CN" altLang="en-US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kumimoji="1" lang="en-US" altLang="zh-CN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endParaRPr kumimoji="1" lang="en-US" altLang="zh-CN" sz="48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表格 18"/>
          <p:cNvGraphicFramePr/>
          <p:nvPr>
            <p:custDataLst>
              <p:tags r:id="rId3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考生姓名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9A0E1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表格 21"/>
          <p:cNvGraphicFramePr/>
          <p:nvPr>
            <p:custDataLst>
              <p:tags r:id="rId4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汇报人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表格 22"/>
          <p:cNvGraphicFramePr/>
          <p:nvPr>
            <p:custDataLst>
              <p:tags r:id="rId5"/>
            </p:custDataLst>
          </p:nvPr>
        </p:nvGraphicFramePr>
        <p:xfrm>
          <a:off x="5488305" y="4700905"/>
          <a:ext cx="327787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7870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zh-CN" altLang="en-US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钟智鹏</a:t>
                      </a:r>
                      <a:endParaRPr kumimoji="1" lang="en-US" altLang="zh-CN" sz="2000" b="0" spc="12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 Regular" panose="02020803070505020304" charset="0"/>
                        <a:ea typeface="微软雅黑" panose="020B0503020204020204" pitchFamily="34" charset="-122"/>
                        <a:cs typeface="Times New Roman Regular" panose="02020803070505020304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表格 31"/>
          <p:cNvGraphicFramePr/>
          <p:nvPr>
            <p:custDataLst>
              <p:tags r:id="rId6"/>
            </p:custDataLst>
          </p:nvPr>
        </p:nvGraphicFramePr>
        <p:xfrm>
          <a:off x="3507740" y="5422582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汇报时间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表格 32"/>
          <p:cNvGraphicFramePr/>
          <p:nvPr>
            <p:custDataLst>
              <p:tags r:id="rId7"/>
            </p:custDataLst>
          </p:nvPr>
        </p:nvGraphicFramePr>
        <p:xfrm>
          <a:off x="5488305" y="5439092"/>
          <a:ext cx="328422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4220"/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en-US" altLang="zh-CN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2025.10.24</a:t>
                      </a:r>
                      <a:endParaRPr kumimoji="1" lang="en-US" altLang="zh-CN" sz="2000" b="0" spc="12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 Regular" panose="02020803070505020304" charset="0"/>
                        <a:ea typeface="微软雅黑" panose="020B0503020204020204" pitchFamily="34" charset="-122"/>
                        <a:cs typeface="Times New Roman Regular" panose="02020803070505020304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从函数到神经网络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5079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1.1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从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精确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到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近似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  <a:endParaRPr kumimoji="1" lang="en-US" altLang="zh-CN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441463" y="1638849"/>
            <a:ext cx="5219468" cy="422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函数的核心是对输入数据进行变换，最终输出目标结果，可简化为：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输入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x </a:t>
            </a:r>
            <a:r>
              <a:rPr lang="en-US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→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函数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f(x) </a:t>
            </a:r>
            <a:r>
              <a:rPr lang="en-US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→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输出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y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符号主义与联结主义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：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符号主义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657350" lvl="3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试图用精确函数描述所有关系（如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“if-else”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规则），但无法覆盖复杂现实场景（如图像、文本的模糊关系）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联结主义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657350" lvl="3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无需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精确拟合所有数据点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，只需找到近似函数，使输出尽可能接近真实结果（即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求近似解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260" y="1193800"/>
            <a:ext cx="4487545" cy="24561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3926205"/>
            <a:ext cx="4901565" cy="2494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从函数到神经网络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5153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1.2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线性函数的局限与激活函数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352563" y="1973811"/>
            <a:ext cx="5219468" cy="186118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线性函数（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y=wx+b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）无法拟合非线性数据（如曲线分布），需通过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线性函数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+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非线性函数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的组合突破局限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——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这一非线性函数称为激活函数。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860" y="1686560"/>
            <a:ext cx="4839335" cy="23736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4304030"/>
            <a:ext cx="5402580" cy="23158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0" y="4304030"/>
            <a:ext cx="2011045" cy="11169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320" y="4304030"/>
            <a:ext cx="1823085" cy="111696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7565" y="5538470"/>
            <a:ext cx="2072640" cy="101473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685" y="5538470"/>
            <a:ext cx="1724025" cy="1095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从函数到神经网络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51530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1.3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函数嵌套：从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单步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到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多步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  <a:endParaRPr kumimoji="1" lang="en-US" altLang="zh-CN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520838" y="1660756"/>
            <a:ext cx="5219468" cy="333565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单一激活函数无法处理复杂数据，需通过嵌套线性变换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+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激活函数提升表达能力。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将嵌套函数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可视化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为网状结构，引入神经元（每个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小圈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代表一个计算单元，即），形成三层核心结构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输入层：接收原始数据（如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x</a:t>
            </a:r>
            <a:r>
              <a:rPr lang="en-US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,x</a:t>
            </a:r>
            <a:r>
              <a:rPr lang="en-US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₂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），无计算逻辑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隐藏层：对输入数据进行复杂特征提取与变换（核心层级）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输出层：输出最终结果（如分类标签、回归值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y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615" y="1209040"/>
            <a:ext cx="2763520" cy="13303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615" y="2755900"/>
            <a:ext cx="2761615" cy="12877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615" y="4545330"/>
            <a:ext cx="2873375" cy="1769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 </a:t>
            </a: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计算神经网络的参数</a:t>
            </a:r>
            <a:endParaRPr kumimoji="1" lang="zh-CN" altLang="en-US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5079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2.1 </a:t>
            </a:r>
            <a:r>
              <a:rPr kumimoji="1" 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损失函数</a:t>
            </a:r>
            <a:endParaRPr kumimoji="1" lang="zh-CN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441463" y="1638849"/>
            <a:ext cx="5219468" cy="186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单个数据点的误差：预测值与真实值的差异；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整体误差：所有数据点误差的总和，即损失函数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L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常用损失函数：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ClrTx/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均方误差（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MSE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657350" lvl="3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295" y="1143000"/>
            <a:ext cx="4086225" cy="21361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630" y="3695700"/>
            <a:ext cx="5453380" cy="27266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785" y="3823970"/>
            <a:ext cx="4267200" cy="2419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 </a:t>
            </a: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计算神经网络的参数</a:t>
            </a:r>
            <a:endParaRPr kumimoji="1" lang="zh-CN" altLang="en-US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5079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2.2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参数优化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441463" y="1638849"/>
            <a:ext cx="5219468" cy="3630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当参数较少时，可通过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令损失函数的偏导数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=0”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求解最优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w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和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b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（如线性拟合）；但神经网络是复杂非线性函数，损失函数无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解析解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，需用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梯度下降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迭代优化。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梯度下降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核心逻辑：将损失函数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L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视为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山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，参数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w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和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b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为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位置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，通过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沿坡度最陡的反方向下山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，逐步找到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L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的最小值。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 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梯度：损失函数对所有参数的偏导数构成的向量，代表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坡度方向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学习率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η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：控制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下山步长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η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过大会震荡，过小会收敛慢）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670" y="2110740"/>
            <a:ext cx="3353435" cy="1971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 </a:t>
            </a: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神经网络的常见问题与解决方法</a:t>
            </a:r>
            <a:endParaRPr kumimoji="1" lang="zh-CN" altLang="en-US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5079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3.1 </a:t>
            </a:r>
            <a:r>
              <a:rPr kumimoji="1" 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过拟合</a:t>
            </a:r>
            <a:endParaRPr kumimoji="1" lang="zh-CN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441450" y="1638935"/>
            <a:ext cx="4713605" cy="186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过拟合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模型过度复杂，不仅学习了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数据规律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，还学习了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噪声和随机波动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练集上误差小，但泛化能力差（对新数据预测不准）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170" y="980440"/>
            <a:ext cx="3816350" cy="15532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620" y="3853180"/>
            <a:ext cx="4276725" cy="195072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170" y="2753360"/>
            <a:ext cx="3808730" cy="204533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870" y="4892040"/>
            <a:ext cx="3481070" cy="1835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 </a:t>
            </a: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神经网络的常见问题与解决方法</a:t>
            </a:r>
            <a:endParaRPr kumimoji="1" lang="zh-CN" altLang="en-US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5079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3.2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其他核心问题与解决方案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441450" y="1638935"/>
            <a:ext cx="4713605" cy="4515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过拟合梯度消失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深层网络中，反向传播的梯度越来越小，浅层参数几乎不更新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梯度爆炸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梯度数值急剧增大，参数更新幅度过大，模型发散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收敛速度慢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训练轮次多，或陷入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局部最优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（非全局最小的小低谷）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计算开销大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数据量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/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模型大，前向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/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反向传播耗时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6242050" y="1381125"/>
          <a:ext cx="5519420" cy="4856480"/>
        </p:xfrm>
        <a:graphic>
          <a:graphicData uri="http://schemas.openxmlformats.org/drawingml/2006/table">
            <a:tbl>
              <a:tblPr/>
              <a:tblGrid>
                <a:gridCol w="5519420"/>
              </a:tblGrid>
              <a:tr h="309245">
                <a:tc>
                  <a:txBody>
                    <a:bodyPr/>
                    <a:p>
                      <a:r>
                        <a:rPr lang="zh-CN" altLang="en-US" sz="1600"/>
                        <a:t>解决方法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32510">
                <a:tc>
                  <a:txBody>
                    <a:bodyPr/>
                    <a:p>
                      <a:r>
                        <a:rPr lang="en-US" altLang="zh-CN" sz="1600" b="0"/>
                        <a:t>1. </a:t>
                      </a:r>
                      <a:r>
                        <a:rPr lang="zh-CN" altLang="en-US" sz="1600" b="0"/>
                        <a:t>用</a:t>
                      </a:r>
                      <a:r>
                        <a:rPr lang="en-US" altLang="zh-CN" sz="1600" b="0"/>
                        <a:t>ReLU</a:t>
                      </a:r>
                      <a:r>
                        <a:rPr lang="zh-CN" altLang="en-US" sz="1600" b="0"/>
                        <a:t>激活函数替代</a:t>
                      </a:r>
                      <a:r>
                        <a:rPr lang="en-US" altLang="zh-CN" sz="1600" b="0"/>
                        <a:t>Sigmoid</a:t>
                      </a:r>
                      <a:r>
                        <a:rPr lang="zh-CN" altLang="en-US" sz="1600" b="0"/>
                        <a:t>；</a:t>
                      </a:r>
                      <a:br>
                        <a:rPr lang="zh-CN" altLang="en-US" sz="1600" b="0"/>
                      </a:br>
                      <a:r>
                        <a:rPr lang="en-US" altLang="zh-CN" sz="1600" b="0"/>
                        <a:t>2. </a:t>
                      </a:r>
                      <a:r>
                        <a:rPr lang="zh-CN" altLang="en-US" sz="1600" b="0"/>
                        <a:t>残差网络（</a:t>
                      </a:r>
                      <a:r>
                        <a:rPr lang="en-US" altLang="zh-CN" sz="1600" b="0"/>
                        <a:t>ResNet</a:t>
                      </a:r>
                      <a:r>
                        <a:rPr lang="zh-CN" altLang="en-US" sz="1600" b="0"/>
                        <a:t>）：增加“</a:t>
                      </a:r>
                      <a:r>
                        <a:rPr lang="en-US" altLang="zh-CN" sz="1600" b="0"/>
                        <a:t>shortcut</a:t>
                      </a:r>
                      <a:r>
                        <a:rPr lang="zh-CN" altLang="en-US" sz="1600" b="0"/>
                        <a:t>连接”，直接传递梯度</a:t>
                      </a:r>
                      <a:endParaRPr lang="zh-CN" altLang="en-US" sz="1600" b="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33780">
                <a:tc>
                  <a:txBody>
                    <a:bodyPr/>
                    <a:p>
                      <a:r>
                        <a:rPr lang="en-US" altLang="zh-CN" sz="1600"/>
                        <a:t>1. </a:t>
                      </a:r>
                      <a:r>
                        <a:rPr lang="zh-CN" altLang="en-US" sz="1600"/>
                        <a:t>梯度裁剪：限制梯度最大值（如梯度超过</a:t>
                      </a:r>
                      <a:r>
                        <a:rPr lang="en-US" altLang="zh-CN" sz="1600"/>
                        <a:t>10</a:t>
                      </a:r>
                      <a:r>
                        <a:rPr lang="zh-CN" altLang="en-US" sz="1600"/>
                        <a:t>则截断为</a:t>
                      </a:r>
                      <a:r>
                        <a:rPr lang="en-US" altLang="zh-CN" sz="1600"/>
                        <a:t>10</a:t>
                      </a:r>
                      <a:r>
                        <a:rPr lang="zh-CN" altLang="en-US" sz="1600"/>
                        <a:t>）；</a:t>
                      </a:r>
                      <a:br>
                        <a:rPr lang="zh-CN" altLang="en-US" sz="1600"/>
                      </a:br>
                      <a:r>
                        <a:rPr lang="en-US" altLang="zh-CN" sz="1600"/>
                        <a:t>2. </a:t>
                      </a:r>
                      <a:r>
                        <a:rPr lang="zh-CN" altLang="en-US" sz="1600"/>
                        <a:t>权重初始化（如</a:t>
                      </a:r>
                      <a:r>
                        <a:rPr lang="en-US" altLang="zh-CN" sz="1600"/>
                        <a:t>Xavier</a:t>
                      </a:r>
                      <a:r>
                        <a:rPr lang="zh-CN" altLang="en-US" sz="1600"/>
                        <a:t>初始化）</a:t>
                      </a:r>
                      <a:r>
                        <a:rPr lang="en-US" altLang="zh-CN" sz="1600"/>
                        <a:t>+ </a:t>
                      </a:r>
                      <a:r>
                        <a:rPr lang="zh-CN" altLang="en-US" sz="1600"/>
                        <a:t>输入归一化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46530">
                <a:tc>
                  <a:txBody>
                    <a:bodyPr/>
                    <a:p>
                      <a:r>
                        <a:rPr lang="zh-CN" altLang="en-US" sz="1600"/>
                        <a:t>用自适应优化器：</a:t>
                      </a:r>
                      <a:br>
                        <a:rPr lang="zh-CN" altLang="en-US" sz="1600"/>
                      </a:br>
                      <a:r>
                        <a:rPr lang="en-US" altLang="zh-CN" sz="1600"/>
                        <a:t>- </a:t>
                      </a:r>
                      <a:r>
                        <a:rPr lang="zh-CN" altLang="en-US" sz="1600"/>
                        <a:t>动量法（</a:t>
                      </a:r>
                      <a:r>
                        <a:rPr lang="en-US" altLang="zh-CN" sz="1600"/>
                        <a:t>Momentum</a:t>
                      </a:r>
                      <a:r>
                        <a:rPr lang="zh-CN" altLang="en-US" sz="1600"/>
                        <a:t>）：模拟“惯性”，加速沿正确方向更新；</a:t>
                      </a:r>
                      <a:br>
                        <a:rPr lang="zh-CN" altLang="en-US" sz="1600"/>
                      </a:br>
                      <a:r>
                        <a:rPr lang="en-US" altLang="zh-CN" sz="1600"/>
                        <a:t>- Adam</a:t>
                      </a:r>
                      <a:r>
                        <a:rPr lang="zh-CN" altLang="en-US" sz="1600"/>
                        <a:t>：结合动量法与</a:t>
                      </a:r>
                      <a:r>
                        <a:rPr lang="en-US" altLang="zh-CN" sz="1600"/>
                        <a:t>RMSProp</a:t>
                      </a:r>
                      <a:r>
                        <a:rPr lang="zh-CN" altLang="en-US" sz="1600"/>
                        <a:t>，动态调整学习率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34415">
                <a:tc>
                  <a:txBody>
                    <a:bodyPr/>
                    <a:p>
                      <a:r>
                        <a:rPr lang="en-US" altLang="zh-CN" sz="1600"/>
                        <a:t>1. Mini-batch</a:t>
                      </a:r>
                      <a:r>
                        <a:rPr lang="zh-CN" altLang="en-US" sz="1600"/>
                        <a:t>：将数据分成小批次（如</a:t>
                      </a:r>
                      <a:r>
                        <a:rPr lang="en-US" altLang="zh-CN" sz="1600"/>
                        <a:t>32/64</a:t>
                      </a:r>
                      <a:r>
                        <a:rPr lang="zh-CN" altLang="en-US" sz="1600"/>
                        <a:t>样本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批），分批计算；</a:t>
                      </a:r>
                      <a:br>
                        <a:rPr lang="zh-CN" altLang="en-US" sz="1600"/>
                      </a:br>
                      <a:r>
                        <a:rPr lang="en-US" altLang="zh-CN" sz="1600"/>
                        <a:t>2. </a:t>
                      </a:r>
                      <a:r>
                        <a:rPr lang="zh-CN" altLang="en-US" sz="1600"/>
                        <a:t>模型压缩（如量化：用</a:t>
                      </a:r>
                      <a:r>
                        <a:rPr lang="en-US" altLang="zh-CN" sz="1600"/>
                        <a:t>8</a:t>
                      </a:r>
                      <a:r>
                        <a:rPr lang="zh-CN" altLang="en-US" sz="1600"/>
                        <a:t>位整数替代</a:t>
                      </a:r>
                      <a:r>
                        <a:rPr lang="en-US" altLang="zh-CN" sz="1600"/>
                        <a:t>32</a:t>
                      </a:r>
                      <a:r>
                        <a:rPr lang="zh-CN" altLang="en-US" sz="1600"/>
                        <a:t>位浮点数）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 </a:t>
            </a: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矩阵表示与卷积神经网络</a:t>
            </a:r>
            <a:endParaRPr kumimoji="1" lang="zh-CN" altLang="en-US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5079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4.1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矩阵：简化神经网络计算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441450" y="1638935"/>
            <a:ext cx="4935220" cy="2155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矩阵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当输入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/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神经元数量增多时，单个函数表达式会极其繁琐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用矩阵运算可简化表达并利用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GPU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并行计算加速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深层网络的通用矩阵公式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835" y="1094105"/>
            <a:ext cx="3286760" cy="20148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055" y="3891915"/>
            <a:ext cx="4088765" cy="5492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835" y="3158490"/>
            <a:ext cx="3080385" cy="20167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9340" y="5224780"/>
            <a:ext cx="2612390" cy="5943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9340" y="5868670"/>
            <a:ext cx="2625090" cy="6013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 </a:t>
            </a: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矩阵表示与卷积神经网络</a:t>
            </a:r>
            <a:endParaRPr kumimoji="1" lang="zh-CN" altLang="en-US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5079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4.2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全连接层的局限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441450" y="1638935"/>
            <a:ext cx="4935220" cy="274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全连接层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每层神经元与前一层所有神经元连接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参数爆炸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图像分辨率提高后，参数数量呈指数增长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丢失位置信息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平展图像时，像素的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空间相邻关系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被破坏（如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猫的眼睛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和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背景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混为一谈）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185" y="1233805"/>
            <a:ext cx="4368800" cy="230060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185" y="3948430"/>
            <a:ext cx="4368800" cy="2226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 </a:t>
            </a: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矩阵表示与卷积神经网络</a:t>
            </a:r>
            <a:endParaRPr kumimoji="1" lang="zh-CN" altLang="en-US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5079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4.3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卷积神经网络（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CNN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441450" y="1638935"/>
            <a:ext cx="4935220" cy="4810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卷积运算（提取局部特征）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卷积核：小尺寸矩阵（如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3</a:t>
            </a:r>
            <a:r>
              <a:rPr lang="en-US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×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3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），代表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局部特征模板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（如边缘、纹理）；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运算过程：卷积核在输入图像上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滑动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，每个位置计算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对应元素相乘求和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，输出新的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特征图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丢失位置信息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池化层（降维与保特征）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对卷积后的特征图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下采样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，减少参数和计算量，同时保留核心特征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CNN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不足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仅适用于静态数据（如图像），无法处理动态时序数据（如文本、音频、视频）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lvl="2" indent="0" algn="just">
              <a:lnSpc>
                <a:spcPct val="120000"/>
              </a:lnSpc>
              <a:buSzPct val="80000"/>
              <a:buFont typeface="Wingdings" panose="05000000000000000000" charset="0"/>
              <a:buNone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490" y="970280"/>
            <a:ext cx="3481070" cy="17570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510" y="3429000"/>
            <a:ext cx="2907665" cy="17195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350" y="2869565"/>
            <a:ext cx="2907665" cy="56007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245" y="5480050"/>
            <a:ext cx="3317875" cy="1260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 </a:t>
            </a: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循环神经网络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5079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5.1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文本的数字化：从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文字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到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向量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  <a:endParaRPr kumimoji="1" lang="en-US" altLang="zh-CN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441450" y="1527175"/>
            <a:ext cx="5194300" cy="5695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早期方法的局限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单数字映射：每个词用一个数字表示（如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桌子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=1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，椅子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=2”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），维度低且无语义关联；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One-Hot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编码：每个词用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全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0+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单个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1”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（如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桌子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=[1,0,0,...0]”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），维度过高（等于词表大小）且无语义关联。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词嵌入（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Word Embedding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）：解决语义关联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将每个词映射为低维稠密向量（如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512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维），向量的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距离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对应语义相似度；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用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点积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或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余弦相似度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衡量词向量的相关性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嵌入矩阵与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Word2Vec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嵌入矩阵：将所有词向量按列拼接，形成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词表大小</a:t>
            </a:r>
            <a:r>
              <a:rPr lang="en-US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×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嵌入维度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的矩阵（值通过训练得到）；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Word2Vec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（通过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预测上下文词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训练嵌入矩阵）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lvl="2" indent="0" algn="just">
              <a:lnSpc>
                <a:spcPct val="120000"/>
              </a:lnSpc>
              <a:buSzPct val="80000"/>
              <a:buFont typeface="Wingdings" panose="05000000000000000000" charset="0"/>
              <a:buNone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30" y="1670685"/>
            <a:ext cx="4725035" cy="19113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130" y="3992880"/>
            <a:ext cx="4737100" cy="23628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 </a:t>
            </a: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循环神经网络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5079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5.2 RNN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的核心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441450" y="1527175"/>
            <a:ext cx="5194300" cy="2155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RNN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的结构设计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为解决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文本顺序依赖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（如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我吃苹果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”≠“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苹果吃我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），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RNN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引入隐藏状态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h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，记录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历史信息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输入：单个词向量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隐藏状态：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h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输出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: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基于当前隐藏状态输出结果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285" y="3740150"/>
            <a:ext cx="4697095" cy="25469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285" y="998220"/>
            <a:ext cx="4691380" cy="24993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370" y="3740150"/>
            <a:ext cx="4956175" cy="2546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 Transformer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5079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6.1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翻译问题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441450" y="1527175"/>
            <a:ext cx="5194300" cy="422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直接全连接层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没有上下文信息，比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如，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我吃了一个苹果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和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我买了一台苹果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中的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苹果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含义完全不同。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长度一一对应，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例如，一个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10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个词的中文句子可能翻译成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15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个词的英文句子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循环神经网络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RNN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串行计算，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RNN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对序列的处理是逐词进行的，必须等第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t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个词计算完毕，才能开始计算第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t+1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个词。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句子太长会导致长期依赖困难，在理解一个长句子时，模型很难记住并利用句子开头那些非常重要的信息。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lvl="2" indent="0" algn="just">
              <a:lnSpc>
                <a:spcPct val="120000"/>
              </a:lnSpc>
              <a:buSzPct val="80000"/>
              <a:buFont typeface="Wingdings" panose="05000000000000000000" charset="0"/>
              <a:buNone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850" y="1143000"/>
            <a:ext cx="3456940" cy="28422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850" y="4344035"/>
            <a:ext cx="5233035" cy="2301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 Transformer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5079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6.2 </a:t>
            </a:r>
            <a:r>
              <a:rPr kumimoji="1" lang="en-US" altLang="zh-CN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Transformer</a:t>
            </a:r>
            <a:r>
              <a:rPr kumimoji="1" lang="zh-CN" altLang="en-US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架构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441450" y="1527175"/>
            <a:ext cx="5194300" cy="422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位置编码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词嵌入本身无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顺序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（如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我爱你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和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你爱我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的词向量相同）；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给每个词一个位置编码，表示这个词在整个句子中出现的位置，把这个位置编码加到原来的词向量中，现在这个词就有了位置信息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上下文信息</a:t>
            </a:r>
            <a:endParaRPr 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用几个新矩阵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Wq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Wk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Wv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（训练得到）乘上每个词的词向量。当然，在计算机中运算时，是用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Wq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Wk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Wv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直接乘下方四个词向量拼成的大矩阵，然后直接得到三个矩阵（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Q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K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V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lvl="2" indent="0" algn="just">
              <a:lnSpc>
                <a:spcPct val="120000"/>
              </a:lnSpc>
              <a:buSzPct val="80000"/>
              <a:buFont typeface="Wingdings" panose="05000000000000000000" charset="0"/>
              <a:buNone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200" y="1440815"/>
            <a:ext cx="4909185" cy="19304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650" y="3575685"/>
            <a:ext cx="4451350" cy="2706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 Transformer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5079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6.2 </a:t>
            </a:r>
            <a:r>
              <a:rPr kumimoji="1" lang="en-US" altLang="zh-CN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Transformer</a:t>
            </a:r>
            <a:r>
              <a:rPr kumimoji="1" lang="zh-CN" altLang="en-US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架构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441450" y="1527175"/>
            <a:ext cx="5194300" cy="510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上下文信息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让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q1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和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k2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做点积，代表第一个词和第二个词的相似度，同理类推，得到的系数再与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v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相乘，最后相加，得到的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a1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就是包含了全部上下文信息的第一个词的新词向量。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同理，我们得到了所有词的新词向量，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每一个新词向量都包含了所有的上下文信息。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两个词的关系并不是固定的，对于注意力机制来说，如果只通过一种方式计算一次相关性，灵活性就太低了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所以我们可以增加这个数量，把之前得到的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QKV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通过两个权重矩阵计算得到两组新的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QKV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，给每个词两个学习机会，每组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QKV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称为一个头。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lvl="2" indent="0" algn="just">
              <a:lnSpc>
                <a:spcPct val="120000"/>
              </a:lnSpc>
              <a:buSzPct val="80000"/>
              <a:buFont typeface="Wingdings" panose="05000000000000000000" charset="0"/>
              <a:buNone/>
            </a:pP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550" y="1240155"/>
            <a:ext cx="4068445" cy="28390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550" y="4211955"/>
            <a:ext cx="4068445" cy="2484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 Transformer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964055" y="1143000"/>
            <a:ext cx="5079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6.2 </a:t>
            </a:r>
            <a:r>
              <a:rPr kumimoji="1" lang="zh-CN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多头注意力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441450" y="1527175"/>
            <a:ext cx="5194300" cy="392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注意力机制（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Attention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）：捕捉上下文关联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生成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QKV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：将词向量通过三个训练好的矩阵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计算相似度：用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Query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与所有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Key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计算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注意力权重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Softmax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归一化：将权重映射到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(0,1)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，确保总和为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1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加权求和：用权重对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Value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加权求和，得到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包含上下文的新词向量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多头注意力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lvl="2" indent="0" algn="just">
              <a:lnSpc>
                <a:spcPct val="120000"/>
              </a:lnSpc>
              <a:buSzPct val="80000"/>
              <a:buFont typeface="Wingdings" panose="05000000000000000000" charset="0"/>
              <a:buNone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并行计算多个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头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（如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8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头），每个头独立生成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QKV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并计算注意力，最后将所有头的结果拼接，通过线性层输出：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750" y="3275965"/>
            <a:ext cx="5450205" cy="286893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540" y="1417320"/>
            <a:ext cx="5091430" cy="9467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490" y="2193290"/>
            <a:ext cx="4927600" cy="609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870" y="2673350"/>
            <a:ext cx="4500880" cy="392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 Transformer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1964055" y="1143000"/>
            <a:ext cx="5079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6.2 </a:t>
            </a:r>
            <a:r>
              <a:rPr kumimoji="1" lang="en-US" altLang="zh-CN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Transformer</a:t>
            </a:r>
            <a:r>
              <a:rPr kumimoji="1" lang="zh-CN" altLang="en-US" sz="20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架构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0" name="图片 9"/>
          <p:cNvPicPr/>
          <p:nvPr/>
        </p:nvPicPr>
        <p:blipFill>
          <a:blip r:embed="rId2"/>
          <a:stretch>
            <a:fillRect/>
          </a:stretch>
        </p:blipFill>
        <p:spPr>
          <a:xfrm>
            <a:off x="8325485" y="2115820"/>
            <a:ext cx="2936240" cy="450786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441450" y="1527175"/>
            <a:ext cx="5927725" cy="274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编码器（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Encoder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）：将输入文本转换为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包含全局上下文的特征向量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Add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：残差连接（输入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+ 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多头注意力输出），缓解梯度消失；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 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Norm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：层归一化，稳定训练分布；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解码器（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Decoder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）：基于编码器的特征向量，逐词生成输出（如翻译结果）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掩码（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Mask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）：训练时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“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遮挡未来词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”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（模拟真实推理场景；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 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63046" y="86709"/>
            <a:ext cx="1072280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 Transformer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1964055" y="1143000"/>
            <a:ext cx="5079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6.3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词嵌入与训练结果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055" y="1541780"/>
            <a:ext cx="7811135" cy="14966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135" y="3333115"/>
            <a:ext cx="4888865" cy="21577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8965" y="3429000"/>
            <a:ext cx="5292725" cy="2061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ABLE_ENDDRAG_ORIGIN_RECT" val="258*36"/>
  <p:tag name="TABLE_ENDDRAG_RECT" val="573*376*258*36"/>
</p:tagLst>
</file>

<file path=ppt/tags/tag3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4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5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6.xml><?xml version="1.0" encoding="utf-8"?>
<p:tagLst xmlns:p="http://schemas.openxmlformats.org/presentationml/2006/main">
  <p:tag name="TABLE_ENDDRAG_ORIGIN_RECT" val="155*29"/>
  <p:tag name="TABLE_ENDDRAG_RECT" val="416*376*155*29"/>
  <p:tag name="KSO_WM_BEAUTIFY_FLAG" val=""/>
</p:tagLst>
</file>

<file path=ppt/tags/tag7.xml><?xml version="1.0" encoding="utf-8"?>
<p:tagLst xmlns:p="http://schemas.openxmlformats.org/presentationml/2006/main">
  <p:tag name="TABLE_ENDDRAG_ORIGIN_RECT" val="434*377"/>
  <p:tag name="TABLE_ENDDRAG_RECT" val="491*113*434*377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3308</Words>
  <Application>WPS 演示</Application>
  <PresentationFormat>宽屏</PresentationFormat>
  <Paragraphs>281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Times New Roman Regular</vt:lpstr>
      <vt:lpstr>Times New Roman</vt:lpstr>
      <vt:lpstr>Times New Roman Bold</vt:lpstr>
      <vt:lpstr>Times New Roman Bold Italic</vt:lpstr>
      <vt:lpstr>等线</vt:lpstr>
      <vt:lpstr>-apple-system</vt:lpstr>
      <vt:lpstr>Wingdings</vt:lpstr>
      <vt:lpstr>Inter</vt:lpstr>
      <vt:lpstr>Arial Unicode MS</vt:lpstr>
      <vt:lpstr>等线 Light</vt:lpstr>
      <vt:lpstr>Segoe Print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liao huang</dc:creator>
  <cp:lastModifiedBy>钟智鹏</cp:lastModifiedBy>
  <cp:revision>7</cp:revision>
  <dcterms:created xsi:type="dcterms:W3CDTF">2025-08-20T06:57:00Z</dcterms:created>
  <dcterms:modified xsi:type="dcterms:W3CDTF">2025-10-24T10:27:48Z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B528F84DAE9B45ECA75DB76654BFFE86_13</vt:lpwstr>
  </property>
  <property fmtid="{D5CDD505-2E9C-101B-9397-08002B2CF9AE}" pid="3" name="KSOProductBuildVer">
    <vt:lpwstr>2052-12.1.0.23125</vt:lpwstr>
  </property>
</Properties>
</file>