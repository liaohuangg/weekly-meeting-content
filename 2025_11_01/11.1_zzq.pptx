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72" r:id="rId3"/>
    <p:sldId id="313" r:id="rId4"/>
    <p:sldId id="333" r:id="rId5"/>
    <p:sldId id="334" r:id="rId6"/>
    <p:sldId id="335" r:id="rId7"/>
    <p:sldId id="336" r:id="rId8"/>
    <p:sldId id="338" r:id="rId9"/>
    <p:sldId id="337" r:id="rId10"/>
    <p:sldId id="339" r:id="rId11"/>
    <p:sldId id="340"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0DD1131-E15C-442C-ADEB-F5A77FD726CB}">
          <p14:sldIdLst>
            <p14:sldId id="257"/>
            <p14:sldId id="272"/>
          </p14:sldIdLst>
        </p14:section>
        <p14:section name="1" id="{3CE12ECF-0D44-4DDB-A890-C7DBAE28C2AA}">
          <p14:sldIdLst>
            <p14:sldId id="313"/>
            <p14:sldId id="333"/>
            <p14:sldId id="334"/>
            <p14:sldId id="335"/>
            <p14:sldId id="336"/>
            <p14:sldId id="338"/>
            <p14:sldId id="337"/>
            <p14:sldId id="339"/>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41E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01" autoAdjust="0"/>
    <p:restoredTop sz="79917" autoAdjust="0"/>
  </p:normalViewPr>
  <p:slideViewPr>
    <p:cSldViewPr snapToGrid="0">
      <p:cViewPr varScale="1">
        <p:scale>
          <a:sx n="59" d="100"/>
          <a:sy n="59" d="100"/>
        </p:scale>
        <p:origin x="181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31D2-F85F-48D9-85E1-643E8A75D6DA}" type="datetimeFigureOut">
              <a:rPr lang="zh-CN" altLang="en-US" smtClean="0"/>
              <a:t>2025-11-01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6FDFC-FEF2-4F9D-A0AF-43D16A2C7AA4}" type="slidenum">
              <a:rPr lang="zh-CN" altLang="en-US" smtClean="0"/>
              <a:t>‹#›</a:t>
            </a:fld>
            <a:endParaRPr lang="zh-CN" altLang="en-US"/>
          </a:p>
        </p:txBody>
      </p:sp>
    </p:spTree>
    <p:extLst>
      <p:ext uri="{BB962C8B-B14F-4D97-AF65-F5344CB8AC3E}">
        <p14:creationId xmlns:p14="http://schemas.microsoft.com/office/powerpoint/2010/main" val="3863361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1</a:t>
            </a:fld>
            <a:endParaRPr lang="zh-CN" altLang="en-US"/>
          </a:p>
        </p:txBody>
      </p:sp>
    </p:spTree>
    <p:extLst>
      <p:ext uri="{BB962C8B-B14F-4D97-AF65-F5344CB8AC3E}">
        <p14:creationId xmlns:p14="http://schemas.microsoft.com/office/powerpoint/2010/main" val="360464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E556971-6A61-4E96-B3F0-2E6ACC9F9D62}" type="slidenum">
              <a:rPr lang="zh-CN" altLang="en-US" smtClean="0"/>
              <a:t>2</a:t>
            </a:fld>
            <a:endParaRPr lang="zh-CN" altLang="en-US"/>
          </a:p>
        </p:txBody>
      </p:sp>
    </p:spTree>
    <p:extLst>
      <p:ext uri="{BB962C8B-B14F-4D97-AF65-F5344CB8AC3E}">
        <p14:creationId xmlns:p14="http://schemas.microsoft.com/office/powerpoint/2010/main" val="1587888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768A4-6C70-36EE-8BE2-F36C0C8C71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60BCC5-AE06-1DF5-5F41-59AB9C5B0B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FB7706-69C0-60C4-935D-2556FFE781FA}"/>
              </a:ext>
            </a:extLst>
          </p:cNvPr>
          <p:cNvSpPr>
            <a:spLocks noGrp="1"/>
          </p:cNvSpPr>
          <p:nvPr>
            <p:ph type="body" idx="1"/>
          </p:nvPr>
        </p:nvSpPr>
        <p:spPr/>
        <p:txBody>
          <a:bodyPr/>
          <a:lstStyle/>
          <a:p>
            <a:pPr algn="l" fontAlgn="base">
              <a:lnSpc>
                <a:spcPts val="1800"/>
              </a:lnSpc>
              <a:buNone/>
            </a:pPr>
            <a:endParaRPr lang="zh-CN" altLang="en-US" b="0" i="0" dirty="0">
              <a:solidFill>
                <a:srgbClr val="060607"/>
              </a:solidFill>
              <a:effectLst/>
              <a:latin typeface="-apple-system"/>
            </a:endParaRPr>
          </a:p>
        </p:txBody>
      </p:sp>
      <p:sp>
        <p:nvSpPr>
          <p:cNvPr id="4" name="灯片编号占位符 3">
            <a:extLst>
              <a:ext uri="{FF2B5EF4-FFF2-40B4-BE49-F238E27FC236}">
                <a16:creationId xmlns:a16="http://schemas.microsoft.com/office/drawing/2014/main" id="{26E8CBD5-2A1D-D959-EE75-D56F1A4F1AFB}"/>
              </a:ext>
            </a:extLst>
          </p:cNvPr>
          <p:cNvSpPr>
            <a:spLocks noGrp="1"/>
          </p:cNvSpPr>
          <p:nvPr>
            <p:ph type="sldNum" sz="quarter" idx="5"/>
          </p:nvPr>
        </p:nvSpPr>
        <p:spPr/>
        <p:txBody>
          <a:bodyPr/>
          <a:lstStyle/>
          <a:p>
            <a:fld id="{8E556971-6A61-4E96-B3F0-2E6ACC9F9D62}" type="slidenum">
              <a:rPr lang="zh-CN" altLang="en-US" smtClean="0"/>
              <a:t>3</a:t>
            </a:fld>
            <a:endParaRPr lang="zh-CN" altLang="en-US"/>
          </a:p>
        </p:txBody>
      </p:sp>
    </p:spTree>
    <p:extLst>
      <p:ext uri="{BB962C8B-B14F-4D97-AF65-F5344CB8AC3E}">
        <p14:creationId xmlns:p14="http://schemas.microsoft.com/office/powerpoint/2010/main" val="1491299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F323F-D7FA-897F-162D-3C70FBB4AA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4B1550-077A-3C4D-5E3C-CAD9410B21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5CA16A-0649-48C2-22A1-231A478481AE}"/>
              </a:ext>
            </a:extLst>
          </p:cNvPr>
          <p:cNvSpPr>
            <a:spLocks noGrp="1"/>
          </p:cNvSpPr>
          <p:nvPr>
            <p:ph type="body" idx="1"/>
          </p:nvPr>
        </p:nvSpPr>
        <p:spPr/>
        <p:txBody>
          <a:bodyPr/>
          <a:lstStyle/>
          <a:p>
            <a:r>
              <a:rPr lang="zh-CN" altLang="en-US" dirty="0"/>
              <a:t>神经网络的性能会受到参数量的限制，所以如果要提高一个模型的性能，它的参数量肯定也会随之增长，同时计算量与参数量又呈二次增长的关系。</a:t>
            </a:r>
            <a:endParaRPr lang="en-US" altLang="zh-CN" dirty="0"/>
          </a:p>
          <a:p>
            <a:r>
              <a:rPr lang="zh-CN" altLang="en-US" dirty="0"/>
              <a:t>所以这篇论文就提出了稀疏门控的</a:t>
            </a:r>
            <a:r>
              <a:rPr lang="en-US" altLang="zh-CN" dirty="0" err="1"/>
              <a:t>MoE</a:t>
            </a:r>
            <a:r>
              <a:rPr lang="zh-CN" altLang="en-US" dirty="0"/>
              <a:t>，通过它在控制计算量的前提下，将模型的参数量提升至千亿级别。</a:t>
            </a:r>
            <a:endParaRPr lang="en-US" altLang="zh-CN" dirty="0"/>
          </a:p>
        </p:txBody>
      </p:sp>
      <p:sp>
        <p:nvSpPr>
          <p:cNvPr id="4" name="灯片编号占位符 3">
            <a:extLst>
              <a:ext uri="{FF2B5EF4-FFF2-40B4-BE49-F238E27FC236}">
                <a16:creationId xmlns:a16="http://schemas.microsoft.com/office/drawing/2014/main" id="{6464A8C9-9B66-15F6-5B98-6F3D9055B633}"/>
              </a:ext>
            </a:extLst>
          </p:cNvPr>
          <p:cNvSpPr>
            <a:spLocks noGrp="1"/>
          </p:cNvSpPr>
          <p:nvPr>
            <p:ph type="sldNum" sz="quarter" idx="5"/>
          </p:nvPr>
        </p:nvSpPr>
        <p:spPr/>
        <p:txBody>
          <a:bodyPr/>
          <a:lstStyle/>
          <a:p>
            <a:fld id="{8E556971-6A61-4E96-B3F0-2E6ACC9F9D62}" type="slidenum">
              <a:rPr lang="zh-CN" altLang="en-US" smtClean="0"/>
              <a:t>4</a:t>
            </a:fld>
            <a:endParaRPr lang="zh-CN" altLang="en-US"/>
          </a:p>
        </p:txBody>
      </p:sp>
    </p:spTree>
    <p:extLst>
      <p:ext uri="{BB962C8B-B14F-4D97-AF65-F5344CB8AC3E}">
        <p14:creationId xmlns:p14="http://schemas.microsoft.com/office/powerpoint/2010/main" val="14421925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5E653-FD3F-02F2-360B-8AE6A51640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F0611B-78C1-874A-A9FE-25DF1A0643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FE5DAA-7D4E-A160-3E0F-DBE4DA515B76}"/>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D0415CF-632B-B03C-4591-28C41D355F3A}"/>
              </a:ext>
            </a:extLst>
          </p:cNvPr>
          <p:cNvSpPr>
            <a:spLocks noGrp="1"/>
          </p:cNvSpPr>
          <p:nvPr>
            <p:ph type="sldNum" sz="quarter" idx="5"/>
          </p:nvPr>
        </p:nvSpPr>
        <p:spPr/>
        <p:txBody>
          <a:bodyPr/>
          <a:lstStyle/>
          <a:p>
            <a:fld id="{8E556971-6A61-4E96-B3F0-2E6ACC9F9D62}" type="slidenum">
              <a:rPr lang="zh-CN" altLang="en-US" smtClean="0"/>
              <a:t>5</a:t>
            </a:fld>
            <a:endParaRPr lang="zh-CN" altLang="en-US"/>
          </a:p>
        </p:txBody>
      </p:sp>
    </p:spTree>
    <p:extLst>
      <p:ext uri="{BB962C8B-B14F-4D97-AF65-F5344CB8AC3E}">
        <p14:creationId xmlns:p14="http://schemas.microsoft.com/office/powerpoint/2010/main" val="3973183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66035-2019-60E0-E572-F0704EE2C7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54F86D3-4E73-01B2-E49E-763248E87F9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2A9B83-79AB-6C2B-F1F3-CA0ECD71391F}"/>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D3053B80-AA2D-9035-E20D-0B29948EE010}"/>
              </a:ext>
            </a:extLst>
          </p:cNvPr>
          <p:cNvSpPr>
            <a:spLocks noGrp="1"/>
          </p:cNvSpPr>
          <p:nvPr>
            <p:ph type="sldNum" sz="quarter" idx="5"/>
          </p:nvPr>
        </p:nvSpPr>
        <p:spPr/>
        <p:txBody>
          <a:bodyPr/>
          <a:lstStyle/>
          <a:p>
            <a:fld id="{8E556971-6A61-4E96-B3F0-2E6ACC9F9D62}" type="slidenum">
              <a:rPr lang="zh-CN" altLang="en-US" smtClean="0"/>
              <a:t>6</a:t>
            </a:fld>
            <a:endParaRPr lang="zh-CN" altLang="en-US"/>
          </a:p>
        </p:txBody>
      </p:sp>
    </p:spTree>
    <p:extLst>
      <p:ext uri="{BB962C8B-B14F-4D97-AF65-F5344CB8AC3E}">
        <p14:creationId xmlns:p14="http://schemas.microsoft.com/office/powerpoint/2010/main" val="2398440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2F005-ABAF-B80B-07DB-8FCAF07492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CC5176-CD45-34BC-08D0-B84D1427C1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B9BBC27-48DC-9954-8E03-95B33572A142}"/>
              </a:ext>
            </a:extLst>
          </p:cNvPr>
          <p:cNvSpPr>
            <a:spLocks noGrp="1"/>
          </p:cNvSpPr>
          <p:nvPr>
            <p:ph type="body" idx="1"/>
          </p:nvPr>
        </p:nvSpPr>
        <p:spPr/>
        <p:txBody>
          <a:bodyPr/>
          <a:lstStyle/>
          <a:p>
            <a:r>
              <a:rPr lang="zh-CN" altLang="en-US" dirty="0"/>
              <a:t>问题凸显：当专家数量（</a:t>
            </a:r>
            <a:r>
              <a:rPr lang="en-US" altLang="zh-CN" dirty="0"/>
              <a:t>n</a:t>
            </a:r>
            <a:r>
              <a:rPr lang="zh-CN" altLang="en-US" dirty="0"/>
              <a:t>）很大时，对于每个专家来说，它需要处理的有效批次是非常小的。</a:t>
            </a:r>
          </a:p>
          <a:p>
            <a:r>
              <a:rPr lang="zh-CN" altLang="en-US" dirty="0"/>
              <a:t>当我们将专家数量 ​​</a:t>
            </a:r>
            <a:r>
              <a:rPr lang="en-US" altLang="zh-CN" dirty="0"/>
              <a:t>n​​ </a:t>
            </a:r>
            <a:r>
              <a:rPr lang="zh-CN" altLang="en-US" dirty="0"/>
              <a:t>从 </a:t>
            </a:r>
            <a:r>
              <a:rPr lang="en-US" altLang="zh-CN" dirty="0"/>
              <a:t>4 </a:t>
            </a:r>
            <a:r>
              <a:rPr lang="zh-CN" altLang="en-US" dirty="0"/>
              <a:t>增加到 </a:t>
            </a:r>
            <a:r>
              <a:rPr lang="en-US" altLang="zh-CN" dirty="0"/>
              <a:t>1000</a:t>
            </a:r>
            <a:r>
              <a:rPr lang="zh-CN" altLang="en-US" dirty="0"/>
              <a:t>，而 ​​</a:t>
            </a:r>
            <a:r>
              <a:rPr lang="en-US" altLang="zh-CN" dirty="0"/>
              <a:t>k​​ </a:t>
            </a:r>
            <a:r>
              <a:rPr lang="zh-CN" altLang="en-US" dirty="0"/>
              <a:t>保持为 </a:t>
            </a:r>
            <a:r>
              <a:rPr lang="en-US" altLang="zh-CN" dirty="0"/>
              <a:t>2</a:t>
            </a:r>
            <a:r>
              <a:rPr lang="zh-CN" altLang="en-US" dirty="0"/>
              <a:t>，​​</a:t>
            </a:r>
            <a:r>
              <a:rPr lang="en-US" altLang="zh-CN" dirty="0"/>
              <a:t>b​​ </a:t>
            </a:r>
            <a:r>
              <a:rPr lang="zh-CN" altLang="en-US" dirty="0"/>
              <a:t>保持为 </a:t>
            </a:r>
            <a:r>
              <a:rPr lang="en-US" altLang="zh-CN" dirty="0"/>
              <a:t>8 </a:t>
            </a:r>
            <a:r>
              <a:rPr lang="zh-CN" altLang="en-US" dirty="0"/>
              <a:t>时：</a:t>
            </a:r>
            <a:endParaRPr lang="en-US" altLang="zh-CN" dirty="0"/>
          </a:p>
          <a:p>
            <a:r>
              <a:rPr lang="en-US" altLang="zh-CN" dirty="0"/>
              <a:t>​​</a:t>
            </a:r>
            <a:r>
              <a:rPr lang="zh-CN" altLang="en-US" dirty="0"/>
              <a:t>每个专家平均接收的样本数​​ </a:t>
            </a:r>
            <a:r>
              <a:rPr lang="en-US" altLang="zh-CN" dirty="0"/>
              <a:t>=  0.016</a:t>
            </a:r>
          </a:p>
          <a:p>
            <a:r>
              <a:rPr lang="zh-CN" altLang="en-US" dirty="0"/>
              <a:t>这显然不合理，因为样本数不能是小数。在实际中，这意味着在拥有</a:t>
            </a:r>
            <a:r>
              <a:rPr lang="en-US" altLang="zh-CN" dirty="0"/>
              <a:t>1000</a:t>
            </a:r>
            <a:r>
              <a:rPr lang="zh-CN" altLang="en-US" dirty="0"/>
              <a:t>个专家的</a:t>
            </a:r>
            <a:r>
              <a:rPr lang="en-US" altLang="zh-CN" dirty="0" err="1"/>
              <a:t>MoE</a:t>
            </a:r>
            <a:r>
              <a:rPr lang="zh-CN" altLang="en-US" dirty="0"/>
              <a:t>层中，对于一个仅有</a:t>
            </a:r>
            <a:r>
              <a:rPr lang="en-US" altLang="zh-CN" dirty="0"/>
              <a:t>8</a:t>
            </a:r>
            <a:r>
              <a:rPr lang="zh-CN" altLang="en-US" dirty="0"/>
              <a:t>个样本的批次，​​绝大多数专家（超过</a:t>
            </a:r>
            <a:r>
              <a:rPr lang="en-US" altLang="zh-CN" dirty="0"/>
              <a:t>996</a:t>
            </a:r>
            <a:r>
              <a:rPr lang="zh-CN" altLang="en-US" dirty="0"/>
              <a:t>个）根本不会被任何样本选中，而极少数被选中的专家也仅能处理</a:t>
            </a:r>
            <a:r>
              <a:rPr lang="en-US" altLang="zh-CN" dirty="0"/>
              <a:t>1</a:t>
            </a:r>
            <a:r>
              <a:rPr lang="zh-CN" altLang="en-US" dirty="0"/>
              <a:t>个或</a:t>
            </a:r>
            <a:r>
              <a:rPr lang="en-US" altLang="zh-CN" dirty="0"/>
              <a:t>2</a:t>
            </a:r>
            <a:r>
              <a:rPr lang="zh-CN" altLang="en-US" dirty="0"/>
              <a:t>个样本​​。</a:t>
            </a:r>
          </a:p>
          <a:p>
            <a:r>
              <a:rPr lang="zh-CN" altLang="en-US" dirty="0"/>
              <a:t>这就是“批次缩小”问题：​​从整个模型的角度看，批次大小是</a:t>
            </a:r>
            <a:r>
              <a:rPr lang="en-US" altLang="zh-CN" dirty="0"/>
              <a:t>b</a:t>
            </a:r>
            <a:r>
              <a:rPr lang="zh-CN" altLang="en-US" dirty="0"/>
              <a:t>，但对于每个专家来说，它需要处理的“有效批次”非常小​​。在现代</a:t>
            </a:r>
            <a:r>
              <a:rPr lang="en-US" altLang="zh-CN" dirty="0"/>
              <a:t>GPU</a:t>
            </a:r>
            <a:r>
              <a:rPr lang="zh-CN" altLang="en-US" dirty="0"/>
              <a:t>上，处理大量小矩阵的效率远低于处理单个大矩阵，因此这会导致严重的计算效率低下。</a:t>
            </a:r>
            <a:endParaRPr lang="en-US" altLang="zh-CN" dirty="0"/>
          </a:p>
          <a:p>
            <a:r>
              <a:rPr lang="zh-CN" altLang="en-US" b="0" i="0" dirty="0">
                <a:effectLst/>
                <a:latin typeface="-apple-system"/>
              </a:rPr>
              <a:t>在传统数据并行中，我们会在 ​​</a:t>
            </a:r>
            <a:r>
              <a:rPr lang="en-US" altLang="zh-CN" b="0" i="0" dirty="0">
                <a:effectLst/>
                <a:latin typeface="-apple-system"/>
              </a:rPr>
              <a:t>D​​ </a:t>
            </a:r>
            <a:r>
              <a:rPr lang="zh-CN" altLang="en-US" b="0" i="0" dirty="0">
                <a:effectLst/>
                <a:latin typeface="-apple-system"/>
              </a:rPr>
              <a:t>个设备上复制 ​​</a:t>
            </a:r>
            <a:r>
              <a:rPr lang="en-US" altLang="zh-CN" b="0" i="0" dirty="0">
                <a:effectLst/>
                <a:latin typeface="-apple-system"/>
              </a:rPr>
              <a:t>D​​ </a:t>
            </a:r>
            <a:r>
              <a:rPr lang="zh-CN" altLang="en-US" b="0" i="0" dirty="0">
                <a:effectLst/>
                <a:latin typeface="-apple-system"/>
              </a:rPr>
              <a:t>份完整的模型。每个设备独立处理一个完整的批次 ​​</a:t>
            </a:r>
            <a:r>
              <a:rPr lang="en-US" altLang="zh-CN" b="0" i="0" dirty="0">
                <a:effectLst/>
                <a:latin typeface="-apple-system"/>
              </a:rPr>
              <a:t>b</a:t>
            </a:r>
            <a:r>
              <a:rPr lang="zh-CN" altLang="en-US" b="0" i="0" dirty="0">
                <a:effectLst/>
                <a:latin typeface="-apple-system"/>
              </a:rPr>
              <a:t>（总批次</a:t>
            </a:r>
            <a:r>
              <a:rPr lang="en-US" altLang="zh-CN" b="0" i="0" dirty="0">
                <a:effectLst/>
                <a:latin typeface="-apple-system"/>
              </a:rPr>
              <a:t>b*4</a:t>
            </a:r>
            <a:r>
              <a:rPr lang="zh-CN" altLang="en-US" b="0" i="0" dirty="0">
                <a:effectLst/>
                <a:latin typeface="-apple-system"/>
              </a:rPr>
              <a:t>）</a:t>
            </a:r>
            <a:r>
              <a:rPr lang="en-US" altLang="zh-CN" b="0" i="0" dirty="0">
                <a:effectLst/>
                <a:latin typeface="-apple-system"/>
              </a:rPr>
              <a:t>​​</a:t>
            </a:r>
            <a:r>
              <a:rPr lang="zh-CN" altLang="en-US" b="0" i="0" dirty="0">
                <a:effectLst/>
                <a:latin typeface="-apple-system"/>
              </a:rPr>
              <a:t>。这时，每个设备上的</a:t>
            </a:r>
            <a:r>
              <a:rPr lang="en-US" altLang="zh-CN" b="0" i="0" dirty="0" err="1">
                <a:effectLst/>
                <a:latin typeface="-apple-system"/>
              </a:rPr>
              <a:t>MoE</a:t>
            </a:r>
            <a:r>
              <a:rPr lang="zh-CN" altLang="en-US" b="0" i="0" dirty="0">
                <a:effectLst/>
                <a:latin typeface="-apple-system"/>
              </a:rPr>
              <a:t>层专家只能看到本地的 ​​</a:t>
            </a:r>
            <a:r>
              <a:rPr lang="en-US" altLang="zh-CN" b="0" i="0" dirty="0">
                <a:effectLst/>
                <a:latin typeface="-apple-system"/>
              </a:rPr>
              <a:t>b​​ </a:t>
            </a:r>
            <a:r>
              <a:rPr lang="zh-CN" altLang="en-US" b="0" i="0" dirty="0">
                <a:effectLst/>
                <a:latin typeface="-apple-system"/>
              </a:rPr>
              <a:t>个样本，批次缩小问题在每个设备内部依然存在。</a:t>
            </a:r>
            <a:endParaRPr lang="en-US" altLang="zh-CN" b="0" i="0" dirty="0">
              <a:effectLst/>
              <a:latin typeface="-apple-system"/>
            </a:endParaRPr>
          </a:p>
          <a:p>
            <a:r>
              <a:rPr lang="zh-CN" altLang="en-US" b="0" i="0" dirty="0">
                <a:effectLst/>
                <a:latin typeface="-apple-system"/>
              </a:rPr>
              <a:t>在这个论文中，它提出了一种混合并行策略，它在</a:t>
            </a:r>
            <a:r>
              <a:rPr lang="en-US" altLang="zh-CN" b="0" i="0" dirty="0">
                <a:effectLst/>
                <a:latin typeface="-apple-system"/>
              </a:rPr>
              <a:t>D</a:t>
            </a:r>
            <a:r>
              <a:rPr lang="zh-CN" altLang="en-US" b="0" i="0" dirty="0">
                <a:effectLst/>
                <a:latin typeface="-apple-system"/>
              </a:rPr>
              <a:t>个</a:t>
            </a:r>
            <a:r>
              <a:rPr lang="en-US" altLang="zh-CN" b="0" i="0" dirty="0">
                <a:effectLst/>
                <a:latin typeface="-apple-system"/>
              </a:rPr>
              <a:t>GPU</a:t>
            </a:r>
            <a:r>
              <a:rPr lang="zh-CN" altLang="en-US" b="0" i="0" dirty="0">
                <a:effectLst/>
                <a:latin typeface="-apple-system"/>
              </a:rPr>
              <a:t>上只复制专家层之前的模型，专家层则平均分到</a:t>
            </a:r>
            <a:r>
              <a:rPr lang="en-US" altLang="zh-CN" b="0" i="0" dirty="0">
                <a:effectLst/>
                <a:latin typeface="-apple-system"/>
              </a:rPr>
              <a:t>D</a:t>
            </a:r>
            <a:r>
              <a:rPr lang="zh-CN" altLang="en-US" b="0" i="0" dirty="0">
                <a:effectLst/>
                <a:latin typeface="-apple-system"/>
              </a:rPr>
              <a:t>个设备上，然后在由门控层生成输出之后，再将选择同一样本的专家收集起来一起处理，这样做就提高了每个专家的有效批次大小</a:t>
            </a:r>
            <a:endParaRPr lang="en-US" altLang="zh-CN" b="0" i="0" dirty="0">
              <a:effectLst/>
              <a:latin typeface="-apple-system"/>
            </a:endParaRPr>
          </a:p>
          <a:p>
            <a:r>
              <a:rPr lang="zh-CN" altLang="en-US" b="0" i="0" dirty="0">
                <a:effectLst/>
                <a:latin typeface="-apple-system"/>
              </a:rPr>
              <a:t>就相当于比如说我现在有四个</a:t>
            </a:r>
            <a:r>
              <a:rPr lang="en-US" altLang="zh-CN" b="0" i="0" dirty="0">
                <a:effectLst/>
                <a:latin typeface="-apple-system"/>
              </a:rPr>
              <a:t>GPU</a:t>
            </a:r>
            <a:r>
              <a:rPr lang="zh-CN" altLang="en-US" b="0" i="0" dirty="0">
                <a:effectLst/>
                <a:latin typeface="-apple-system"/>
              </a:rPr>
              <a:t>，总批次</a:t>
            </a:r>
            <a:r>
              <a:rPr lang="en-US" altLang="zh-CN" b="0" i="0" dirty="0">
                <a:effectLst/>
                <a:latin typeface="-apple-system"/>
              </a:rPr>
              <a:t>32</a:t>
            </a:r>
            <a:r>
              <a:rPr lang="zh-CN" altLang="en-US" b="0" i="0" dirty="0">
                <a:effectLst/>
                <a:latin typeface="-apple-system"/>
              </a:rPr>
              <a:t>，分到每个</a:t>
            </a:r>
            <a:r>
              <a:rPr lang="en-US" altLang="zh-CN" b="0" i="0" dirty="0">
                <a:effectLst/>
                <a:latin typeface="-apple-system"/>
              </a:rPr>
              <a:t>GPU</a:t>
            </a:r>
            <a:r>
              <a:rPr lang="zh-CN" altLang="en-US" b="0" i="0" dirty="0">
                <a:effectLst/>
                <a:latin typeface="-apple-system"/>
              </a:rPr>
              <a:t>上的批次就是</a:t>
            </a:r>
            <a:r>
              <a:rPr lang="en-US" altLang="zh-CN" b="0" i="0" dirty="0">
                <a:effectLst/>
                <a:latin typeface="-apple-system"/>
              </a:rPr>
              <a:t>8</a:t>
            </a:r>
            <a:r>
              <a:rPr lang="zh-CN" altLang="en-US" b="0" i="0" dirty="0">
                <a:effectLst/>
                <a:latin typeface="-apple-system"/>
              </a:rPr>
              <a:t>个</a:t>
            </a:r>
            <a:r>
              <a:rPr lang="en-US" altLang="zh-CN" b="0" i="0" dirty="0">
                <a:effectLst/>
                <a:latin typeface="-apple-system"/>
              </a:rPr>
              <a:t>batch</a:t>
            </a:r>
            <a:r>
              <a:rPr lang="zh-CN" altLang="en-US" b="0" i="0" dirty="0">
                <a:effectLst/>
                <a:latin typeface="-apple-system"/>
              </a:rPr>
              <a:t>，专家总数假设是</a:t>
            </a:r>
            <a:r>
              <a:rPr lang="en-US" altLang="zh-CN" b="0" i="0" dirty="0">
                <a:effectLst/>
                <a:latin typeface="-apple-system"/>
              </a:rPr>
              <a:t>1000</a:t>
            </a:r>
            <a:r>
              <a:rPr lang="zh-CN" altLang="en-US" b="0" i="0" dirty="0">
                <a:effectLst/>
                <a:latin typeface="-apple-system"/>
              </a:rPr>
              <a:t>，每个输入激活的专家数是</a:t>
            </a:r>
            <a:r>
              <a:rPr lang="en-US" altLang="zh-CN" b="0" i="0" dirty="0">
                <a:effectLst/>
                <a:latin typeface="-apple-system"/>
              </a:rPr>
              <a:t>2</a:t>
            </a:r>
            <a:r>
              <a:rPr lang="zh-CN" altLang="en-US" b="0" i="0" dirty="0">
                <a:effectLst/>
                <a:latin typeface="-apple-system"/>
              </a:rPr>
              <a:t>，那这样计算每个专家能够得到的只有</a:t>
            </a:r>
            <a:r>
              <a:rPr lang="en-US" altLang="zh-CN" b="0" i="0" dirty="0">
                <a:effectLst/>
                <a:latin typeface="-apple-system"/>
              </a:rPr>
              <a:t>0.016</a:t>
            </a:r>
            <a:r>
              <a:rPr lang="zh-CN" altLang="en-US" b="0" i="0" dirty="0">
                <a:effectLst/>
                <a:latin typeface="-apple-system"/>
              </a:rPr>
              <a:t>，也就是说</a:t>
            </a:r>
            <a:r>
              <a:rPr lang="zh-CN" altLang="en-US" b="0" i="0" dirty="0">
                <a:solidFill>
                  <a:srgbClr val="000000"/>
                </a:solidFill>
                <a:effectLst/>
                <a:latin typeface="-apple-system"/>
              </a:rPr>
              <a:t>设备</a:t>
            </a:r>
            <a:r>
              <a:rPr lang="en-US" altLang="zh-CN" b="0" i="0" dirty="0">
                <a:solidFill>
                  <a:srgbClr val="000000"/>
                </a:solidFill>
                <a:effectLst/>
                <a:latin typeface="-apple-system"/>
              </a:rPr>
              <a:t>1</a:t>
            </a:r>
            <a:r>
              <a:rPr lang="zh-CN" altLang="en-US" b="0" i="0" dirty="0">
                <a:solidFill>
                  <a:srgbClr val="000000"/>
                </a:solidFill>
                <a:effectLst/>
                <a:latin typeface="-apple-system"/>
              </a:rPr>
              <a:t>上的</a:t>
            </a:r>
            <a:r>
              <a:rPr lang="en-US" altLang="zh-CN" b="0" i="0" dirty="0">
                <a:solidFill>
                  <a:srgbClr val="000000"/>
                </a:solidFill>
                <a:effectLst/>
                <a:latin typeface="-apple-system"/>
              </a:rPr>
              <a:t>1000</a:t>
            </a:r>
            <a:r>
              <a:rPr lang="zh-CN" altLang="en-US" b="0" i="0" dirty="0">
                <a:solidFill>
                  <a:srgbClr val="000000"/>
                </a:solidFill>
                <a:effectLst/>
                <a:latin typeface="-apple-system"/>
              </a:rPr>
              <a:t>个专家中，只有极少数（比如大约</a:t>
            </a:r>
            <a:r>
              <a:rPr lang="en-US" altLang="zh-CN" b="0" i="0" dirty="0">
                <a:solidFill>
                  <a:srgbClr val="000000"/>
                </a:solidFill>
                <a:effectLst/>
                <a:latin typeface="-apple-system"/>
              </a:rPr>
              <a:t>16</a:t>
            </a:r>
            <a:r>
              <a:rPr lang="zh-CN" altLang="en-US" b="0" i="0" dirty="0">
                <a:solidFill>
                  <a:srgbClr val="000000"/>
                </a:solidFill>
                <a:effectLst/>
                <a:latin typeface="-apple-system"/>
              </a:rPr>
              <a:t>个）专家会收到</a:t>
            </a:r>
            <a:r>
              <a:rPr lang="en-US" altLang="zh-CN" b="0" i="0" dirty="0">
                <a:solidFill>
                  <a:srgbClr val="000000"/>
                </a:solidFill>
                <a:effectLst/>
                <a:latin typeface="-apple-system"/>
              </a:rPr>
              <a:t>1</a:t>
            </a:r>
            <a:r>
              <a:rPr lang="zh-CN" altLang="en-US" b="0" i="0" dirty="0">
                <a:solidFill>
                  <a:srgbClr val="000000"/>
                </a:solidFill>
                <a:effectLst/>
                <a:latin typeface="-apple-system"/>
              </a:rPr>
              <a:t>个样本，而另外</a:t>
            </a:r>
            <a:r>
              <a:rPr lang="en-US" altLang="zh-CN" b="0" i="0" dirty="0">
                <a:solidFill>
                  <a:srgbClr val="000000"/>
                </a:solidFill>
                <a:effectLst/>
                <a:latin typeface="-apple-system"/>
              </a:rPr>
              <a:t>984</a:t>
            </a:r>
            <a:r>
              <a:rPr lang="zh-CN" altLang="en-US" b="0" i="0" dirty="0">
                <a:solidFill>
                  <a:srgbClr val="000000"/>
                </a:solidFill>
                <a:effectLst/>
                <a:latin typeface="-apple-system"/>
              </a:rPr>
              <a:t>个专家在这个计算步骤中完全处于闲置状态。</a:t>
            </a:r>
            <a:endParaRPr lang="en-US" altLang="zh-CN" b="0" i="0" dirty="0">
              <a:solidFill>
                <a:srgbClr val="000000"/>
              </a:solidFill>
              <a:effectLst/>
              <a:latin typeface="-apple-system"/>
            </a:endParaRPr>
          </a:p>
          <a:p>
            <a:r>
              <a:rPr lang="zh-CN" altLang="en-US" b="0" i="0" dirty="0">
                <a:solidFill>
                  <a:srgbClr val="000000"/>
                </a:solidFill>
                <a:effectLst/>
                <a:latin typeface="-apple-system"/>
              </a:rPr>
              <a:t>但是如果把专家平均分到各个设备上，这反过来就相当于原来所有设备同一类型的专家有</a:t>
            </a:r>
            <a:r>
              <a:rPr lang="en-US" altLang="zh-CN" b="0" i="0" dirty="0">
                <a:solidFill>
                  <a:srgbClr val="000000"/>
                </a:solidFill>
                <a:effectLst/>
                <a:latin typeface="-apple-system"/>
              </a:rPr>
              <a:t>4</a:t>
            </a:r>
            <a:r>
              <a:rPr lang="zh-CN" altLang="en-US" b="0" i="0" dirty="0">
                <a:solidFill>
                  <a:srgbClr val="000000"/>
                </a:solidFill>
                <a:effectLst/>
                <a:latin typeface="-apple-system"/>
              </a:rPr>
              <a:t>个，现在只有</a:t>
            </a:r>
            <a:r>
              <a:rPr lang="en-US" altLang="zh-CN" b="0" i="0" dirty="0">
                <a:solidFill>
                  <a:srgbClr val="000000"/>
                </a:solidFill>
                <a:effectLst/>
                <a:latin typeface="-apple-system"/>
              </a:rPr>
              <a:t>1</a:t>
            </a:r>
            <a:r>
              <a:rPr lang="zh-CN" altLang="en-US" b="0" i="0" dirty="0">
                <a:solidFill>
                  <a:srgbClr val="000000"/>
                </a:solidFill>
                <a:effectLst/>
                <a:latin typeface="-apple-system"/>
              </a:rPr>
              <a:t>个，那这一个能处理到的样本不就是原来平均分到各个设备的样本总和吗，所以每个专家的有效批次提高了</a:t>
            </a:r>
            <a:r>
              <a:rPr lang="en-US" altLang="zh-CN" b="0" i="0" dirty="0">
                <a:solidFill>
                  <a:srgbClr val="000000"/>
                </a:solidFill>
                <a:effectLst/>
                <a:latin typeface="-apple-system"/>
              </a:rPr>
              <a:t>4</a:t>
            </a:r>
            <a:r>
              <a:rPr lang="zh-CN" altLang="en-US" b="0" i="0" dirty="0">
                <a:solidFill>
                  <a:srgbClr val="000000"/>
                </a:solidFill>
                <a:effectLst/>
                <a:latin typeface="-apple-system"/>
              </a:rPr>
              <a:t>倍。</a:t>
            </a:r>
            <a:endParaRPr lang="en-US" altLang="zh-CN" dirty="0"/>
          </a:p>
        </p:txBody>
      </p:sp>
      <p:sp>
        <p:nvSpPr>
          <p:cNvPr id="4" name="灯片编号占位符 3">
            <a:extLst>
              <a:ext uri="{FF2B5EF4-FFF2-40B4-BE49-F238E27FC236}">
                <a16:creationId xmlns:a16="http://schemas.microsoft.com/office/drawing/2014/main" id="{F00E93E1-38B5-E07C-5785-DE713EBB597F}"/>
              </a:ext>
            </a:extLst>
          </p:cNvPr>
          <p:cNvSpPr>
            <a:spLocks noGrp="1"/>
          </p:cNvSpPr>
          <p:nvPr>
            <p:ph type="sldNum" sz="quarter" idx="5"/>
          </p:nvPr>
        </p:nvSpPr>
        <p:spPr/>
        <p:txBody>
          <a:bodyPr/>
          <a:lstStyle/>
          <a:p>
            <a:fld id="{8E556971-6A61-4E96-B3F0-2E6ACC9F9D62}" type="slidenum">
              <a:rPr lang="zh-CN" altLang="en-US" smtClean="0"/>
              <a:t>7</a:t>
            </a:fld>
            <a:endParaRPr lang="zh-CN" altLang="en-US"/>
          </a:p>
        </p:txBody>
      </p:sp>
    </p:spTree>
    <p:extLst>
      <p:ext uri="{BB962C8B-B14F-4D97-AF65-F5344CB8AC3E}">
        <p14:creationId xmlns:p14="http://schemas.microsoft.com/office/powerpoint/2010/main" val="9261998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FA177-33DD-1123-3D2A-33BAF8DBEB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304F57-E6ED-4E61-C7EF-04C08F3AFC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7125EA-6597-7105-1789-2FE1C47A1265}"/>
              </a:ext>
            </a:extLst>
          </p:cNvPr>
          <p:cNvSpPr>
            <a:spLocks noGrp="1"/>
          </p:cNvSpPr>
          <p:nvPr>
            <p:ph type="body" idx="1"/>
          </p:nvPr>
        </p:nvSpPr>
        <p:spPr/>
        <p:txBody>
          <a:bodyPr/>
          <a:lstStyle/>
          <a:p>
            <a:pPr algn="l" fontAlgn="base">
              <a:spcBef>
                <a:spcPts val="750"/>
              </a:spcBef>
              <a:spcAft>
                <a:spcPts val="750"/>
              </a:spcAft>
              <a:buFont typeface="+mj-lt"/>
              <a:buAutoNum type="arabicPeriod"/>
            </a:pPr>
            <a:r>
              <a:rPr lang="zh-CN" altLang="en-US" b="0" i="0" dirty="0">
                <a:solidFill>
                  <a:srgbClr val="000000"/>
                </a:solidFill>
                <a:effectLst/>
                <a:latin typeface="-apple-system"/>
              </a:rPr>
              <a:t>假设上一层</a:t>
            </a:r>
            <a:r>
              <a:rPr lang="en-US" altLang="zh-CN" b="0" i="0" dirty="0">
                <a:solidFill>
                  <a:srgbClr val="000000"/>
                </a:solidFill>
                <a:effectLst/>
                <a:latin typeface="-apple-system"/>
              </a:rPr>
              <a:t>LSTM</a:t>
            </a:r>
            <a:r>
              <a:rPr lang="zh-CN" altLang="en-US" b="0" i="0" dirty="0">
                <a:solidFill>
                  <a:srgbClr val="000000"/>
                </a:solidFill>
                <a:effectLst/>
                <a:latin typeface="-apple-system"/>
              </a:rPr>
              <a:t>处理了一个长度为</a:t>
            </a:r>
            <a:r>
              <a:rPr lang="en-US" altLang="zh-CN" b="0" i="0" dirty="0">
                <a:solidFill>
                  <a:srgbClr val="000000"/>
                </a:solidFill>
                <a:effectLst/>
                <a:latin typeface="-apple-system"/>
              </a:rPr>
              <a:t>L</a:t>
            </a:r>
            <a:r>
              <a:rPr lang="zh-CN" altLang="en-US" b="0" i="0" dirty="0">
                <a:solidFill>
                  <a:srgbClr val="000000"/>
                </a:solidFill>
                <a:effectLst/>
                <a:latin typeface="-apple-system"/>
              </a:rPr>
              <a:t>的序列，输出了</a:t>
            </a:r>
            <a:r>
              <a:rPr lang="en-US" altLang="zh-CN" b="0" i="0" dirty="0">
                <a:solidFill>
                  <a:srgbClr val="000000"/>
                </a:solidFill>
                <a:effectLst/>
                <a:latin typeface="-apple-system"/>
              </a:rPr>
              <a:t>L</a:t>
            </a:r>
            <a:r>
              <a:rPr lang="zh-CN" altLang="en-US" b="0" i="0" dirty="0">
                <a:solidFill>
                  <a:srgbClr val="000000"/>
                </a:solidFill>
                <a:effectLst/>
                <a:latin typeface="-apple-system"/>
              </a:rPr>
              <a:t>个隐藏状态向量 </a:t>
            </a:r>
            <a:r>
              <a:rPr lang="en-US" altLang="zh-CN" b="0" i="1" dirty="0">
                <a:solidFill>
                  <a:srgbClr val="000000"/>
                </a:solidFill>
                <a:effectLst/>
                <a:latin typeface="KaTeX_Math"/>
              </a:rPr>
              <a:t>h</a:t>
            </a:r>
            <a:r>
              <a:rPr lang="en-US" altLang="zh-CN" b="0" i="0" dirty="0">
                <a:solidFill>
                  <a:srgbClr val="000000"/>
                </a:solidFill>
                <a:effectLst/>
                <a:latin typeface="inherit"/>
              </a:rPr>
              <a:t>1​</a:t>
            </a:r>
            <a:r>
              <a:rPr lang="en-US" altLang="zh-CN" b="0" i="0" dirty="0">
                <a:solidFill>
                  <a:srgbClr val="000000"/>
                </a:solidFill>
                <a:effectLst/>
                <a:latin typeface="KaTeX_Main"/>
              </a:rPr>
              <a:t>,</a:t>
            </a:r>
            <a:r>
              <a:rPr lang="en-US" altLang="zh-CN" b="0" i="1" dirty="0">
                <a:solidFill>
                  <a:srgbClr val="000000"/>
                </a:solidFill>
                <a:effectLst/>
                <a:latin typeface="KaTeX_Math"/>
              </a:rPr>
              <a:t>h</a:t>
            </a:r>
            <a:r>
              <a:rPr lang="en-US" altLang="zh-CN" b="0" i="0" dirty="0">
                <a:solidFill>
                  <a:srgbClr val="000000"/>
                </a:solidFill>
                <a:effectLst/>
                <a:latin typeface="inherit"/>
              </a:rPr>
              <a:t>2​</a:t>
            </a:r>
            <a:r>
              <a:rPr lang="en-US" altLang="zh-CN" b="0" i="0" dirty="0">
                <a:solidFill>
                  <a:srgbClr val="000000"/>
                </a:solidFill>
                <a:effectLst/>
                <a:latin typeface="KaTeX_Main"/>
              </a:rPr>
              <a:t>,...,</a:t>
            </a:r>
            <a:r>
              <a:rPr lang="en-US" altLang="zh-CN" b="0" i="1" dirty="0" err="1">
                <a:solidFill>
                  <a:srgbClr val="000000"/>
                </a:solidFill>
                <a:effectLst/>
                <a:latin typeface="KaTeX_Math"/>
              </a:rPr>
              <a:t>hL</a:t>
            </a:r>
            <a:r>
              <a:rPr lang="zh-CN" altLang="en-US" b="0" i="0" dirty="0">
                <a:solidFill>
                  <a:srgbClr val="000000"/>
                </a:solidFill>
                <a:effectLst/>
                <a:latin typeface="inherit"/>
              </a:rPr>
              <a:t>​</a:t>
            </a:r>
            <a:r>
              <a:rPr lang="zh-CN" altLang="en-US" b="0" i="0" dirty="0">
                <a:solidFill>
                  <a:srgbClr val="000000"/>
                </a:solidFill>
                <a:effectLst/>
                <a:latin typeface="-apple-system"/>
              </a:rPr>
              <a:t>。</a:t>
            </a:r>
          </a:p>
          <a:p>
            <a:pPr algn="l" fontAlgn="base">
              <a:spcBef>
                <a:spcPts val="750"/>
              </a:spcBef>
              <a:spcAft>
                <a:spcPts val="750"/>
              </a:spcAft>
              <a:buFont typeface="+mj-lt"/>
              <a:buNone/>
            </a:pPr>
            <a:r>
              <a:rPr lang="en-US" altLang="zh-CN" b="0" i="0" dirty="0">
                <a:solidFill>
                  <a:srgbClr val="000000"/>
                </a:solidFill>
                <a:effectLst/>
                <a:latin typeface="var(--hy-font-family)"/>
              </a:rPr>
              <a:t>2.</a:t>
            </a:r>
            <a:r>
              <a:rPr lang="zh-CN" altLang="en-US" b="0" i="0" dirty="0">
                <a:solidFill>
                  <a:srgbClr val="000000"/>
                </a:solidFill>
                <a:effectLst/>
                <a:latin typeface="-apple-system"/>
              </a:rPr>
              <a:t>在常规处理中，我们可以按顺序将每个 </a:t>
            </a:r>
            <a:r>
              <a:rPr lang="en-US" altLang="zh-CN" b="0" i="1" dirty="0" err="1">
                <a:solidFill>
                  <a:srgbClr val="000000"/>
                </a:solidFill>
                <a:effectLst/>
                <a:latin typeface="KaTeX_Math"/>
              </a:rPr>
              <a:t>ht</a:t>
            </a:r>
            <a:r>
              <a:rPr lang="zh-CN" altLang="en-US" b="0" i="0" dirty="0">
                <a:solidFill>
                  <a:srgbClr val="000000"/>
                </a:solidFill>
                <a:effectLst/>
                <a:latin typeface="inherit"/>
              </a:rPr>
              <a:t>​</a:t>
            </a:r>
            <a:r>
              <a:rPr lang="zh-CN" altLang="en-US" b="0" i="0" dirty="0">
                <a:solidFill>
                  <a:srgbClr val="000000"/>
                </a:solidFill>
                <a:effectLst/>
                <a:latin typeface="-apple-system"/>
              </a:rPr>
              <a:t>依次输入</a:t>
            </a:r>
            <a:r>
              <a:rPr lang="en-US" altLang="zh-CN" b="0" i="0" dirty="0" err="1">
                <a:solidFill>
                  <a:srgbClr val="000000"/>
                </a:solidFill>
                <a:effectLst/>
                <a:latin typeface="-apple-system"/>
              </a:rPr>
              <a:t>MoE</a:t>
            </a:r>
            <a:r>
              <a:rPr lang="zh-CN" altLang="en-US" b="0" i="0" dirty="0">
                <a:solidFill>
                  <a:srgbClr val="000000"/>
                </a:solidFill>
                <a:effectLst/>
                <a:latin typeface="-apple-system"/>
              </a:rPr>
              <a:t>层。但这意味着</a:t>
            </a:r>
            <a:r>
              <a:rPr lang="en-US" altLang="zh-CN" b="0" i="0" dirty="0" err="1">
                <a:solidFill>
                  <a:srgbClr val="000000"/>
                </a:solidFill>
                <a:effectLst/>
                <a:latin typeface="-apple-system"/>
              </a:rPr>
              <a:t>MoE</a:t>
            </a:r>
            <a:r>
              <a:rPr lang="zh-CN" altLang="en-US" b="0" i="0" dirty="0">
                <a:solidFill>
                  <a:srgbClr val="000000"/>
                </a:solidFill>
                <a:effectLst/>
                <a:latin typeface="-apple-system"/>
              </a:rPr>
              <a:t>层需要被调用</a:t>
            </a:r>
            <a:r>
              <a:rPr lang="en-US" altLang="zh-CN" b="0" i="0" dirty="0">
                <a:solidFill>
                  <a:srgbClr val="000000"/>
                </a:solidFill>
                <a:effectLst/>
                <a:latin typeface="-apple-system"/>
              </a:rPr>
              <a:t>L</a:t>
            </a:r>
            <a:r>
              <a:rPr lang="zh-CN" altLang="en-US" b="0" i="0" dirty="0">
                <a:solidFill>
                  <a:srgbClr val="000000"/>
                </a:solidFill>
                <a:effectLst/>
                <a:latin typeface="-apple-system"/>
              </a:rPr>
              <a:t>次，每次处理一个很小的批次（大小为</a:t>
            </a:r>
            <a:r>
              <a:rPr lang="en-US" altLang="zh-CN" b="0" i="0" dirty="0">
                <a:solidFill>
                  <a:srgbClr val="000000"/>
                </a:solidFill>
                <a:effectLst/>
                <a:latin typeface="-apple-system"/>
              </a:rPr>
              <a:t>1</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pPr algn="l" fontAlgn="base">
              <a:spcBef>
                <a:spcPts val="750"/>
              </a:spcBef>
              <a:spcAft>
                <a:spcPts val="750"/>
              </a:spcAft>
              <a:buFont typeface="+mj-lt"/>
              <a:buNone/>
            </a:pPr>
            <a:r>
              <a:rPr lang="en-US" altLang="zh-CN" b="1" i="0" dirty="0">
                <a:solidFill>
                  <a:srgbClr val="000000"/>
                </a:solidFill>
                <a:effectLst/>
                <a:latin typeface="-apple-system"/>
              </a:rPr>
              <a:t>3.</a:t>
            </a:r>
            <a:r>
              <a:rPr lang="zh-CN" altLang="en-US" b="1" i="0" dirty="0">
                <a:solidFill>
                  <a:srgbClr val="000000"/>
                </a:solidFill>
                <a:effectLst/>
                <a:latin typeface="-apple-system"/>
              </a:rPr>
              <a:t>优化技巧​</a:t>
            </a:r>
            <a:r>
              <a:rPr lang="zh-CN" altLang="en-US" b="0" i="0" dirty="0">
                <a:solidFill>
                  <a:srgbClr val="000000"/>
                </a:solidFill>
                <a:effectLst/>
                <a:latin typeface="-apple-system"/>
              </a:rPr>
              <a:t>​：我们可以等待整个序列的所有</a:t>
            </a:r>
            <a:r>
              <a:rPr lang="en-US" altLang="zh-CN" b="0" i="0" dirty="0">
                <a:solidFill>
                  <a:srgbClr val="000000"/>
                </a:solidFill>
                <a:effectLst/>
                <a:latin typeface="-apple-system"/>
              </a:rPr>
              <a:t>L</a:t>
            </a:r>
            <a:r>
              <a:rPr lang="zh-CN" altLang="en-US" b="0" i="0" dirty="0">
                <a:solidFill>
                  <a:srgbClr val="000000"/>
                </a:solidFill>
                <a:effectLst/>
                <a:latin typeface="-apple-system"/>
              </a:rPr>
              <a:t>个隐藏状态都计算完毕，然后将这</a:t>
            </a:r>
            <a:r>
              <a:rPr lang="en-US" altLang="zh-CN" b="0" i="0" dirty="0">
                <a:solidFill>
                  <a:srgbClr val="000000"/>
                </a:solidFill>
                <a:effectLst/>
                <a:latin typeface="-apple-system"/>
              </a:rPr>
              <a:t>L</a:t>
            </a:r>
            <a:r>
              <a:rPr lang="zh-CN" altLang="en-US" b="0" i="0" dirty="0">
                <a:solidFill>
                  <a:srgbClr val="000000"/>
                </a:solidFill>
                <a:effectLst/>
                <a:latin typeface="-apple-system"/>
              </a:rPr>
              <a:t>个向量​</a:t>
            </a:r>
            <a:r>
              <a:rPr lang="zh-CN" altLang="en-US" b="1" i="0" dirty="0">
                <a:solidFill>
                  <a:srgbClr val="000000"/>
                </a:solidFill>
                <a:effectLst/>
                <a:latin typeface="-apple-system"/>
              </a:rPr>
              <a:t>​堆叠成一个大的二维矩阵（形状为 </a:t>
            </a:r>
            <a:r>
              <a:rPr lang="en-US" altLang="zh-CN" b="1" i="0" dirty="0">
                <a:solidFill>
                  <a:srgbClr val="000000"/>
                </a:solidFill>
                <a:effectLst/>
                <a:latin typeface="-apple-system"/>
              </a:rPr>
              <a:t>[L, </a:t>
            </a:r>
            <a:r>
              <a:rPr lang="en-US" altLang="zh-CN" b="1" i="0" dirty="0" err="1">
                <a:solidFill>
                  <a:srgbClr val="000000"/>
                </a:solidFill>
                <a:effectLst/>
                <a:latin typeface="-apple-system"/>
              </a:rPr>
              <a:t>hidden_dim</a:t>
            </a:r>
            <a:r>
              <a:rPr lang="en-US" altLang="zh-CN" b="1" i="0" dirty="0">
                <a:solidFill>
                  <a:srgbClr val="000000"/>
                </a:solidFill>
                <a:effectLst/>
                <a:latin typeface="-apple-system"/>
              </a:rPr>
              <a:t>]</a:t>
            </a:r>
            <a:r>
              <a:rPr lang="zh-CN" altLang="en-US" b="1" i="0" dirty="0">
                <a:solidFill>
                  <a:srgbClr val="000000"/>
                </a:solidFill>
                <a:effectLst/>
                <a:latin typeface="-apple-system"/>
              </a:rPr>
              <a:t>）​</a:t>
            </a:r>
            <a:r>
              <a:rPr lang="zh-CN" altLang="en-US" b="0" i="0" dirty="0">
                <a:solidFill>
                  <a:srgbClr val="000000"/>
                </a:solidFill>
                <a:effectLst/>
                <a:latin typeface="-apple-system"/>
              </a:rPr>
              <a:t>​，并​</a:t>
            </a:r>
            <a:r>
              <a:rPr lang="zh-CN" altLang="en-US" b="1" i="0" dirty="0">
                <a:solidFill>
                  <a:srgbClr val="000000"/>
                </a:solidFill>
                <a:effectLst/>
                <a:latin typeface="-apple-system"/>
              </a:rPr>
              <a:t>​将其作为一个整体批次一次性送入</a:t>
            </a:r>
            <a:r>
              <a:rPr lang="en-US" altLang="zh-CN" b="1" i="0" dirty="0" err="1">
                <a:solidFill>
                  <a:srgbClr val="000000"/>
                </a:solidFill>
                <a:effectLst/>
                <a:latin typeface="-apple-system"/>
              </a:rPr>
              <a:t>MoE</a:t>
            </a:r>
            <a:r>
              <a:rPr lang="zh-CN" altLang="en-US" b="1" i="0" dirty="0">
                <a:solidFill>
                  <a:srgbClr val="000000"/>
                </a:solidFill>
                <a:effectLst/>
                <a:latin typeface="-apple-system"/>
              </a:rPr>
              <a:t>层​</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pPr algn="l" fontAlgn="base">
              <a:spcBef>
                <a:spcPts val="750"/>
              </a:spcBef>
              <a:spcAft>
                <a:spcPts val="750"/>
              </a:spcAft>
              <a:buFont typeface="Arial" panose="020B0604020202020204" pitchFamily="34" charset="0"/>
              <a:buChar char="•"/>
            </a:pPr>
            <a:r>
              <a:rPr lang="zh-CN" altLang="en-US" b="0" i="0" dirty="0">
                <a:solidFill>
                  <a:srgbClr val="000000"/>
                </a:solidFill>
                <a:effectLst/>
                <a:latin typeface="-apple-system"/>
              </a:rPr>
              <a:t>这样，</a:t>
            </a:r>
            <a:r>
              <a:rPr lang="en-US" altLang="zh-CN" b="0" i="0" dirty="0" err="1">
                <a:solidFill>
                  <a:srgbClr val="000000"/>
                </a:solidFill>
                <a:effectLst/>
                <a:latin typeface="-apple-system"/>
              </a:rPr>
              <a:t>MoE</a:t>
            </a:r>
            <a:r>
              <a:rPr lang="zh-CN" altLang="en-US" b="0" i="0" dirty="0">
                <a:solidFill>
                  <a:srgbClr val="000000"/>
                </a:solidFill>
                <a:effectLst/>
                <a:latin typeface="-apple-system"/>
              </a:rPr>
              <a:t>层的一次前向传播处理的不再是</a:t>
            </a:r>
            <a:r>
              <a:rPr lang="en-US" altLang="zh-CN" b="0" i="0" dirty="0">
                <a:solidFill>
                  <a:srgbClr val="000000"/>
                </a:solidFill>
                <a:effectLst/>
                <a:latin typeface="-apple-system"/>
              </a:rPr>
              <a:t>1</a:t>
            </a:r>
            <a:r>
              <a:rPr lang="zh-CN" altLang="en-US" b="0" i="0" dirty="0">
                <a:solidFill>
                  <a:srgbClr val="000000"/>
                </a:solidFill>
                <a:effectLst/>
                <a:latin typeface="-apple-system"/>
              </a:rPr>
              <a:t>个样本，而是</a:t>
            </a:r>
            <a:r>
              <a:rPr lang="en-US" altLang="zh-CN" b="0" i="0" dirty="0">
                <a:solidFill>
                  <a:srgbClr val="000000"/>
                </a:solidFill>
                <a:effectLst/>
                <a:latin typeface="-apple-system"/>
              </a:rPr>
              <a:t>L</a:t>
            </a:r>
            <a:r>
              <a:rPr lang="zh-CN" altLang="en-US" b="0" i="0" dirty="0">
                <a:solidFill>
                  <a:srgbClr val="000000"/>
                </a:solidFill>
                <a:effectLst/>
                <a:latin typeface="-apple-system"/>
              </a:rPr>
              <a:t>个样本。虽然实际上整合成矩阵之后只有一个矩阵，但是处理的确是</a:t>
            </a:r>
            <a:r>
              <a:rPr lang="en-US" altLang="zh-CN" b="0" i="0" dirty="0">
                <a:solidFill>
                  <a:srgbClr val="000000"/>
                </a:solidFill>
                <a:effectLst/>
                <a:latin typeface="-apple-system"/>
              </a:rPr>
              <a:t>L</a:t>
            </a:r>
            <a:r>
              <a:rPr lang="zh-CN" altLang="en-US" b="0" i="0" dirty="0">
                <a:solidFill>
                  <a:srgbClr val="000000"/>
                </a:solidFill>
                <a:effectLst/>
                <a:latin typeface="-apple-system"/>
              </a:rPr>
              <a:t>个样本数据，相当于批次是</a:t>
            </a:r>
            <a:r>
              <a:rPr lang="en-US" altLang="zh-CN" b="0" i="0" dirty="0">
                <a:solidFill>
                  <a:srgbClr val="000000"/>
                </a:solidFill>
                <a:effectLst/>
                <a:latin typeface="-apple-system"/>
              </a:rPr>
              <a:t>L</a:t>
            </a:r>
            <a:r>
              <a:rPr lang="zh-CN" altLang="en-US" b="0" i="0" dirty="0">
                <a:solidFill>
                  <a:srgbClr val="000000"/>
                </a:solidFill>
                <a:effectLst/>
                <a:latin typeface="-apple-system"/>
              </a:rPr>
              <a:t>。</a:t>
            </a:r>
          </a:p>
          <a:p>
            <a:pPr algn="l" fontAlgn="base">
              <a:spcBef>
                <a:spcPts val="750"/>
              </a:spcBef>
              <a:spcAft>
                <a:spcPts val="750"/>
              </a:spcAft>
              <a:buFont typeface="Arial" panose="020B0604020202020204" pitchFamily="34" charset="0"/>
              <a:buChar char="•"/>
            </a:pPr>
            <a:r>
              <a:rPr lang="en-US" altLang="zh-CN" b="0" i="0" dirty="0">
                <a:solidFill>
                  <a:srgbClr val="000000"/>
                </a:solidFill>
                <a:effectLst/>
                <a:latin typeface="var(--hy-font-family)"/>
              </a:rPr>
              <a:t>•</a:t>
            </a:r>
            <a:r>
              <a:rPr lang="zh-CN" altLang="en-US" b="0" i="0" dirty="0">
                <a:solidFill>
                  <a:srgbClr val="000000"/>
                </a:solidFill>
                <a:effectLst/>
                <a:latin typeface="-apple-system"/>
              </a:rPr>
              <a:t>有效批次大小从 ​</a:t>
            </a:r>
            <a:r>
              <a:rPr lang="zh-CN" altLang="en-US" b="1" i="0" dirty="0">
                <a:solidFill>
                  <a:srgbClr val="000000"/>
                </a:solidFill>
                <a:effectLst/>
                <a:latin typeface="inherit"/>
              </a:rPr>
              <a:t>​</a:t>
            </a:r>
            <a:r>
              <a:rPr lang="en-US" altLang="zh-CN" b="1" i="0" dirty="0">
                <a:solidFill>
                  <a:srgbClr val="000000"/>
                </a:solidFill>
                <a:effectLst/>
                <a:latin typeface="inherit"/>
              </a:rPr>
              <a:t>1​</a:t>
            </a:r>
            <a:r>
              <a:rPr lang="zh-CN" altLang="en-US" b="0" i="0" dirty="0">
                <a:solidFill>
                  <a:srgbClr val="000000"/>
                </a:solidFill>
                <a:effectLst/>
                <a:latin typeface="-apple-system"/>
              </a:rPr>
              <a:t>​ 瞬间提升到 ​</a:t>
            </a:r>
            <a:r>
              <a:rPr lang="zh-CN" altLang="en-US" b="1" i="0" dirty="0">
                <a:solidFill>
                  <a:srgbClr val="000000"/>
                </a:solidFill>
                <a:effectLst/>
                <a:latin typeface="inherit"/>
              </a:rPr>
              <a:t>​</a:t>
            </a:r>
            <a:r>
              <a:rPr lang="en-US" altLang="zh-CN" b="1" i="0" dirty="0">
                <a:solidFill>
                  <a:srgbClr val="000000"/>
                </a:solidFill>
                <a:effectLst/>
                <a:latin typeface="inherit"/>
              </a:rPr>
              <a:t>L​</a:t>
            </a:r>
            <a:r>
              <a:rPr lang="zh-CN" altLang="en-US" b="0" i="0" dirty="0">
                <a:solidFill>
                  <a:srgbClr val="000000"/>
                </a:solidFill>
                <a:effectLst/>
                <a:latin typeface="-apple-system"/>
              </a:rPr>
              <a:t>​（序列长度）。如果</a:t>
            </a:r>
            <a:r>
              <a:rPr lang="en-US" altLang="zh-CN" b="0" i="0" dirty="0">
                <a:solidFill>
                  <a:srgbClr val="000000"/>
                </a:solidFill>
                <a:effectLst/>
                <a:latin typeface="-apple-system"/>
              </a:rPr>
              <a:t>L=100</a:t>
            </a:r>
            <a:r>
              <a:rPr lang="zh-CN" altLang="en-US" b="0" i="0" dirty="0">
                <a:solidFill>
                  <a:srgbClr val="000000"/>
                </a:solidFill>
                <a:effectLst/>
                <a:latin typeface="-apple-system"/>
              </a:rPr>
              <a:t>，批次大小就扩大了</a:t>
            </a:r>
            <a:r>
              <a:rPr lang="en-US" altLang="zh-CN" b="0" i="0" dirty="0">
                <a:solidFill>
                  <a:srgbClr val="000000"/>
                </a:solidFill>
                <a:effectLst/>
                <a:latin typeface="-apple-system"/>
              </a:rPr>
              <a:t>100</a:t>
            </a:r>
            <a:r>
              <a:rPr lang="zh-CN" altLang="en-US" b="0" i="0" dirty="0">
                <a:solidFill>
                  <a:srgbClr val="000000"/>
                </a:solidFill>
                <a:effectLst/>
                <a:latin typeface="-apple-system"/>
              </a:rPr>
              <a:t>倍。此时，​</a:t>
            </a:r>
            <a:r>
              <a:rPr lang="zh-CN" altLang="en-US" b="1" i="0" dirty="0">
                <a:solidFill>
                  <a:srgbClr val="000000"/>
                </a:solidFill>
                <a:effectLst/>
                <a:latin typeface="-apple-system"/>
              </a:rPr>
              <a:t>​</a:t>
            </a:r>
            <a:r>
              <a:rPr lang="en-US" altLang="zh-CN" b="1" i="0" dirty="0" err="1">
                <a:solidFill>
                  <a:srgbClr val="000000"/>
                </a:solidFill>
                <a:effectLst/>
                <a:latin typeface="-apple-system"/>
              </a:rPr>
              <a:t>MoE</a:t>
            </a:r>
            <a:r>
              <a:rPr lang="en-US" altLang="zh-CN" b="1" i="0" dirty="0">
                <a:solidFill>
                  <a:srgbClr val="000000"/>
                </a:solidFill>
                <a:effectLst/>
                <a:latin typeface="-apple-system"/>
              </a:rPr>
              <a:t> </a:t>
            </a:r>
            <a:r>
              <a:rPr lang="zh-CN" altLang="en-US" b="1" i="0" dirty="0">
                <a:solidFill>
                  <a:srgbClr val="000000"/>
                </a:solidFill>
                <a:effectLst/>
                <a:latin typeface="-apple-system"/>
              </a:rPr>
              <a:t>层只被调用一次，但处理的批次大小是 </a:t>
            </a:r>
            <a:r>
              <a:rPr lang="en-US" altLang="zh-CN" b="1" i="0" dirty="0">
                <a:solidFill>
                  <a:srgbClr val="000000"/>
                </a:solidFill>
                <a:effectLst/>
                <a:latin typeface="-apple-system"/>
              </a:rPr>
              <a:t>100​</a:t>
            </a:r>
            <a:r>
              <a:rPr lang="zh-CN" altLang="en-US" b="0" i="0" dirty="0">
                <a:solidFill>
                  <a:srgbClr val="000000"/>
                </a:solidFill>
                <a:effectLst/>
                <a:latin typeface="-apple-system"/>
              </a:rPr>
              <a:t>​。</a:t>
            </a:r>
          </a:p>
          <a:p>
            <a:pPr algn="l" fontAlgn="base">
              <a:spcBef>
                <a:spcPts val="750"/>
              </a:spcBef>
              <a:buFont typeface="Arial" panose="020B0604020202020204" pitchFamily="34" charset="0"/>
              <a:buChar char="•"/>
            </a:pPr>
            <a:r>
              <a:rPr lang="en-US" altLang="zh-CN" b="0" i="0" dirty="0">
                <a:solidFill>
                  <a:srgbClr val="000000"/>
                </a:solidFill>
                <a:effectLst/>
                <a:latin typeface="var(--hy-font-family)"/>
              </a:rPr>
              <a:t>•</a:t>
            </a:r>
            <a:r>
              <a:rPr lang="zh-CN" altLang="en-US" b="0" i="0" dirty="0">
                <a:solidFill>
                  <a:srgbClr val="000000"/>
                </a:solidFill>
                <a:effectLst/>
                <a:latin typeface="-apple-system"/>
              </a:rPr>
              <a:t>这极大地提高了</a:t>
            </a:r>
            <a:r>
              <a:rPr lang="en-US" altLang="zh-CN" b="0" i="0" dirty="0" err="1">
                <a:solidFill>
                  <a:srgbClr val="000000"/>
                </a:solidFill>
                <a:effectLst/>
                <a:latin typeface="-apple-system"/>
              </a:rPr>
              <a:t>MoE</a:t>
            </a:r>
            <a:r>
              <a:rPr lang="zh-CN" altLang="en-US" b="0" i="0" dirty="0">
                <a:solidFill>
                  <a:srgbClr val="000000"/>
                </a:solidFill>
                <a:effectLst/>
                <a:latin typeface="-apple-system"/>
              </a:rPr>
              <a:t>层（尤其是专家网络）的计算效率，因为专家网络现在可以处理一个更大的矩阵，能更好地利用</a:t>
            </a:r>
            <a:r>
              <a:rPr lang="en-US" altLang="zh-CN" b="0" i="0" dirty="0">
                <a:solidFill>
                  <a:srgbClr val="000000"/>
                </a:solidFill>
                <a:effectLst/>
                <a:latin typeface="-apple-system"/>
              </a:rPr>
              <a:t>GPU</a:t>
            </a:r>
            <a:r>
              <a:rPr lang="zh-CN" altLang="en-US" b="0" i="0" dirty="0">
                <a:solidFill>
                  <a:srgbClr val="000000"/>
                </a:solidFill>
                <a:effectLst/>
                <a:latin typeface="-apple-system"/>
              </a:rPr>
              <a:t>的并行计算能力。</a:t>
            </a:r>
          </a:p>
          <a:p>
            <a:pPr algn="l" fontAlgn="base">
              <a:spcBef>
                <a:spcPts val="750"/>
              </a:spcBef>
              <a:spcAft>
                <a:spcPts val="750"/>
              </a:spcAft>
              <a:buFont typeface="+mj-lt"/>
              <a:buNone/>
            </a:pPr>
            <a:endParaRPr lang="en-US" altLang="zh-CN" b="0" i="0" dirty="0">
              <a:solidFill>
                <a:srgbClr val="000000"/>
              </a:solidFill>
              <a:effectLst/>
              <a:latin typeface="-apple-system"/>
            </a:endParaRPr>
          </a:p>
          <a:p>
            <a:pPr marL="0" marR="0" lvl="0" indent="0" algn="l" defTabSz="914400" rtl="0" eaLnBrk="1" fontAlgn="base" latinLnBrk="0" hangingPunct="1">
              <a:lnSpc>
                <a:spcPct val="100000"/>
              </a:lnSpc>
              <a:spcBef>
                <a:spcPts val="750"/>
              </a:spcBef>
              <a:spcAft>
                <a:spcPts val="750"/>
              </a:spcAft>
              <a:buClrTx/>
              <a:buSzTx/>
              <a:buFont typeface="+mj-lt"/>
              <a:buNone/>
              <a:tabLst/>
              <a:defRPr/>
            </a:pPr>
            <a:r>
              <a:rPr lang="zh-CN" altLang="en-US" b="0" i="0" dirty="0">
                <a:solidFill>
                  <a:srgbClr val="000000"/>
                </a:solidFill>
                <a:effectLst/>
                <a:latin typeface="-apple-system"/>
              </a:rPr>
              <a:t>第二个就是循环</a:t>
            </a:r>
            <a:r>
              <a:rPr lang="en-US" altLang="zh-CN" b="0" i="0" dirty="0" err="1">
                <a:solidFill>
                  <a:srgbClr val="000000"/>
                </a:solidFill>
                <a:effectLst/>
                <a:latin typeface="-apple-system"/>
              </a:rPr>
              <a:t>MoE</a:t>
            </a:r>
            <a:r>
              <a:rPr lang="zh-CN" altLang="en-US" b="0" i="0" dirty="0">
                <a:solidFill>
                  <a:srgbClr val="000000"/>
                </a:solidFill>
                <a:effectLst/>
                <a:latin typeface="-apple-system"/>
              </a:rPr>
              <a:t>，</a:t>
            </a:r>
            <a:r>
              <a:rPr lang="zh-CN" altLang="en-US" dirty="0"/>
              <a:t>将</a:t>
            </a:r>
            <a:r>
              <a:rPr lang="en-US" altLang="zh-CN" dirty="0" err="1"/>
              <a:t>MoE</a:t>
            </a:r>
            <a:r>
              <a:rPr lang="zh-CN" altLang="en-US" dirty="0"/>
              <a:t>层本身作为循环网络的一部分</a:t>
            </a:r>
            <a:endParaRPr lang="en-US" altLang="zh-CN" b="0" i="0" dirty="0">
              <a:solidFill>
                <a:srgbClr val="000000"/>
              </a:solidFill>
              <a:effectLst/>
              <a:latin typeface="-apple-system"/>
            </a:endParaRPr>
          </a:p>
          <a:p>
            <a:pPr marL="0" marR="0" lvl="0" indent="0" algn="l" defTabSz="914400" rtl="0" eaLnBrk="1" fontAlgn="base" latinLnBrk="0" hangingPunct="1">
              <a:lnSpc>
                <a:spcPct val="100000"/>
              </a:lnSpc>
              <a:spcBef>
                <a:spcPts val="750"/>
              </a:spcBef>
              <a:spcAft>
                <a:spcPts val="750"/>
              </a:spcAft>
              <a:buClrTx/>
              <a:buSzTx/>
              <a:buFont typeface="+mj-lt"/>
              <a:buNone/>
              <a:tabLst/>
              <a:defRPr/>
            </a:pPr>
            <a:r>
              <a:rPr lang="zh-CN" altLang="en-US" sz="1200" dirty="0">
                <a:solidFill>
                  <a:srgbClr val="000000"/>
                </a:solidFill>
                <a:latin typeface="-apple-system"/>
              </a:rPr>
              <a:t>若对</a:t>
            </a:r>
            <a:r>
              <a:rPr lang="en-US" altLang="zh-CN" sz="1200" dirty="0" err="1">
                <a:solidFill>
                  <a:srgbClr val="000000"/>
                </a:solidFill>
                <a:latin typeface="-apple-system"/>
              </a:rPr>
              <a:t>MoE</a:t>
            </a:r>
            <a:r>
              <a:rPr lang="zh-CN" altLang="en-US" sz="1200" dirty="0">
                <a:solidFill>
                  <a:srgbClr val="000000"/>
                </a:solidFill>
                <a:latin typeface="-apple-system"/>
              </a:rPr>
              <a:t>进行循环应用，则这一时刻的输出依赖于上一时刻的输入，传统的方法就需要在前向传播时</a:t>
            </a:r>
            <a:r>
              <a:rPr lang="zh-CN" altLang="en-US" b="0" i="0" dirty="0">
                <a:solidFill>
                  <a:srgbClr val="000000"/>
                </a:solidFill>
                <a:effectLst/>
                <a:latin typeface="-apple-system"/>
              </a:rPr>
              <a:t>存储​</a:t>
            </a:r>
            <a:r>
              <a:rPr lang="zh-CN" altLang="en-US" b="1" i="0" dirty="0">
                <a:solidFill>
                  <a:srgbClr val="000000"/>
                </a:solidFill>
                <a:effectLst/>
                <a:latin typeface="-apple-system"/>
              </a:rPr>
              <a:t>​所有时间步​</a:t>
            </a:r>
            <a:r>
              <a:rPr lang="zh-CN" altLang="en-US" b="0" i="0" dirty="0">
                <a:solidFill>
                  <a:srgbClr val="000000"/>
                </a:solidFill>
                <a:effectLst/>
                <a:latin typeface="-apple-system"/>
              </a:rPr>
              <a:t>​的完整激活值，这就非常占用内存与序列长度</a:t>
            </a:r>
            <a:r>
              <a:rPr lang="en-US" altLang="zh-CN" b="0" i="0" dirty="0">
                <a:solidFill>
                  <a:srgbClr val="000000"/>
                </a:solidFill>
                <a:effectLst/>
                <a:latin typeface="-apple-system"/>
              </a:rPr>
              <a:t>L</a:t>
            </a:r>
            <a:r>
              <a:rPr lang="zh-CN" altLang="en-US" b="0" i="0" dirty="0">
                <a:solidFill>
                  <a:srgbClr val="000000"/>
                </a:solidFill>
                <a:effectLst/>
                <a:latin typeface="-apple-system"/>
              </a:rPr>
              <a:t>成正比。</a:t>
            </a:r>
            <a:r>
              <a:rPr lang="zh-CN" altLang="en-US" dirty="0"/>
              <a:t>内存使用量 </a:t>
            </a:r>
            <a:r>
              <a:rPr lang="en-US" altLang="zh-CN" dirty="0"/>
              <a:t>~ O(L)</a:t>
            </a:r>
          </a:p>
          <a:p>
            <a:pPr marL="0" marR="0" lvl="0" indent="0" algn="l" defTabSz="914400" rtl="0" eaLnBrk="1" fontAlgn="base" latinLnBrk="0" hangingPunct="1">
              <a:lnSpc>
                <a:spcPct val="100000"/>
              </a:lnSpc>
              <a:spcBef>
                <a:spcPts val="750"/>
              </a:spcBef>
              <a:spcAft>
                <a:spcPts val="750"/>
              </a:spcAft>
              <a:buClrTx/>
              <a:buSzTx/>
              <a:buFont typeface="+mj-lt"/>
              <a:buNone/>
              <a:tabLst/>
              <a:defRPr/>
            </a:pPr>
            <a:r>
              <a:rPr lang="zh-CN" altLang="en-US" b="0" i="0" dirty="0">
                <a:solidFill>
                  <a:srgbClr val="000000"/>
                </a:solidFill>
                <a:effectLst/>
                <a:latin typeface="-apple-system"/>
              </a:rPr>
              <a:t>但是本论文中</a:t>
            </a:r>
            <a:r>
              <a:rPr lang="zh-CN" altLang="en-US" dirty="0"/>
              <a:t>提出的解决方案​​：借鉴了</a:t>
            </a:r>
            <a:r>
              <a:rPr lang="en-US" altLang="zh-CN" dirty="0"/>
              <a:t>Gruslys et al. (2016) </a:t>
            </a:r>
            <a:r>
              <a:rPr lang="zh-CN" altLang="en-US" dirty="0"/>
              <a:t>提出的一种​​内存优化技术​​。</a:t>
            </a:r>
            <a:endParaRPr lang="en-US" altLang="zh-CN" dirty="0"/>
          </a:p>
          <a:p>
            <a:r>
              <a:rPr lang="en-US" altLang="zh-CN" dirty="0"/>
              <a:t>​​</a:t>
            </a:r>
            <a:r>
              <a:rPr lang="zh-CN" altLang="en-US" dirty="0"/>
              <a:t>它的核心思想​就是通过​​牺牲计算时间来换取内存空间​​。</a:t>
            </a:r>
            <a:endParaRPr lang="en-US" altLang="zh-CN" dirty="0"/>
          </a:p>
          <a:p>
            <a:r>
              <a:rPr lang="en-US" altLang="zh-CN" dirty="0"/>
              <a:t>​​</a:t>
            </a:r>
            <a:r>
              <a:rPr lang="zh-CN" altLang="en-US" dirty="0"/>
              <a:t>具体做法​​：不存储所有时间步的完整激活值，而是只存储其中一部分（例如，每</a:t>
            </a:r>
            <a:r>
              <a:rPr lang="en-US" altLang="zh-CN" dirty="0"/>
              <a:t>10</a:t>
            </a:r>
            <a:r>
              <a:rPr lang="zh-CN" altLang="en-US" dirty="0"/>
              <a:t>个时间步存一个完整状态）。在反向传播时，对于中间丢失的状态，通过从最近的存储点重新进行前向传播来计算。</a:t>
            </a:r>
            <a:endParaRPr lang="en-US" altLang="zh-CN" dirty="0"/>
          </a:p>
          <a:p>
            <a:r>
              <a:rPr lang="en-US" altLang="zh-CN" dirty="0"/>
              <a:t>​​</a:t>
            </a:r>
            <a:r>
              <a:rPr lang="zh-CN" altLang="en-US" dirty="0"/>
              <a:t>带来的好处​​：由于存储的激活值大大减少，我们就可以在内存中容纳​​更大的批次（</a:t>
            </a:r>
            <a:r>
              <a:rPr lang="en-US" altLang="zh-CN" dirty="0"/>
              <a:t>batch size</a:t>
            </a:r>
            <a:r>
              <a:rPr lang="zh-CN" altLang="en-US" dirty="0"/>
              <a:t>）​​ 进行训练。</a:t>
            </a:r>
            <a:endParaRPr lang="en-US" altLang="zh-CN" dirty="0"/>
          </a:p>
        </p:txBody>
      </p:sp>
      <p:sp>
        <p:nvSpPr>
          <p:cNvPr id="4" name="灯片编号占位符 3">
            <a:extLst>
              <a:ext uri="{FF2B5EF4-FFF2-40B4-BE49-F238E27FC236}">
                <a16:creationId xmlns:a16="http://schemas.microsoft.com/office/drawing/2014/main" id="{6ED96652-A5C6-4145-298E-0D827EAF108B}"/>
              </a:ext>
            </a:extLst>
          </p:cNvPr>
          <p:cNvSpPr>
            <a:spLocks noGrp="1"/>
          </p:cNvSpPr>
          <p:nvPr>
            <p:ph type="sldNum" sz="quarter" idx="5"/>
          </p:nvPr>
        </p:nvSpPr>
        <p:spPr/>
        <p:txBody>
          <a:bodyPr/>
          <a:lstStyle/>
          <a:p>
            <a:fld id="{8E556971-6A61-4E96-B3F0-2E6ACC9F9D62}" type="slidenum">
              <a:rPr lang="zh-CN" altLang="en-US" smtClean="0"/>
              <a:t>8</a:t>
            </a:fld>
            <a:endParaRPr lang="zh-CN" altLang="en-US"/>
          </a:p>
        </p:txBody>
      </p:sp>
    </p:spTree>
    <p:extLst>
      <p:ext uri="{BB962C8B-B14F-4D97-AF65-F5344CB8AC3E}">
        <p14:creationId xmlns:p14="http://schemas.microsoft.com/office/powerpoint/2010/main" val="4098942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A0975-348B-51D8-6BD1-3DDD6CFEFC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E68EC1-A562-6B6C-785B-EE93C00BAA5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2DBE77D-7583-42DD-44F3-37965A99D404}"/>
              </a:ext>
            </a:extLst>
          </p:cNvPr>
          <p:cNvSpPr>
            <a:spLocks noGrp="1"/>
          </p:cNvSpPr>
          <p:nvPr>
            <p:ph type="body" idx="1"/>
          </p:nvPr>
        </p:nvSpPr>
        <p:spPr/>
        <p:txBody>
          <a:bodyPr/>
          <a:lstStyle/>
          <a:p>
            <a:endParaRPr lang="en-US" altLang="zh-CN" dirty="0"/>
          </a:p>
        </p:txBody>
      </p:sp>
      <p:sp>
        <p:nvSpPr>
          <p:cNvPr id="4" name="灯片编号占位符 3">
            <a:extLst>
              <a:ext uri="{FF2B5EF4-FFF2-40B4-BE49-F238E27FC236}">
                <a16:creationId xmlns:a16="http://schemas.microsoft.com/office/drawing/2014/main" id="{233CD69E-B55D-A97B-D298-27C406F2C66D}"/>
              </a:ext>
            </a:extLst>
          </p:cNvPr>
          <p:cNvSpPr>
            <a:spLocks noGrp="1"/>
          </p:cNvSpPr>
          <p:nvPr>
            <p:ph type="sldNum" sz="quarter" idx="5"/>
          </p:nvPr>
        </p:nvSpPr>
        <p:spPr/>
        <p:txBody>
          <a:bodyPr/>
          <a:lstStyle/>
          <a:p>
            <a:fld id="{8E556971-6A61-4E96-B3F0-2E6ACC9F9D62}" type="slidenum">
              <a:rPr lang="zh-CN" altLang="en-US" smtClean="0"/>
              <a:t>9</a:t>
            </a:fld>
            <a:endParaRPr lang="zh-CN" altLang="en-US"/>
          </a:p>
        </p:txBody>
      </p:sp>
    </p:spTree>
    <p:extLst>
      <p:ext uri="{BB962C8B-B14F-4D97-AF65-F5344CB8AC3E}">
        <p14:creationId xmlns:p14="http://schemas.microsoft.com/office/powerpoint/2010/main" val="2775236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493E-D952-A76A-0293-9866706D25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2CA245-3884-5A08-B440-15097F48491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902EA45-FAE5-4085-D3C2-48E26E09989E}"/>
              </a:ext>
            </a:extLst>
          </p:cNvPr>
          <p:cNvSpPr>
            <a:spLocks noGrp="1"/>
          </p:cNvSpPr>
          <p:nvPr>
            <p:ph type="body" idx="1"/>
          </p:nvPr>
        </p:nvSpPr>
        <p:spPr/>
        <p:txBody>
          <a:bodyPr/>
          <a:lstStyle/>
          <a:p>
            <a:r>
              <a:rPr lang="zh-CN" altLang="en-US" dirty="0"/>
              <a:t>还有一个问题就是预防马太效应的出现。马太效应指的是当一个专家被选择的次数越多，那它经过训练后的性能越好，之后就越会倾向于选择它。</a:t>
            </a:r>
            <a:endParaRPr lang="en-US" altLang="zh-CN" dirty="0"/>
          </a:p>
          <a:p>
            <a:r>
              <a:rPr lang="zh-CN" altLang="en-US" dirty="0"/>
              <a:t>那为了预防这个问题，这篇论文设计了两款辅助损失函数作为主损失的一部分。第一个就是重要性损失，它定义为一个批次所有样本的门控权重之和，其变异系数的平方称为重要性损失，它的目标是确保所有专家在一个批次内获得的总权重相近，</a:t>
            </a:r>
            <a:r>
              <a:rPr lang="zh-CN" altLang="en-US" b="0" i="0" dirty="0">
                <a:solidFill>
                  <a:srgbClr val="000000"/>
                </a:solidFill>
                <a:effectLst/>
                <a:latin typeface="-apple-system"/>
              </a:rPr>
              <a:t>防止门控网络形成专家垄断，总是让少数几个专家占据绝大部分的权重，而其他专家被边缘化。它鼓励​</a:t>
            </a:r>
            <a:r>
              <a:rPr lang="zh-CN" altLang="en-US" b="1" i="0" dirty="0">
                <a:solidFill>
                  <a:srgbClr val="000000"/>
                </a:solidFill>
                <a:effectLst/>
                <a:latin typeface="-apple-system"/>
              </a:rPr>
              <a:t>​所有专家的总影响力（重要性）尽可能相等​</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endParaRPr lang="en-US" altLang="zh-CN" dirty="0"/>
          </a:p>
          <a:p>
            <a:r>
              <a:rPr lang="zh-CN" altLang="en-US" dirty="0"/>
              <a:t>重要性损失​​并不会阻止专家专业化​​，而是阻止“赢家通吃”。它的作用是：</a:t>
            </a:r>
          </a:p>
          <a:p>
            <a:r>
              <a:rPr lang="en-US" altLang="zh-CN" dirty="0"/>
              <a:t>•</a:t>
            </a:r>
            <a:r>
              <a:rPr lang="zh-CN" altLang="en-US" dirty="0"/>
              <a:t>迫使系统探索​​：它迫使门控网络将一些不那么“典型”或“清晰”的任务也分配给其他专家，为这些专家提供了学习和发展自身专业领域的机会。</a:t>
            </a:r>
          </a:p>
          <a:p>
            <a:r>
              <a:rPr lang="en-US" altLang="zh-CN" dirty="0"/>
              <a:t>•</a:t>
            </a:r>
            <a:r>
              <a:rPr lang="zh-CN" altLang="en-US" dirty="0"/>
              <a:t>促进良性循环​​：一旦某个专家在某个子领域表现出色，门控网络会倾向于将这类任务分配给它，从而形成“任务类型</a:t>
            </a:r>
            <a:r>
              <a:rPr lang="en-US" altLang="zh-CN" dirty="0"/>
              <a:t>-&gt;</a:t>
            </a:r>
            <a:r>
              <a:rPr lang="zh-CN" altLang="en-US" dirty="0"/>
              <a:t>专家”的稳定映射。最终，系统会收敛到一种状态：对于一类任务，门控网络稳定地选择一个固定的专家子集，但这个子集是多样化的，而不是只有一个专家。</a:t>
            </a:r>
            <a:endParaRPr lang="en-US" altLang="zh-CN" dirty="0"/>
          </a:p>
        </p:txBody>
      </p:sp>
      <p:sp>
        <p:nvSpPr>
          <p:cNvPr id="4" name="灯片编号占位符 3">
            <a:extLst>
              <a:ext uri="{FF2B5EF4-FFF2-40B4-BE49-F238E27FC236}">
                <a16:creationId xmlns:a16="http://schemas.microsoft.com/office/drawing/2014/main" id="{13083563-F628-9237-3944-6828CA1DE82E}"/>
              </a:ext>
            </a:extLst>
          </p:cNvPr>
          <p:cNvSpPr>
            <a:spLocks noGrp="1"/>
          </p:cNvSpPr>
          <p:nvPr>
            <p:ph type="sldNum" sz="quarter" idx="5"/>
          </p:nvPr>
        </p:nvSpPr>
        <p:spPr/>
        <p:txBody>
          <a:bodyPr/>
          <a:lstStyle/>
          <a:p>
            <a:fld id="{8E556971-6A61-4E96-B3F0-2E6ACC9F9D62}" type="slidenum">
              <a:rPr lang="zh-CN" altLang="en-US" smtClean="0"/>
              <a:t>10</a:t>
            </a:fld>
            <a:endParaRPr lang="zh-CN" altLang="en-US"/>
          </a:p>
        </p:txBody>
      </p:sp>
    </p:spTree>
    <p:extLst>
      <p:ext uri="{BB962C8B-B14F-4D97-AF65-F5344CB8AC3E}">
        <p14:creationId xmlns:p14="http://schemas.microsoft.com/office/powerpoint/2010/main" val="34479512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BB62-6EA0-3CE5-E9C5-DC9D962CBE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B46B0DC-BACE-AB2D-2D4D-49F3D57991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64B1A2-6C7E-5395-B917-662299C1ED89}"/>
              </a:ext>
            </a:extLst>
          </p:cNvPr>
          <p:cNvSpPr>
            <a:spLocks noGrp="1"/>
          </p:cNvSpPr>
          <p:nvPr>
            <p:ph type="body" idx="1"/>
          </p:nvPr>
        </p:nvSpPr>
        <p:spPr/>
        <p:txBody>
          <a:bodyPr/>
          <a:lstStyle/>
          <a:p>
            <a:r>
              <a:rPr lang="zh-CN" altLang="en-US" dirty="0"/>
              <a:t>即使重要性均衡了，一个专家可能被很多样本以很小的权重选中（总权重也很高，这时该专家处理的样本数多），而另一个专家可能被很少样本以很大的权重选中（总权重也高，这时该专家处理的样本数少）</a:t>
            </a:r>
            <a:endParaRPr lang="en-US" altLang="zh-CN" dirty="0"/>
          </a:p>
          <a:p>
            <a:r>
              <a:rPr lang="zh-CN" altLang="en-US" dirty="0"/>
              <a:t>由于被选择的样本数是一个离散值，所以这里使用了门控网络中添加的噪声来估计每个专家被选中的概率。</a:t>
            </a:r>
            <a:endParaRPr lang="en-US" altLang="zh-CN" dirty="0"/>
          </a:p>
          <a:p>
            <a:endParaRPr lang="en-US" altLang="zh-CN" dirty="0"/>
          </a:p>
          <a:p>
            <a:r>
              <a:rPr lang="zh-CN" altLang="en-US" sz="1200" b="0" i="0" dirty="0">
                <a:solidFill>
                  <a:srgbClr val="FF0000"/>
                </a:solidFill>
                <a:effectLst/>
                <a:latin typeface="-apple-system"/>
              </a:rPr>
              <a:t>避免不同的</a:t>
            </a:r>
            <a:r>
              <a:rPr lang="en-US" altLang="zh-CN" sz="1200" b="0" i="0" dirty="0">
                <a:solidFill>
                  <a:srgbClr val="FF0000"/>
                </a:solidFill>
                <a:effectLst/>
                <a:latin typeface="-apple-system"/>
              </a:rPr>
              <a:t>GPU</a:t>
            </a:r>
            <a:r>
              <a:rPr lang="zh-CN" altLang="en-US" sz="1200" b="0" i="0" dirty="0">
                <a:solidFill>
                  <a:srgbClr val="FF0000"/>
                </a:solidFill>
                <a:effectLst/>
                <a:latin typeface="-apple-system"/>
              </a:rPr>
              <a:t>利用率不同</a:t>
            </a:r>
            <a:endParaRPr lang="en-US" altLang="zh-CN" dirty="0"/>
          </a:p>
        </p:txBody>
      </p:sp>
      <p:sp>
        <p:nvSpPr>
          <p:cNvPr id="4" name="灯片编号占位符 3">
            <a:extLst>
              <a:ext uri="{FF2B5EF4-FFF2-40B4-BE49-F238E27FC236}">
                <a16:creationId xmlns:a16="http://schemas.microsoft.com/office/drawing/2014/main" id="{4A480549-2D60-8434-E712-2037F88C9419}"/>
              </a:ext>
            </a:extLst>
          </p:cNvPr>
          <p:cNvSpPr>
            <a:spLocks noGrp="1"/>
          </p:cNvSpPr>
          <p:nvPr>
            <p:ph type="sldNum" sz="quarter" idx="5"/>
          </p:nvPr>
        </p:nvSpPr>
        <p:spPr/>
        <p:txBody>
          <a:bodyPr/>
          <a:lstStyle/>
          <a:p>
            <a:fld id="{8E556971-6A61-4E96-B3F0-2E6ACC9F9D62}" type="slidenum">
              <a:rPr lang="zh-CN" altLang="en-US" smtClean="0"/>
              <a:t>11</a:t>
            </a:fld>
            <a:endParaRPr lang="zh-CN" altLang="en-US"/>
          </a:p>
        </p:txBody>
      </p:sp>
    </p:spTree>
    <p:extLst>
      <p:ext uri="{BB962C8B-B14F-4D97-AF65-F5344CB8AC3E}">
        <p14:creationId xmlns:p14="http://schemas.microsoft.com/office/powerpoint/2010/main" val="8415430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D02B8-8476-189C-1438-6FC513E50D6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03F6F6D-F8DD-AE7E-6C55-3E53AEDBE0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8B16232-DD58-DB9D-18BB-2439B1B11D4A}"/>
              </a:ext>
            </a:extLst>
          </p:cNvPr>
          <p:cNvSpPr>
            <a:spLocks noGrp="1"/>
          </p:cNvSpPr>
          <p:nvPr>
            <p:ph type="dt" sz="half" idx="10"/>
          </p:nvPr>
        </p:nvSpPr>
        <p:spPr/>
        <p:txBody>
          <a:bodyPr/>
          <a:lstStyle/>
          <a:p>
            <a:fld id="{05E6C797-49CB-488C-B5C8-E1FA88B0251E}" type="datetimeFigureOut">
              <a:rPr lang="zh-CN" altLang="en-US" smtClean="0"/>
              <a:t>2025-11-01</a:t>
            </a:fld>
            <a:endParaRPr lang="zh-CN" altLang="en-US"/>
          </a:p>
        </p:txBody>
      </p:sp>
      <p:sp>
        <p:nvSpPr>
          <p:cNvPr id="5" name="页脚占位符 4">
            <a:extLst>
              <a:ext uri="{FF2B5EF4-FFF2-40B4-BE49-F238E27FC236}">
                <a16:creationId xmlns:a16="http://schemas.microsoft.com/office/drawing/2014/main" id="{A0A89B93-F3C9-2EE8-96E7-67D317FECD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BD8DB78-BB4A-AA85-E4A0-EC342A51DBB8}"/>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3964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848D38-E5ED-980C-C7BF-9910626F015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18D7898-17C3-8665-06E2-7F51365306E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67B3437-3E06-C63C-DE90-E08185459160}"/>
              </a:ext>
            </a:extLst>
          </p:cNvPr>
          <p:cNvSpPr>
            <a:spLocks noGrp="1"/>
          </p:cNvSpPr>
          <p:nvPr>
            <p:ph type="dt" sz="half" idx="10"/>
          </p:nvPr>
        </p:nvSpPr>
        <p:spPr/>
        <p:txBody>
          <a:bodyPr/>
          <a:lstStyle/>
          <a:p>
            <a:fld id="{05E6C797-49CB-488C-B5C8-E1FA88B0251E}" type="datetimeFigureOut">
              <a:rPr lang="zh-CN" altLang="en-US" smtClean="0"/>
              <a:t>2025-11-01</a:t>
            </a:fld>
            <a:endParaRPr lang="zh-CN" altLang="en-US"/>
          </a:p>
        </p:txBody>
      </p:sp>
      <p:sp>
        <p:nvSpPr>
          <p:cNvPr id="5" name="页脚占位符 4">
            <a:extLst>
              <a:ext uri="{FF2B5EF4-FFF2-40B4-BE49-F238E27FC236}">
                <a16:creationId xmlns:a16="http://schemas.microsoft.com/office/drawing/2014/main" id="{E6F62AFD-BB3E-DE3D-3004-12E315A9551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5C4AB0-602A-3D15-9E95-081DAA654A45}"/>
              </a:ext>
            </a:extLst>
          </p:cNvPr>
          <p:cNvSpPr>
            <a:spLocks noGrp="1"/>
          </p:cNvSpPr>
          <p:nvPr>
            <p:ph type="sldNum" sz="quarter" idx="12"/>
          </p:nvPr>
        </p:nvSpPr>
        <p:spPr/>
        <p:txBody>
          <a:bodyPr/>
          <a:lstStyle/>
          <a:p>
            <a:fld id="{70803742-82C4-4B4E-8D83-DDB5C6EF9D5E}" type="slidenum">
              <a:rPr lang="zh-CN" altLang="en-US" smtClean="0"/>
              <a:t>‹#›</a:t>
            </a:fld>
            <a:endParaRPr lang="zh-CN" altLang="en-US"/>
          </a:p>
        </p:txBody>
      </p:sp>
    </p:spTree>
    <p:extLst>
      <p:ext uri="{BB962C8B-B14F-4D97-AF65-F5344CB8AC3E}">
        <p14:creationId xmlns:p14="http://schemas.microsoft.com/office/powerpoint/2010/main" val="28113420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917451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3.xml"/><Relationship Id="rId7"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2.png"/><Relationship Id="rId4" Type="http://schemas.openxmlformats.org/officeDocument/2006/relationships/tags" Target="../tags/tag4.xml"/><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xml"/><Relationship Id="rId7" Type="http://schemas.openxmlformats.org/officeDocument/2006/relationships/notesSlide" Target="../notesSlides/notesSlide3.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w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B5D877A0-4804-4917-810F-DD3372FB1F11}"/>
              </a:ext>
            </a:extLst>
          </p:cNvPr>
          <p:cNvPicPr>
            <a:picLocks noChangeAspect="1"/>
          </p:cNvPicPr>
          <p:nvPr/>
        </p:nvPicPr>
        <p:blipFill>
          <a:blip r:embed="rId9"/>
          <a:stretch>
            <a:fillRect/>
          </a:stretch>
        </p:blipFill>
        <p:spPr>
          <a:xfrm>
            <a:off x="0" y="1979950"/>
            <a:ext cx="12192000" cy="2205024"/>
          </a:xfrm>
          <a:prstGeom prst="rect">
            <a:avLst/>
          </a:prstGeom>
        </p:spPr>
      </p:pic>
      <p:sp>
        <p:nvSpPr>
          <p:cNvPr id="4" name="矩形 3"/>
          <p:cNvSpPr/>
          <p:nvPr>
            <p:custDataLst>
              <p:tags r:id="rId1"/>
            </p:custDataLst>
          </p:nvPr>
        </p:nvSpPr>
        <p:spPr>
          <a:xfrm>
            <a:off x="0" y="1975169"/>
            <a:ext cx="12192000" cy="2219218"/>
          </a:xfrm>
          <a:prstGeom prst="rect">
            <a:avLst/>
          </a:prstGeom>
          <a:solidFill>
            <a:srgbClr val="141E8C">
              <a:alpha val="8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1223545" y="2481687"/>
            <a:ext cx="10040472" cy="830997"/>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zh-CN" altLang="en-US" sz="4800" b="1" spc="600" dirty="0">
                <a:solidFill>
                  <a:schemeClr val="bg1"/>
                </a:solidFill>
                <a:latin typeface="微软雅黑" panose="020B0503020204020204" pitchFamily="34" charset="-122"/>
                <a:ea typeface="微软雅黑" panose="020B0503020204020204" pitchFamily="34" charset="-122"/>
              </a:rPr>
              <a:t>稀疏门控的</a:t>
            </a:r>
            <a:r>
              <a:rPr kumimoji="1" lang="en-US" altLang="zh-CN" sz="4800" b="1" spc="600" dirty="0" err="1">
                <a:solidFill>
                  <a:schemeClr val="bg1"/>
                </a:solidFill>
                <a:latin typeface="微软雅黑" panose="020B0503020204020204" pitchFamily="34" charset="-122"/>
                <a:ea typeface="微软雅黑" panose="020B0503020204020204" pitchFamily="34" charset="-122"/>
              </a:rPr>
              <a:t>MoE</a:t>
            </a:r>
            <a:endParaRPr kumimoji="1" lang="en-US" altLang="zh-CN" sz="4800" b="1" spc="600" dirty="0">
              <a:solidFill>
                <a:schemeClr val="bg1"/>
              </a:solidFill>
              <a:latin typeface="微软雅黑" panose="020B0503020204020204" pitchFamily="34" charset="-122"/>
              <a:ea typeface="微软雅黑" panose="020B0503020204020204" pitchFamily="34" charset="-122"/>
            </a:endParaRPr>
          </a:p>
        </p:txBody>
      </p:sp>
      <p:graphicFrame>
        <p:nvGraphicFramePr>
          <p:cNvPr id="19" name="表格 18"/>
          <p:cNvGraphicFramePr/>
          <p:nvPr>
            <p:custDataLst>
              <p:tags r:id="rId2"/>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a:latin typeface="微软雅黑" charset="0"/>
                          <a:ea typeface="微软雅黑" charset="0"/>
                        </a:rPr>
                        <a:t>考生姓名</a:t>
                      </a:r>
                    </a:p>
                  </a:txBody>
                  <a:tcPr anchor="ctr">
                    <a:solidFill>
                      <a:srgbClr val="9A0E13"/>
                    </a:solidFill>
                  </a:tcPr>
                </a:tc>
                <a:extLst>
                  <a:ext uri="{0D108BD9-81ED-4DB2-BD59-A6C34878D82A}">
                    <a16:rowId xmlns:a16="http://schemas.microsoft.com/office/drawing/2014/main" val="10000"/>
                  </a:ext>
                </a:extLst>
              </a:tr>
            </a:tbl>
          </a:graphicData>
        </a:graphic>
      </p:graphicFrame>
      <p:graphicFrame>
        <p:nvGraphicFramePr>
          <p:cNvPr id="22" name="表格 21"/>
          <p:cNvGraphicFramePr/>
          <p:nvPr>
            <p:custDataLst>
              <p:tags r:id="rId3"/>
            </p:custDataLst>
          </p:nvPr>
        </p:nvGraphicFramePr>
        <p:xfrm>
          <a:off x="3501390" y="4700905"/>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汇报人</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23" name="表格 22"/>
          <p:cNvGraphicFramePr/>
          <p:nvPr>
            <p:custDataLst>
              <p:tags r:id="rId4"/>
            </p:custDataLst>
            <p:extLst>
              <p:ext uri="{D42A27DB-BD31-4B8C-83A1-F6EECF244321}">
                <p14:modId xmlns:p14="http://schemas.microsoft.com/office/powerpoint/2010/main" val="2349871436"/>
              </p:ext>
            </p:extLst>
          </p:nvPr>
        </p:nvGraphicFramePr>
        <p:xfrm>
          <a:off x="5488305" y="4700905"/>
          <a:ext cx="3277870" cy="467995"/>
        </p:xfrm>
        <a:graphic>
          <a:graphicData uri="http://schemas.openxmlformats.org/drawingml/2006/table">
            <a:tbl>
              <a:tblPr firstRow="1" bandRow="1">
                <a:tableStyleId>{5C22544A-7EE6-4342-B048-85BDC9FD1C3A}</a:tableStyleId>
              </a:tblPr>
              <a:tblGrid>
                <a:gridCol w="3277870">
                  <a:extLst>
                    <a:ext uri="{9D8B030D-6E8A-4147-A177-3AD203B41FA5}">
                      <a16:colId xmlns:a16="http://schemas.microsoft.com/office/drawing/2014/main" val="20000"/>
                    </a:ext>
                  </a:extLst>
                </a:gridCol>
              </a:tblGrid>
              <a:tr h="467995">
                <a:tc>
                  <a:txBody>
                    <a:bodyPr/>
                    <a:lstStyle/>
                    <a:p>
                      <a:pPr algn="ctr">
                        <a:buNone/>
                      </a:pPr>
                      <a:r>
                        <a:rPr kumimoji="1" lang="zh-CN" altLang="en-US"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张志权</a:t>
                      </a:r>
                      <a:endPar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32" name="表格 31"/>
          <p:cNvGraphicFramePr/>
          <p:nvPr>
            <p:custDataLst>
              <p:tags r:id="rId5"/>
            </p:custDataLst>
          </p:nvPr>
        </p:nvGraphicFramePr>
        <p:xfrm>
          <a:off x="3507740" y="5422582"/>
          <a:ext cx="1980565" cy="467995"/>
        </p:xfrm>
        <a:graphic>
          <a:graphicData uri="http://schemas.openxmlformats.org/drawingml/2006/table">
            <a:tbl>
              <a:tblPr firstRow="1" bandRow="1">
                <a:tableStyleId>{5C22544A-7EE6-4342-B048-85BDC9FD1C3A}</a:tableStyleId>
              </a:tblPr>
              <a:tblGrid>
                <a:gridCol w="1980565">
                  <a:extLst>
                    <a:ext uri="{9D8B030D-6E8A-4147-A177-3AD203B41FA5}">
                      <a16:colId xmlns:a16="http://schemas.microsoft.com/office/drawing/2014/main" val="20000"/>
                    </a:ext>
                  </a:extLst>
                </a:gridCol>
              </a:tblGrid>
              <a:tr h="467995">
                <a:tc>
                  <a:txBody>
                    <a:bodyPr/>
                    <a:lstStyle/>
                    <a:p>
                      <a:pPr algn="ctr">
                        <a:buNone/>
                      </a:pPr>
                      <a:r>
                        <a:rPr lang="zh-CN" altLang="en-US" sz="2400" dirty="0">
                          <a:latin typeface="微软雅黑" charset="0"/>
                          <a:ea typeface="微软雅黑" charset="0"/>
                        </a:rPr>
                        <a:t>汇报时间</a:t>
                      </a:r>
                    </a:p>
                  </a:txBody>
                  <a:tcPr anchor="ctr">
                    <a:solidFill>
                      <a:srgbClr val="141E8C"/>
                    </a:solidFill>
                  </a:tcPr>
                </a:tc>
                <a:extLst>
                  <a:ext uri="{0D108BD9-81ED-4DB2-BD59-A6C34878D82A}">
                    <a16:rowId xmlns:a16="http://schemas.microsoft.com/office/drawing/2014/main" val="10000"/>
                  </a:ext>
                </a:extLst>
              </a:tr>
            </a:tbl>
          </a:graphicData>
        </a:graphic>
      </p:graphicFrame>
      <p:graphicFrame>
        <p:nvGraphicFramePr>
          <p:cNvPr id="33" name="表格 32"/>
          <p:cNvGraphicFramePr/>
          <p:nvPr>
            <p:custDataLst>
              <p:tags r:id="rId6"/>
            </p:custDataLst>
            <p:extLst>
              <p:ext uri="{D42A27DB-BD31-4B8C-83A1-F6EECF244321}">
                <p14:modId xmlns:p14="http://schemas.microsoft.com/office/powerpoint/2010/main" val="1224961040"/>
              </p:ext>
            </p:extLst>
          </p:nvPr>
        </p:nvGraphicFramePr>
        <p:xfrm>
          <a:off x="5488305" y="5439092"/>
          <a:ext cx="3284220" cy="467995"/>
        </p:xfrm>
        <a:graphic>
          <a:graphicData uri="http://schemas.openxmlformats.org/drawingml/2006/table">
            <a:tbl>
              <a:tblPr firstRow="1" bandRow="1">
                <a:tableStyleId>{5C22544A-7EE6-4342-B048-85BDC9FD1C3A}</a:tableStyleId>
              </a:tblPr>
              <a:tblGrid>
                <a:gridCol w="3284220">
                  <a:extLst>
                    <a:ext uri="{9D8B030D-6E8A-4147-A177-3AD203B41FA5}">
                      <a16:colId xmlns:a16="http://schemas.microsoft.com/office/drawing/2014/main" val="20000"/>
                    </a:ext>
                  </a:extLst>
                </a:gridCol>
              </a:tblGrid>
              <a:tr h="467995">
                <a:tc>
                  <a:txBody>
                    <a:bodyPr/>
                    <a:lstStyle/>
                    <a:p>
                      <a:pPr algn="ctr">
                        <a:buNone/>
                      </a:pPr>
                      <a:r>
                        <a:rPr kumimoji="1" lang="en-US" altLang="zh-CN" sz="2000" b="0" spc="120" dirty="0">
                          <a:solidFill>
                            <a:schemeClr val="tx1">
                              <a:lumMod val="75000"/>
                              <a:lumOff val="25000"/>
                            </a:schemeClr>
                          </a:solidFill>
                          <a:latin typeface="Times New Roman Regular" panose="02020803070505020304" charset="0"/>
                          <a:ea typeface="微软雅黑" panose="020B0503020204020204" pitchFamily="34" charset="-122"/>
                          <a:cs typeface="Times New Roman Regular" panose="02020803070505020304" charset="0"/>
                          <a:sym typeface="+mn-ea"/>
                        </a:rPr>
                        <a:t>2025.11.01</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pic>
        <p:nvPicPr>
          <p:cNvPr id="13" name="图片 12"/>
          <p:cNvPicPr>
            <a:picLocks noChangeAspect="1"/>
          </p:cNvPicPr>
          <p:nvPr/>
        </p:nvPicPr>
        <p:blipFill>
          <a:blip r:embed="rId10"/>
          <a:stretch>
            <a:fillRect/>
          </a:stretch>
        </p:blipFill>
        <p:spPr>
          <a:xfrm>
            <a:off x="4921278" y="133350"/>
            <a:ext cx="2349443" cy="184414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p:cNvSpPr txBox="1"/>
          <p:nvPr/>
        </p:nvSpPr>
        <p:spPr>
          <a:xfrm>
            <a:off x="1236066" y="3335912"/>
            <a:ext cx="2834140" cy="46037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en-US" altLang="zh-CN" sz="2400" b="1" dirty="0">
                <a:solidFill>
                  <a:srgbClr val="141E8C"/>
                </a:solidFill>
                <a:latin typeface="Times New Roman Bold" panose="02020803070505020304" charset="0"/>
                <a:cs typeface="Times New Roman Bold" panose="02020803070505020304" charset="0"/>
              </a:rPr>
              <a:t>CONTENS</a:t>
            </a:r>
          </a:p>
        </p:txBody>
      </p:sp>
      <p:sp>
        <p:nvSpPr>
          <p:cNvPr id="21" name="文本框 20"/>
          <p:cNvSpPr txBox="1"/>
          <p:nvPr/>
        </p:nvSpPr>
        <p:spPr>
          <a:xfrm>
            <a:off x="1822499" y="2613895"/>
            <a:ext cx="1662545" cy="706755"/>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kumimoji="1" lang="zh-CN" altLang="en-US" sz="4000" b="1" spc="300" dirty="0">
                <a:solidFill>
                  <a:srgbClr val="141E8C"/>
                </a:solidFill>
                <a:latin typeface="微软雅黑" panose="020B0503020204020204" pitchFamily="34" charset="-122"/>
                <a:ea typeface="微软雅黑" panose="020B0503020204020204" pitchFamily="34" charset="-122"/>
              </a:rPr>
              <a:t>目</a:t>
            </a:r>
            <a:r>
              <a:rPr kumimoji="1" lang="en-US" altLang="zh-CN" sz="4000" b="1" spc="300" dirty="0">
                <a:solidFill>
                  <a:srgbClr val="141E8C"/>
                </a:solidFill>
                <a:latin typeface="微软雅黑" panose="020B0503020204020204" pitchFamily="34" charset="-122"/>
                <a:ea typeface="微软雅黑" panose="020B0503020204020204" pitchFamily="34" charset="-122"/>
              </a:rPr>
              <a:t> </a:t>
            </a:r>
            <a:r>
              <a:rPr kumimoji="1" lang="zh-CN" altLang="en-US" sz="4000" b="1" spc="300" dirty="0">
                <a:solidFill>
                  <a:srgbClr val="141E8C"/>
                </a:solidFill>
                <a:latin typeface="微软雅黑" panose="020B0503020204020204" pitchFamily="34" charset="-122"/>
                <a:ea typeface="微软雅黑" panose="020B0503020204020204" pitchFamily="34" charset="-122"/>
              </a:rPr>
              <a:t>录</a:t>
            </a:r>
          </a:p>
        </p:txBody>
      </p:sp>
      <p:cxnSp>
        <p:nvCxnSpPr>
          <p:cNvPr id="24" name="直线连接符 23"/>
          <p:cNvCxnSpPr/>
          <p:nvPr/>
        </p:nvCxnSpPr>
        <p:spPr>
          <a:xfrm>
            <a:off x="4462500" y="1297515"/>
            <a:ext cx="0" cy="4195890"/>
          </a:xfrm>
          <a:prstGeom prst="line">
            <a:avLst/>
          </a:prstGeom>
          <a:ln w="19050">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1" name="组合 10">
            <a:extLst>
              <a:ext uri="{FF2B5EF4-FFF2-40B4-BE49-F238E27FC236}">
                <a16:creationId xmlns:a16="http://schemas.microsoft.com/office/drawing/2014/main" id="{8F7C0971-7369-E9FF-7DCF-2CA105016570}"/>
              </a:ext>
            </a:extLst>
          </p:cNvPr>
          <p:cNvGrpSpPr/>
          <p:nvPr/>
        </p:nvGrpSpPr>
        <p:grpSpPr>
          <a:xfrm>
            <a:off x="5222774" y="2802567"/>
            <a:ext cx="6586046" cy="954107"/>
            <a:chOff x="5439957" y="3724593"/>
            <a:chExt cx="6586046" cy="954107"/>
          </a:xfrm>
        </p:grpSpPr>
        <p:sp>
          <p:nvSpPr>
            <p:cNvPr id="8" name="文本框 7"/>
            <p:cNvSpPr txBox="1"/>
            <p:nvPr/>
          </p:nvSpPr>
          <p:spPr>
            <a:xfrm>
              <a:off x="6200062" y="3724593"/>
              <a:ext cx="5825941" cy="954107"/>
            </a:xfrm>
            <a:prstGeom prst="rect">
              <a:avLst/>
            </a:prstGeom>
            <a:noFill/>
          </p:spPr>
          <p:txBody>
            <a:bodyPr wrap="square" rtlCol="0">
              <a:spAutoFit/>
            </a:bodyPr>
            <a:lstStyle/>
            <a:p>
              <a:r>
                <a:rPr kumimoji="1" lang="en-US" altLang="zh-CN" sz="1400" b="1" spc="300" dirty="0">
                  <a:solidFill>
                    <a:srgbClr val="141E8C"/>
                  </a:solidFill>
                  <a:latin typeface="微软雅黑" panose="020B0503020204020204" pitchFamily="34" charset="-122"/>
                  <a:ea typeface="微软雅黑" panose="020B0503020204020204" pitchFamily="34" charset="-122"/>
                </a:rPr>
                <a:t>Outrageously large neural networks: The sparsely-gated mixture-of-experts layer. (ICLR 2017,</a:t>
              </a:r>
              <a:r>
                <a:rPr kumimoji="1" lang="zh-CN" altLang="en-US" sz="1400" b="1" spc="300" dirty="0">
                  <a:solidFill>
                    <a:srgbClr val="141E8C"/>
                  </a:solidFill>
                  <a:latin typeface="微软雅黑" panose="020B0503020204020204" pitchFamily="34" charset="-122"/>
                  <a:ea typeface="微软雅黑" panose="020B0503020204020204" pitchFamily="34" charset="-122"/>
                </a:rPr>
                <a:t> </a:t>
              </a:r>
              <a:r>
                <a:rPr kumimoji="1" lang="en-US" altLang="zh-CN" sz="1400" b="1" spc="300" dirty="0" err="1">
                  <a:solidFill>
                    <a:srgbClr val="141E8C"/>
                  </a:solidFill>
                  <a:latin typeface="微软雅黑" panose="020B0503020204020204" pitchFamily="34" charset="-122"/>
                  <a:ea typeface="微软雅黑" panose="020B0503020204020204" pitchFamily="34" charset="-122"/>
                </a:rPr>
                <a:t>Shazeer</a:t>
              </a:r>
              <a:r>
                <a:rPr kumimoji="1" lang="en-US" altLang="zh-CN" sz="1400" b="1" spc="300" dirty="0">
                  <a:solidFill>
                    <a:srgbClr val="141E8C"/>
                  </a:solidFill>
                  <a:latin typeface="微软雅黑" panose="020B0503020204020204" pitchFamily="34" charset="-122"/>
                  <a:ea typeface="微软雅黑" panose="020B0503020204020204" pitchFamily="34" charset="-122"/>
                </a:rPr>
                <a:t>, Noam, et al. Google Brain</a:t>
              </a:r>
              <a:r>
                <a:rPr kumimoji="1" lang="zh-CN" altLang="en-US" sz="1400" b="1" spc="300" dirty="0">
                  <a:solidFill>
                    <a:srgbClr val="141E8C"/>
                  </a:solidFill>
                  <a:latin typeface="微软雅黑" panose="020B0503020204020204" pitchFamily="34" charset="-122"/>
                  <a:ea typeface="微软雅黑" panose="020B0503020204020204" pitchFamily="34" charset="-122"/>
                </a:rPr>
                <a:t> </a:t>
              </a:r>
              <a:r>
                <a:rPr kumimoji="1" lang="en-US" altLang="zh-CN" sz="1400" b="1" spc="300" dirty="0">
                  <a:solidFill>
                    <a:srgbClr val="141E8C"/>
                  </a:solidFill>
                  <a:latin typeface="微软雅黑" panose="020B0503020204020204" pitchFamily="34" charset="-122"/>
                  <a:ea typeface="微软雅黑" panose="020B0503020204020204" pitchFamily="34" charset="-122"/>
                </a:rPr>
                <a:t>Team).</a:t>
              </a:r>
              <a:endParaRPr kumimoji="1" lang="zh-CN" altLang="en-US" sz="1400" b="1" spc="300" dirty="0">
                <a:solidFill>
                  <a:srgbClr val="141E8C"/>
                </a:solidFill>
                <a:latin typeface="微软雅黑" panose="020B0503020204020204" pitchFamily="34" charset="-122"/>
                <a:ea typeface="微软雅黑" panose="020B0503020204020204" pitchFamily="34" charset="-122"/>
              </a:endParaRPr>
            </a:p>
          </p:txBody>
        </p:sp>
        <p:sp>
          <p:nvSpPr>
            <p:cNvPr id="33" name="文本框 32"/>
            <p:cNvSpPr txBox="1"/>
            <p:nvPr/>
          </p:nvSpPr>
          <p:spPr>
            <a:xfrm>
              <a:off x="5439957" y="3724593"/>
              <a:ext cx="620683" cy="523220"/>
            </a:xfrm>
            <a:prstGeom prst="rect">
              <a:avLst/>
            </a:prstGeom>
            <a:noFill/>
          </p:spPr>
          <p:txBody>
            <a:bodyPr wrap="none" rtlCol="0">
              <a:spAutoFit/>
            </a:bodyPr>
            <a:lstStyle/>
            <a:p>
              <a:r>
                <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28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endParaRPr>
            </a:p>
          </p:txBody>
        </p:sp>
      </p:grpSp>
    </p:spTree>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963B-2353-FA90-5B2C-BD860E92957D}"/>
            </a:ext>
          </a:extLst>
        </p:cNvPr>
        <p:cNvGrpSpPr/>
        <p:nvPr/>
      </p:nvGrpSpPr>
      <p:grpSpPr>
        <a:xfrm>
          <a:off x="0" y="0"/>
          <a:ext cx="0" cy="0"/>
          <a:chOff x="0" y="0"/>
          <a:chExt cx="0" cy="0"/>
        </a:xfrm>
      </p:grpSpPr>
      <p:grpSp>
        <p:nvGrpSpPr>
          <p:cNvPr id="12" name="组合 11">
            <a:extLst>
              <a:ext uri="{FF2B5EF4-FFF2-40B4-BE49-F238E27FC236}">
                <a16:creationId xmlns:a16="http://schemas.microsoft.com/office/drawing/2014/main" id="{3A525901-2C19-64B6-0115-C29C7B064F88}"/>
              </a:ext>
            </a:extLst>
          </p:cNvPr>
          <p:cNvGrpSpPr/>
          <p:nvPr/>
        </p:nvGrpSpPr>
        <p:grpSpPr>
          <a:xfrm>
            <a:off x="0" y="2463167"/>
            <a:ext cx="12192000" cy="1440001"/>
            <a:chOff x="0" y="3114"/>
            <a:chExt cx="19200" cy="2268"/>
          </a:xfrm>
        </p:grpSpPr>
        <p:sp>
          <p:nvSpPr>
            <p:cNvPr id="4" name="矩形 3">
              <a:extLst>
                <a:ext uri="{FF2B5EF4-FFF2-40B4-BE49-F238E27FC236}">
                  <a16:creationId xmlns:a16="http://schemas.microsoft.com/office/drawing/2014/main" id="{5949082B-14B6-7CDC-E12A-73C38F068BFD}"/>
                </a:ext>
              </a:extLst>
            </p:cNvPr>
            <p:cNvSpPr/>
            <p:nvPr>
              <p:custDataLst>
                <p:tags r:id="rId1"/>
              </p:custDataLst>
            </p:nvPr>
          </p:nvSpPr>
          <p:spPr>
            <a:xfrm>
              <a:off x="0" y="3114"/>
              <a:ext cx="19200" cy="2268"/>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bg1"/>
                </a:solidFill>
              </a:endParaRPr>
            </a:p>
          </p:txBody>
        </p:sp>
        <p:cxnSp>
          <p:nvCxnSpPr>
            <p:cNvPr id="24" name="直线连接符 23">
              <a:extLst>
                <a:ext uri="{FF2B5EF4-FFF2-40B4-BE49-F238E27FC236}">
                  <a16:creationId xmlns:a16="http://schemas.microsoft.com/office/drawing/2014/main" id="{A62AF432-531B-E32A-736F-BCB27B03E2C1}"/>
                </a:ext>
              </a:extLst>
            </p:cNvPr>
            <p:cNvCxnSpPr/>
            <p:nvPr>
              <p:custDataLst>
                <p:tags r:id="rId2"/>
              </p:custDataLst>
            </p:nvPr>
          </p:nvCxnSpPr>
          <p:spPr>
            <a:xfrm>
              <a:off x="8646" y="3398"/>
              <a:ext cx="0" cy="1701"/>
            </a:xfrm>
            <a:prstGeom prst="line">
              <a:avLst/>
            </a:prstGeom>
            <a:ln>
              <a:solidFill>
                <a:schemeClr val="bg1">
                  <a:lumMod val="95000"/>
                </a:schemeClr>
              </a:solidFill>
              <a:headEnd type="none" w="med" len="med"/>
              <a:tailEnd type="none" w="med" len="med"/>
            </a:ln>
          </p:spPr>
          <p:style>
            <a:lnRef idx="3">
              <a:schemeClr val="accent1"/>
            </a:lnRef>
            <a:fillRef idx="0">
              <a:srgbClr val="FFFFFF"/>
            </a:fillRef>
            <a:effectRef idx="0">
              <a:srgbClr val="FFFFFF"/>
            </a:effectRef>
            <a:fontRef idx="minor">
              <a:schemeClr val="tx1"/>
            </a:fontRef>
          </p:style>
        </p:cxnSp>
        <p:sp>
          <p:nvSpPr>
            <p:cNvPr id="10" name="文本框 9">
              <a:extLst>
                <a:ext uri="{FF2B5EF4-FFF2-40B4-BE49-F238E27FC236}">
                  <a16:creationId xmlns:a16="http://schemas.microsoft.com/office/drawing/2014/main" id="{A60B6048-639C-010F-B7C6-1867337A5C44}"/>
                </a:ext>
              </a:extLst>
            </p:cNvPr>
            <p:cNvSpPr txBox="1"/>
            <p:nvPr>
              <p:custDataLst>
                <p:tags r:id="rId3"/>
              </p:custDataLst>
            </p:nvPr>
          </p:nvSpPr>
          <p:spPr>
            <a:xfrm>
              <a:off x="8891" y="3544"/>
              <a:ext cx="9612" cy="1309"/>
            </a:xfrm>
            <a:prstGeom prst="rect">
              <a:avLst/>
            </a:prstGeom>
            <a:noFill/>
          </p:spPr>
          <p:txBody>
            <a:bodyPr wrap="square" rtlCol="0" anchor="t" anchorCtr="0">
              <a:spAutoFit/>
            </a:bodyPr>
            <a:lstStyle/>
            <a:p>
              <a:pPr lvl="0" algn="l">
                <a:buClrTx/>
                <a:buSzTx/>
                <a:buFontTx/>
              </a:pPr>
              <a:r>
                <a:rPr kumimoji="1" lang="en-US" altLang="zh-CN" sz="2400" b="1" i="1" dirty="0">
                  <a:solidFill>
                    <a:schemeClr val="bg1"/>
                  </a:solidFill>
                  <a:uFillTx/>
                  <a:latin typeface="Times New Roman Bold Italic" panose="02020803070505020304" charset="0"/>
                  <a:cs typeface="Times New Roman Bold Italic" panose="02020803070505020304" charset="0"/>
                  <a:sym typeface="+mn-ea"/>
                </a:rPr>
                <a:t>Outrageously Large Neural Networks: The Sparsely-Gated Mixture-of-Experts Layer</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nvGrpSpPr>
            <p:cNvPr id="11" name="组合 10">
              <a:extLst>
                <a:ext uri="{FF2B5EF4-FFF2-40B4-BE49-F238E27FC236}">
                  <a16:creationId xmlns:a16="http://schemas.microsoft.com/office/drawing/2014/main" id="{3F4736AB-06FB-5B61-5C4D-22E415653AF6}"/>
                </a:ext>
              </a:extLst>
            </p:cNvPr>
            <p:cNvGrpSpPr/>
            <p:nvPr/>
          </p:nvGrpSpPr>
          <p:grpSpPr>
            <a:xfrm>
              <a:off x="5428" y="3544"/>
              <a:ext cx="2973" cy="1483"/>
              <a:chOff x="5428" y="3544"/>
              <a:chExt cx="2973" cy="1483"/>
            </a:xfrm>
          </p:grpSpPr>
          <p:sp>
            <p:nvSpPr>
              <p:cNvPr id="2" name="文本框 1">
                <a:extLst>
                  <a:ext uri="{FF2B5EF4-FFF2-40B4-BE49-F238E27FC236}">
                    <a16:creationId xmlns:a16="http://schemas.microsoft.com/office/drawing/2014/main" id="{4293E849-5609-7D84-1D4C-E7AFE76DBEFA}"/>
                  </a:ext>
                </a:extLst>
              </p:cNvPr>
              <p:cNvSpPr txBox="1"/>
              <p:nvPr>
                <p:custDataLst>
                  <p:tags r:id="rId4"/>
                </p:custDataLst>
              </p:nvPr>
            </p:nvSpPr>
            <p:spPr>
              <a:xfrm>
                <a:off x="6351" y="3544"/>
                <a:ext cx="1139" cy="1018"/>
              </a:xfrm>
              <a:prstGeom prst="rect">
                <a:avLst/>
              </a:prstGeom>
              <a:noFill/>
            </p:spPr>
            <p:txBody>
              <a:bodyPr wrap="none" rtlCol="0" anchor="ctr" anchorCtr="0">
                <a:spAutoFit/>
              </a:bodyPr>
              <a:lstStyle/>
              <a:p>
                <a:r>
                  <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0</a:t>
                </a:r>
                <a:r>
                  <a:rPr kumimoji="1" lang="en-US" altLang="zh-CN"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rPr>
                  <a:t>1</a:t>
                </a:r>
                <a:endParaRPr kumimoji="1" lang="zh-CN" altLang="en-US" sz="3600" b="1" spc="300" dirty="0">
                  <a:solidFill>
                    <a:schemeClr val="bg1"/>
                  </a:solidFill>
                  <a:latin typeface="Times New Roman Bold" panose="02020803070505020304" charset="0"/>
                  <a:ea typeface="微软雅黑" panose="020B0503020204020204" pitchFamily="34" charset="-122"/>
                  <a:cs typeface="Times New Roman Bold" panose="02020803070505020304" charset="0"/>
                </a:endParaRPr>
              </a:p>
            </p:txBody>
          </p:sp>
          <p:sp>
            <p:nvSpPr>
              <p:cNvPr id="5" name="文本框 4">
                <a:extLst>
                  <a:ext uri="{FF2B5EF4-FFF2-40B4-BE49-F238E27FC236}">
                    <a16:creationId xmlns:a16="http://schemas.microsoft.com/office/drawing/2014/main" id="{85DD8D6C-C2FD-204B-A89E-D09E09E157B9}"/>
                  </a:ext>
                </a:extLst>
              </p:cNvPr>
              <p:cNvSpPr txBox="1"/>
              <p:nvPr>
                <p:custDataLst>
                  <p:tags r:id="rId5"/>
                </p:custDataLst>
              </p:nvPr>
            </p:nvSpPr>
            <p:spPr>
              <a:xfrm>
                <a:off x="5428" y="4447"/>
                <a:ext cx="2973" cy="580"/>
              </a:xfrm>
              <a:prstGeom prst="rect">
                <a:avLst/>
              </a:prstGeom>
              <a:noFill/>
            </p:spPr>
            <p:txBody>
              <a:bodyPr wrap="square" rtlCol="0" anchor="t" anchorCtr="0">
                <a:spAutoFit/>
              </a:bodyPr>
              <a:lstStyle/>
              <a:p>
                <a:pPr lvl="0" algn="ctr">
                  <a:buClrTx/>
                  <a:buSzTx/>
                  <a:buFontTx/>
                </a:pPr>
                <a:r>
                  <a:rPr kumimoji="1" lang="en-US" altLang="zh-CN" b="1" i="1" dirty="0">
                    <a:solidFill>
                      <a:schemeClr val="bg1"/>
                    </a:solidFill>
                    <a:uFillTx/>
                    <a:latin typeface="Times New Roman Bold Italic" panose="02020803070505020304" charset="0"/>
                    <a:cs typeface="Times New Roman Bold Italic" panose="02020803070505020304" charset="0"/>
                    <a:sym typeface="+mn-ea"/>
                  </a:rPr>
                  <a:t>Part </a:t>
                </a:r>
                <a:r>
                  <a:rPr kumimoji="1" lang="en-US" altLang="zh-CN" b="1" i="1" dirty="0">
                    <a:solidFill>
                      <a:schemeClr val="bg1"/>
                    </a:solidFill>
                    <a:latin typeface="Times New Roman Bold Italic" panose="02020803070505020304" charset="0"/>
                    <a:cs typeface="Times New Roman Bold Italic" panose="02020803070505020304" charset="0"/>
                    <a:sym typeface="+mn-ea"/>
                  </a:rPr>
                  <a:t>one</a:t>
                </a:r>
                <a:endParaRPr kumimoji="1" lang="en-US" altLang="zh-CN" b="1" i="1" dirty="0">
                  <a:solidFill>
                    <a:schemeClr val="bg1"/>
                  </a:solidFill>
                  <a:uFillTx/>
                  <a:latin typeface="Times New Roman Bold Italic" panose="02020803070505020304" charset="0"/>
                  <a:cs typeface="Times New Roman Bold Italic" panose="02020803070505020304" charset="0"/>
                  <a:sym typeface="+mn-ea"/>
                </a:endParaRPr>
              </a:p>
            </p:txBody>
          </p:sp>
        </p:grpSp>
      </p:grpSp>
      <p:pic>
        <p:nvPicPr>
          <p:cNvPr id="13" name="图片 12">
            <a:extLst>
              <a:ext uri="{FF2B5EF4-FFF2-40B4-BE49-F238E27FC236}">
                <a16:creationId xmlns:a16="http://schemas.microsoft.com/office/drawing/2014/main" id="{8D4285A3-B04F-B20A-A2F4-8FDB6AF7C5BB}"/>
              </a:ext>
            </a:extLst>
          </p:cNvPr>
          <p:cNvPicPr>
            <a:picLocks noChangeAspect="1"/>
          </p:cNvPicPr>
          <p:nvPr/>
        </p:nvPicPr>
        <p:blipFill>
          <a:blip r:embed="rId8"/>
          <a:stretch>
            <a:fillRect/>
          </a:stretch>
        </p:blipFill>
        <p:spPr>
          <a:xfrm>
            <a:off x="4921278" y="133350"/>
            <a:ext cx="2349443" cy="1844147"/>
          </a:xfrm>
          <a:prstGeom prst="rect">
            <a:avLst/>
          </a:prstGeom>
        </p:spPr>
      </p:pic>
      <p:sp>
        <p:nvSpPr>
          <p:cNvPr id="6" name="文本框 5">
            <a:extLst>
              <a:ext uri="{FF2B5EF4-FFF2-40B4-BE49-F238E27FC236}">
                <a16:creationId xmlns:a16="http://schemas.microsoft.com/office/drawing/2014/main" id="{B14EE4E1-D5B5-A3D2-BE03-12C581BE1142}"/>
              </a:ext>
            </a:extLst>
          </p:cNvPr>
          <p:cNvSpPr txBox="1"/>
          <p:nvPr/>
        </p:nvSpPr>
        <p:spPr>
          <a:xfrm>
            <a:off x="563879" y="5932169"/>
            <a:ext cx="11064240" cy="642676"/>
          </a:xfrm>
          <a:prstGeom prst="rect">
            <a:avLst/>
          </a:prstGeom>
          <a:noFill/>
        </p:spPr>
        <p:txBody>
          <a:bodyPr wrap="square">
            <a:spAutoFit/>
          </a:bodyPr>
          <a:lstStyle/>
          <a:p>
            <a:pPr>
              <a:lnSpc>
                <a:spcPct val="115000"/>
              </a:lnSpc>
              <a:spcAft>
                <a:spcPts val="800"/>
              </a:spcAft>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[1] </a:t>
            </a:r>
            <a:r>
              <a:rPr lang="en-US" altLang="zh-CN" sz="1600" b="0" i="0" dirty="0" err="1">
                <a:solidFill>
                  <a:srgbClr val="222222"/>
                </a:solidFill>
                <a:effectLst/>
                <a:latin typeface="Arial" panose="020B0604020202020204" pitchFamily="34" charset="0"/>
              </a:rPr>
              <a:t>Shazeer</a:t>
            </a:r>
            <a:r>
              <a:rPr lang="en-US" altLang="zh-CN" sz="1600" b="0" i="0" dirty="0">
                <a:solidFill>
                  <a:srgbClr val="222222"/>
                </a:solidFill>
                <a:effectLst/>
                <a:latin typeface="Arial" panose="020B0604020202020204" pitchFamily="34" charset="0"/>
              </a:rPr>
              <a:t>, N., </a:t>
            </a:r>
            <a:r>
              <a:rPr lang="en-US" altLang="zh-CN" sz="1600" b="0" i="0" dirty="0" err="1">
                <a:solidFill>
                  <a:srgbClr val="222222"/>
                </a:solidFill>
                <a:effectLst/>
                <a:latin typeface="Arial" panose="020B0604020202020204" pitchFamily="34" charset="0"/>
              </a:rPr>
              <a:t>Mirhoseini</a:t>
            </a:r>
            <a:r>
              <a:rPr lang="en-US" altLang="zh-CN" sz="1600" b="0" i="0" dirty="0">
                <a:solidFill>
                  <a:srgbClr val="222222"/>
                </a:solidFill>
                <a:effectLst/>
                <a:latin typeface="Arial" panose="020B0604020202020204" pitchFamily="34" charset="0"/>
              </a:rPr>
              <a:t>, A., Maziarz, K., Davis, A., Le, Q., Hinton, G., &amp; Dean, J. (2017). Outrageously large neural networks: The sparsely-gated mixture-of-experts layer. </a:t>
            </a:r>
            <a:r>
              <a:rPr lang="en-US" altLang="zh-CN" sz="1600" b="0" i="1" dirty="0" err="1">
                <a:solidFill>
                  <a:srgbClr val="222222"/>
                </a:solidFill>
                <a:effectLst/>
                <a:latin typeface="Arial" panose="020B0604020202020204" pitchFamily="34" charset="0"/>
              </a:rPr>
              <a:t>arxiv</a:t>
            </a:r>
            <a:r>
              <a:rPr lang="en-US" altLang="zh-CN" sz="1600" b="0" i="1" dirty="0">
                <a:solidFill>
                  <a:srgbClr val="222222"/>
                </a:solidFill>
                <a:effectLst/>
                <a:latin typeface="Arial" panose="020B0604020202020204" pitchFamily="34" charset="0"/>
              </a:rPr>
              <a:t> preprint arxiv:1701.06538</a:t>
            </a:r>
            <a:r>
              <a:rPr lang="en-US" altLang="zh-CN" sz="1600" b="0" i="0" dirty="0">
                <a:solidFill>
                  <a:srgbClr val="222222"/>
                </a:solidFill>
                <a:effectLst/>
                <a:latin typeface="Arial" panose="020B0604020202020204" pitchFamily="34" charset="0"/>
              </a:rPr>
              <a:t>.</a:t>
            </a:r>
            <a:r>
              <a:rPr lang="zh-CN" altLang="en-US" sz="1600" kern="100" dirty="0">
                <a:effectLst/>
                <a:latin typeface="等线" panose="02010600030101010101" pitchFamily="2" charset="-122"/>
                <a:ea typeface="等线" panose="02010600030101010101" pitchFamily="2" charset="-122"/>
                <a:cs typeface="Times New Roman" panose="02020603050405020304" pitchFamily="18" charset="0"/>
              </a:rPr>
              <a:t>（引用文献）</a:t>
            </a: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82685868"/>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7A96-A452-1957-078B-ABF067681EA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2863D5D-07DE-E8B3-8242-669B821F6011}"/>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3732F396-268F-820C-3DB9-1C1A5CFA202E}"/>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F4120AE1-32D5-3EC7-5A71-C8F600D8CB3D}"/>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3A389604-D78E-76EC-6B4A-6ADFA85FCF1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2BA5D296-17D7-B65D-E04E-8AC327E5872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1</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DF748739-1FCB-C161-D2C4-012219597422}"/>
              </a:ext>
            </a:extLst>
          </p:cNvPr>
          <p:cNvSpPr txBox="1"/>
          <p:nvPr/>
        </p:nvSpPr>
        <p:spPr>
          <a:xfrm>
            <a:off x="1663046" y="282654"/>
            <a:ext cx="10722807" cy="830997"/>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1 Introduction</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a:p>
            <a:pPr>
              <a:buSzPct val="85000"/>
            </a:pP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E3CDB903-D684-55E2-6677-63B387756AFA}"/>
              </a:ext>
            </a:extLst>
          </p:cNvPr>
          <p:cNvSpPr txBox="1"/>
          <p:nvPr/>
        </p:nvSpPr>
        <p:spPr>
          <a:xfrm>
            <a:off x="1964003" y="1116928"/>
            <a:ext cx="2425117"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1.1 Core Issue</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pic>
        <p:nvPicPr>
          <p:cNvPr id="3" name="图片 2">
            <a:extLst>
              <a:ext uri="{FF2B5EF4-FFF2-40B4-BE49-F238E27FC236}">
                <a16:creationId xmlns:a16="http://schemas.microsoft.com/office/drawing/2014/main" id="{2429EBC9-ED3D-3A33-1D86-EDF82757255A}"/>
              </a:ext>
            </a:extLst>
          </p:cNvPr>
          <p:cNvPicPr>
            <a:picLocks noChangeAspect="1"/>
          </p:cNvPicPr>
          <p:nvPr/>
        </p:nvPicPr>
        <p:blipFill>
          <a:blip r:embed="rId3"/>
          <a:stretch>
            <a:fillRect/>
          </a:stretch>
        </p:blipFill>
        <p:spPr>
          <a:xfrm>
            <a:off x="300368" y="170733"/>
            <a:ext cx="847725" cy="876300"/>
          </a:xfrm>
          <a:prstGeom prst="rect">
            <a:avLst/>
          </a:prstGeom>
        </p:spPr>
      </p:pic>
      <p:sp>
        <p:nvSpPr>
          <p:cNvPr id="7" name="文本框 6">
            <a:extLst>
              <a:ext uri="{FF2B5EF4-FFF2-40B4-BE49-F238E27FC236}">
                <a16:creationId xmlns:a16="http://schemas.microsoft.com/office/drawing/2014/main" id="{AB1A0C70-2EC6-48A1-9DE6-1865D03C0A3F}"/>
              </a:ext>
            </a:extLst>
          </p:cNvPr>
          <p:cNvSpPr txBox="1"/>
          <p:nvPr/>
        </p:nvSpPr>
        <p:spPr>
          <a:xfrm>
            <a:off x="2069420" y="1785185"/>
            <a:ext cx="9825203" cy="437684"/>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b="0" i="0" dirty="0">
                <a:solidFill>
                  <a:srgbClr val="000000"/>
                </a:solidFill>
                <a:effectLst/>
                <a:latin typeface="-apple-system"/>
              </a:rPr>
              <a:t>神经网络吸收信息的能力受其参数数量限制，但增加参数会显著增加计算成本</a:t>
            </a:r>
            <a:endParaRPr lang="en-US" altLang="zh-CN" sz="2000" b="0" i="0" dirty="0">
              <a:solidFill>
                <a:srgbClr val="000000"/>
              </a:solidFill>
              <a:effectLst/>
              <a:latin typeface="-apple-system"/>
            </a:endParaRPr>
          </a:p>
        </p:txBody>
      </p:sp>
      <p:sp>
        <p:nvSpPr>
          <p:cNvPr id="11" name="文本框 10">
            <a:extLst>
              <a:ext uri="{FF2B5EF4-FFF2-40B4-BE49-F238E27FC236}">
                <a16:creationId xmlns:a16="http://schemas.microsoft.com/office/drawing/2014/main" id="{30A5B984-40FE-50E3-C315-8501C399EBBB}"/>
              </a:ext>
            </a:extLst>
          </p:cNvPr>
          <p:cNvSpPr txBox="1"/>
          <p:nvPr/>
        </p:nvSpPr>
        <p:spPr>
          <a:xfrm>
            <a:off x="2069420" y="2295072"/>
            <a:ext cx="9825203" cy="437684"/>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b="0" i="0" dirty="0">
                <a:solidFill>
                  <a:srgbClr val="000000"/>
                </a:solidFill>
                <a:effectLst/>
                <a:latin typeface="-apple-system"/>
              </a:rPr>
              <a:t>传统的神经网络模型的参数量与计算量呈二次增长关系</a:t>
            </a:r>
            <a:endParaRPr lang="en-US" altLang="zh-CN" sz="2000" b="0" i="0" dirty="0">
              <a:solidFill>
                <a:srgbClr val="000000"/>
              </a:solidFill>
              <a:effectLst/>
              <a:latin typeface="-apple-system"/>
            </a:endParaRPr>
          </a:p>
        </p:txBody>
      </p:sp>
      <p:sp>
        <p:nvSpPr>
          <p:cNvPr id="12" name="箭头: 下 11">
            <a:extLst>
              <a:ext uri="{FF2B5EF4-FFF2-40B4-BE49-F238E27FC236}">
                <a16:creationId xmlns:a16="http://schemas.microsoft.com/office/drawing/2014/main" id="{A1C986C1-5F05-1995-FA4A-392014311030}"/>
              </a:ext>
            </a:extLst>
          </p:cNvPr>
          <p:cNvSpPr/>
          <p:nvPr/>
        </p:nvSpPr>
        <p:spPr>
          <a:xfrm>
            <a:off x="6734628" y="3089366"/>
            <a:ext cx="672012" cy="953265"/>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074E7D6F-B4D4-B860-5D1A-4022DCE798BD}"/>
              </a:ext>
            </a:extLst>
          </p:cNvPr>
          <p:cNvSpPr/>
          <p:nvPr/>
        </p:nvSpPr>
        <p:spPr>
          <a:xfrm>
            <a:off x="2312126" y="1628428"/>
            <a:ext cx="9444445" cy="1245399"/>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950D8AA4-F643-C7EB-1CC7-2C18CE2A200D}"/>
              </a:ext>
            </a:extLst>
          </p:cNvPr>
          <p:cNvSpPr txBox="1"/>
          <p:nvPr/>
        </p:nvSpPr>
        <p:spPr>
          <a:xfrm>
            <a:off x="2053574" y="4059684"/>
            <a:ext cx="2425117"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1.2 Innovation</a:t>
            </a:r>
            <a:endPar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23" name="文本框 22">
            <a:extLst>
              <a:ext uri="{FF2B5EF4-FFF2-40B4-BE49-F238E27FC236}">
                <a16:creationId xmlns:a16="http://schemas.microsoft.com/office/drawing/2014/main" id="{DDDD8615-7AC3-90B0-CA7A-B9B4E976E645}"/>
              </a:ext>
            </a:extLst>
          </p:cNvPr>
          <p:cNvSpPr txBox="1"/>
          <p:nvPr/>
        </p:nvSpPr>
        <p:spPr>
          <a:xfrm>
            <a:off x="2053574" y="4526392"/>
            <a:ext cx="9825203" cy="437684"/>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b="1" i="0" dirty="0">
                <a:solidFill>
                  <a:srgbClr val="FF0000"/>
                </a:solidFill>
                <a:effectLst/>
                <a:latin typeface="-apple-system"/>
              </a:rPr>
              <a:t>稀疏门控的</a:t>
            </a:r>
            <a:r>
              <a:rPr lang="en-US" altLang="zh-CN" sz="2000" b="1" i="0" dirty="0" err="1">
                <a:solidFill>
                  <a:srgbClr val="FF0000"/>
                </a:solidFill>
                <a:effectLst/>
                <a:latin typeface="-apple-system"/>
              </a:rPr>
              <a:t>MoE</a:t>
            </a:r>
            <a:r>
              <a:rPr lang="zh-CN" altLang="en-US" sz="2000" b="1" i="0" dirty="0">
                <a:solidFill>
                  <a:srgbClr val="FF0000"/>
                </a:solidFill>
                <a:effectLst/>
                <a:latin typeface="-apple-system"/>
              </a:rPr>
              <a:t>：在控制计算量的前提下，将模型参数量提升至千亿级别</a:t>
            </a:r>
            <a:endParaRPr lang="en-US" altLang="zh-CN" sz="2000" b="1" i="0" dirty="0">
              <a:solidFill>
                <a:srgbClr val="FF0000"/>
              </a:solidFill>
              <a:effectLst/>
              <a:latin typeface="-apple-system"/>
            </a:endParaRPr>
          </a:p>
        </p:txBody>
      </p:sp>
      <p:sp>
        <p:nvSpPr>
          <p:cNvPr id="24" name="文本框 23">
            <a:extLst>
              <a:ext uri="{FF2B5EF4-FFF2-40B4-BE49-F238E27FC236}">
                <a16:creationId xmlns:a16="http://schemas.microsoft.com/office/drawing/2014/main" id="{14E892DD-EB0F-38B6-C737-373BBD0C0A6A}"/>
              </a:ext>
            </a:extLst>
          </p:cNvPr>
          <p:cNvSpPr txBox="1"/>
          <p:nvPr/>
        </p:nvSpPr>
        <p:spPr>
          <a:xfrm>
            <a:off x="2053573" y="4984604"/>
            <a:ext cx="9825203" cy="1545680"/>
          </a:xfrm>
          <a:prstGeom prst="rect">
            <a:avLst/>
          </a:prstGeom>
          <a:noFill/>
        </p:spPr>
        <p:txBody>
          <a:bodyPr wrap="square">
            <a:spAutoFit/>
          </a:bodyPr>
          <a:lstStyle/>
          <a:p>
            <a:pPr marL="742950" lvl="1" indent="-285750">
              <a:lnSpc>
                <a:spcPct val="120000"/>
              </a:lnSpc>
              <a:buSzPct val="80000"/>
              <a:buFont typeface="Wingdings" panose="05000000000000000000" charset="0"/>
              <a:buChar char=""/>
            </a:pPr>
            <a:r>
              <a:rPr lang="zh-CN" altLang="en-US" sz="2000" b="1" i="0" dirty="0">
                <a:solidFill>
                  <a:srgbClr val="000000"/>
                </a:solidFill>
                <a:effectLst/>
                <a:latin typeface="-apple-system"/>
              </a:rPr>
              <a:t>主要结构</a:t>
            </a:r>
            <a:endParaRPr lang="en-US" altLang="zh-CN" sz="2000" b="1" i="0" dirty="0">
              <a:solidFill>
                <a:srgbClr val="000000"/>
              </a:solidFill>
              <a:effectLst/>
              <a:latin typeface="-apple-system"/>
            </a:endParaRPr>
          </a:p>
          <a:p>
            <a:pPr lvl="1">
              <a:lnSpc>
                <a:spcPct val="120000"/>
              </a:lnSpc>
              <a:buSzPct val="80000"/>
            </a:pPr>
            <a:r>
              <a:rPr lang="en-US" altLang="zh-CN" sz="2000" dirty="0">
                <a:solidFill>
                  <a:srgbClr val="000000"/>
                </a:solidFill>
                <a:latin typeface="-apple-system"/>
              </a:rPr>
              <a:t>     </a:t>
            </a:r>
            <a:r>
              <a:rPr lang="en-US" altLang="zh-CN" sz="2000" i="0" dirty="0">
                <a:solidFill>
                  <a:srgbClr val="000000"/>
                </a:solidFill>
                <a:effectLst/>
                <a:latin typeface="-apple-system"/>
              </a:rPr>
              <a:t>1) </a:t>
            </a:r>
            <a:r>
              <a:rPr lang="zh-CN" altLang="en-US" sz="2000" i="0" dirty="0">
                <a:solidFill>
                  <a:srgbClr val="000000"/>
                </a:solidFill>
                <a:effectLst/>
                <a:latin typeface="-apple-system"/>
              </a:rPr>
              <a:t>专家（</a:t>
            </a:r>
            <a:r>
              <a:rPr lang="en-US" altLang="zh-CN" sz="2000" i="0" dirty="0">
                <a:solidFill>
                  <a:srgbClr val="000000"/>
                </a:solidFill>
                <a:effectLst/>
                <a:latin typeface="-apple-system"/>
              </a:rPr>
              <a:t>Experts</a:t>
            </a:r>
            <a:r>
              <a:rPr lang="zh-CN" altLang="en-US" sz="2000" i="0" dirty="0">
                <a:solidFill>
                  <a:srgbClr val="000000"/>
                </a:solidFill>
                <a:effectLst/>
                <a:latin typeface="-apple-system"/>
              </a:rPr>
              <a:t>）​​</a:t>
            </a:r>
            <a:r>
              <a:rPr lang="en-US" altLang="zh-CN" sz="2000" i="0" dirty="0">
                <a:solidFill>
                  <a:srgbClr val="000000"/>
                </a:solidFill>
                <a:effectLst/>
                <a:latin typeface="-apple-system"/>
              </a:rPr>
              <a:t>: </a:t>
            </a:r>
            <a:r>
              <a:rPr lang="zh-CN" altLang="en-US" sz="2000" i="0" dirty="0">
                <a:solidFill>
                  <a:srgbClr val="000000"/>
                </a:solidFill>
                <a:effectLst/>
                <a:latin typeface="-apple-system"/>
              </a:rPr>
              <a:t>多</a:t>
            </a:r>
            <a:r>
              <a:rPr lang="zh-CN" altLang="en-US" sz="2000" b="0" i="0" dirty="0">
                <a:solidFill>
                  <a:srgbClr val="000000"/>
                </a:solidFill>
                <a:effectLst/>
                <a:latin typeface="-apple-system"/>
              </a:rPr>
              <a:t>个简单的前馈子网络</a:t>
            </a:r>
            <a:r>
              <a:rPr lang="zh-CN" altLang="en-US" sz="2000" dirty="0">
                <a:solidFill>
                  <a:srgbClr val="000000"/>
                </a:solidFill>
                <a:latin typeface="-apple-system"/>
              </a:rPr>
              <a:t>，</a:t>
            </a:r>
            <a:r>
              <a:rPr lang="zh-CN" altLang="en-US" sz="2000" b="0" i="0" dirty="0">
                <a:solidFill>
                  <a:srgbClr val="000000"/>
                </a:solidFill>
                <a:effectLst/>
                <a:latin typeface="-apple-system"/>
              </a:rPr>
              <a:t>所有专家结构相同但参数独立</a:t>
            </a:r>
            <a:endParaRPr lang="en-US" altLang="zh-CN" sz="2000" b="0" i="0" dirty="0">
              <a:solidFill>
                <a:srgbClr val="000000"/>
              </a:solidFill>
              <a:effectLst/>
              <a:latin typeface="-apple-system"/>
            </a:endParaRPr>
          </a:p>
          <a:p>
            <a:pPr lvl="1">
              <a:lnSpc>
                <a:spcPct val="120000"/>
              </a:lnSpc>
              <a:buSzPct val="80000"/>
            </a:pPr>
            <a:r>
              <a:rPr lang="zh-CN" altLang="en-US" sz="2000" i="0" dirty="0">
                <a:solidFill>
                  <a:srgbClr val="000000"/>
                </a:solidFill>
                <a:effectLst/>
                <a:latin typeface="-apple-system"/>
              </a:rPr>
              <a:t>     </a:t>
            </a:r>
            <a:r>
              <a:rPr lang="en-US" altLang="zh-CN" sz="2000" i="0" dirty="0">
                <a:solidFill>
                  <a:srgbClr val="000000"/>
                </a:solidFill>
                <a:effectLst/>
                <a:latin typeface="-apple-system"/>
              </a:rPr>
              <a:t>2) </a:t>
            </a:r>
            <a:r>
              <a:rPr lang="zh-CN" altLang="en-US" sz="2000" i="0" dirty="0">
                <a:solidFill>
                  <a:srgbClr val="000000"/>
                </a:solidFill>
                <a:effectLst/>
                <a:latin typeface="-apple-system"/>
              </a:rPr>
              <a:t>门控网络（</a:t>
            </a:r>
            <a:r>
              <a:rPr lang="en-US" altLang="zh-CN" sz="2000" i="0" dirty="0">
                <a:solidFill>
                  <a:srgbClr val="000000"/>
                </a:solidFill>
                <a:effectLst/>
                <a:latin typeface="-apple-system"/>
              </a:rPr>
              <a:t>Gating Network</a:t>
            </a:r>
            <a:r>
              <a:rPr lang="zh-CN" altLang="en-US" sz="2000" i="0" dirty="0">
                <a:solidFill>
                  <a:srgbClr val="000000"/>
                </a:solidFill>
                <a:effectLst/>
                <a:latin typeface="-apple-system"/>
              </a:rPr>
              <a:t>）​​</a:t>
            </a:r>
            <a:r>
              <a:rPr lang="en-US" altLang="zh-CN" sz="2000" i="0" dirty="0">
                <a:solidFill>
                  <a:srgbClr val="000000"/>
                </a:solidFill>
                <a:effectLst/>
                <a:latin typeface="-apple-system"/>
              </a:rPr>
              <a:t>: </a:t>
            </a:r>
            <a:r>
              <a:rPr lang="zh-CN" altLang="en-US" sz="2000" b="0" i="0" dirty="0">
                <a:solidFill>
                  <a:srgbClr val="000000"/>
                </a:solidFill>
                <a:effectLst/>
                <a:latin typeface="-apple-system"/>
              </a:rPr>
              <a:t>一个可训练的网络，为每个输入样本​</a:t>
            </a:r>
            <a:r>
              <a:rPr lang="zh-CN" altLang="en-US" sz="2000" b="1" i="0" dirty="0">
                <a:solidFill>
                  <a:srgbClr val="000000"/>
                </a:solidFill>
                <a:effectLst/>
                <a:latin typeface="-apple-system"/>
              </a:rPr>
              <a:t>​</a:t>
            </a:r>
            <a:r>
              <a:rPr lang="zh-CN" altLang="en-US" sz="2000" b="1" i="0" dirty="0">
                <a:solidFill>
                  <a:srgbClr val="FF0000"/>
                </a:solidFill>
                <a:effectLst/>
                <a:latin typeface="-apple-system"/>
              </a:rPr>
              <a:t>稀疏</a:t>
            </a:r>
            <a:r>
              <a:rPr lang="zh-CN" altLang="en-US" sz="2000" i="0" dirty="0">
                <a:solidFill>
                  <a:srgbClr val="000000"/>
                </a:solidFill>
                <a:effectLst/>
                <a:latin typeface="-apple-system"/>
              </a:rPr>
              <a:t>地</a:t>
            </a:r>
            <a:r>
              <a:rPr lang="zh-CN" altLang="en-US" sz="2000" b="1" i="0" dirty="0">
                <a:solidFill>
                  <a:srgbClr val="000000"/>
                </a:solidFill>
                <a:effectLst/>
                <a:latin typeface="-apple-system"/>
              </a:rPr>
              <a:t>​</a:t>
            </a:r>
            <a:r>
              <a:rPr lang="zh-CN" altLang="en-US" sz="2000" b="0" i="0" dirty="0">
                <a:solidFill>
                  <a:srgbClr val="000000"/>
                </a:solidFill>
                <a:effectLst/>
                <a:latin typeface="-apple-system"/>
              </a:rPr>
              <a:t>​选择一小部分专家进行计算</a:t>
            </a:r>
            <a:endParaRPr lang="en-US" altLang="zh-CN" sz="2000" b="0" i="0" dirty="0">
              <a:solidFill>
                <a:srgbClr val="000000"/>
              </a:solidFill>
              <a:effectLst/>
              <a:latin typeface="-apple-system"/>
            </a:endParaRPr>
          </a:p>
        </p:txBody>
      </p:sp>
    </p:spTree>
    <p:extLst>
      <p:ext uri="{BB962C8B-B14F-4D97-AF65-F5344CB8AC3E}">
        <p14:creationId xmlns:p14="http://schemas.microsoft.com/office/powerpoint/2010/main" val="302793610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DB986-157D-C33F-AFCE-0EF655274E6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E854A7BB-A66E-5FA8-95D3-724A9B56B2CB}"/>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E883F54F-828F-CED2-DE93-78A9FAF228DF}"/>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A0443BCE-31E9-B161-E1E2-62D351EDC0AE}"/>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E6B3B164-EFB0-E96A-EA05-AE8DFB75DD57}"/>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44950B19-97C0-855B-20EE-38BF24505337}"/>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2309F985-A87C-C9AB-75FA-AEAED9807598}"/>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 How to achieve this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sparsification</a:t>
            </a: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523B3B2D-FC74-DDF6-0FD8-B2A95F5685F6}"/>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2.1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工作机制</a:t>
            </a:r>
          </a:p>
        </p:txBody>
      </p:sp>
      <p:pic>
        <p:nvPicPr>
          <p:cNvPr id="3" name="图片 2">
            <a:extLst>
              <a:ext uri="{FF2B5EF4-FFF2-40B4-BE49-F238E27FC236}">
                <a16:creationId xmlns:a16="http://schemas.microsoft.com/office/drawing/2014/main" id="{512E6ACC-1E34-1972-E815-EC22CB189C85}"/>
              </a:ext>
            </a:extLst>
          </p:cNvPr>
          <p:cNvPicPr>
            <a:picLocks noChangeAspect="1"/>
          </p:cNvPicPr>
          <p:nvPr/>
        </p:nvPicPr>
        <p:blipFill>
          <a:blip r:embed="rId3"/>
          <a:stretch>
            <a:fillRect/>
          </a:stretch>
        </p:blipFill>
        <p:spPr>
          <a:xfrm>
            <a:off x="300368" y="170733"/>
            <a:ext cx="847725" cy="876300"/>
          </a:xfrm>
          <a:prstGeom prst="rect">
            <a:avLst/>
          </a:prstGeom>
        </p:spPr>
      </p:pic>
      <p:sp>
        <p:nvSpPr>
          <p:cNvPr id="22" name="文本框 21">
            <a:extLst>
              <a:ext uri="{FF2B5EF4-FFF2-40B4-BE49-F238E27FC236}">
                <a16:creationId xmlns:a16="http://schemas.microsoft.com/office/drawing/2014/main" id="{4A5FD46F-CC28-747A-5B44-D82ED1522B88}"/>
              </a:ext>
            </a:extLst>
          </p:cNvPr>
          <p:cNvSpPr txBox="1"/>
          <p:nvPr/>
        </p:nvSpPr>
        <p:spPr>
          <a:xfrm>
            <a:off x="2312127" y="4056322"/>
            <a:ext cx="9825203" cy="437043"/>
          </a:xfrm>
          <a:prstGeom prst="rect">
            <a:avLst/>
          </a:prstGeom>
          <a:noFill/>
        </p:spPr>
        <p:txBody>
          <a:bodyPr wrap="square">
            <a:spAutoFit/>
          </a:bodyPr>
          <a:lstStyle/>
          <a:p>
            <a:pPr lvl="1">
              <a:lnSpc>
                <a:spcPct val="120000"/>
              </a:lnSpc>
              <a:buSzPct val="80000"/>
            </a:pPr>
            <a:r>
              <a:rPr lang="zh-CN" altLang="en-US" sz="2000" i="0" dirty="0">
                <a:solidFill>
                  <a:srgbClr val="000000"/>
                </a:solidFill>
                <a:effectLst/>
                <a:latin typeface="-apple-system"/>
              </a:rPr>
              <a:t>②</a:t>
            </a:r>
            <a:r>
              <a:rPr lang="en-US" altLang="zh-CN" sz="2000" i="0" dirty="0">
                <a:solidFill>
                  <a:srgbClr val="000000"/>
                </a:solidFill>
                <a:effectLst/>
                <a:latin typeface="-apple-system"/>
              </a:rPr>
              <a:t>G</a:t>
            </a:r>
            <a:r>
              <a:rPr lang="en-US" altLang="zh-CN" sz="2000" dirty="0">
                <a:solidFill>
                  <a:srgbClr val="000000"/>
                </a:solidFill>
                <a:latin typeface="-apple-system"/>
              </a:rPr>
              <a:t>(x)</a:t>
            </a:r>
            <a:r>
              <a:rPr lang="zh-CN" altLang="en-US" sz="2000" dirty="0">
                <a:solidFill>
                  <a:srgbClr val="000000"/>
                </a:solidFill>
                <a:latin typeface="-apple-system"/>
              </a:rPr>
              <a:t>产生一个稀疏的输出向量</a:t>
            </a:r>
            <a:endParaRPr lang="en-US" altLang="zh-CN" sz="2000" i="0" dirty="0">
              <a:solidFill>
                <a:srgbClr val="000000"/>
              </a:solidFill>
              <a:effectLst/>
              <a:latin typeface="-apple-system"/>
            </a:endParaRPr>
          </a:p>
        </p:txBody>
      </p:sp>
      <p:pic>
        <p:nvPicPr>
          <p:cNvPr id="33" name="图片 32">
            <a:extLst>
              <a:ext uri="{FF2B5EF4-FFF2-40B4-BE49-F238E27FC236}">
                <a16:creationId xmlns:a16="http://schemas.microsoft.com/office/drawing/2014/main" id="{42D11B8B-534C-1C55-3B78-DA67650C9B91}"/>
              </a:ext>
            </a:extLst>
          </p:cNvPr>
          <p:cNvPicPr>
            <a:picLocks noChangeAspect="1"/>
          </p:cNvPicPr>
          <p:nvPr/>
        </p:nvPicPr>
        <p:blipFill>
          <a:blip r:embed="rId4"/>
          <a:stretch>
            <a:fillRect/>
          </a:stretch>
        </p:blipFill>
        <p:spPr>
          <a:xfrm>
            <a:off x="5525897" y="1627977"/>
            <a:ext cx="2701414" cy="1007106"/>
          </a:xfrm>
          <a:prstGeom prst="rect">
            <a:avLst/>
          </a:prstGeom>
        </p:spPr>
      </p:pic>
      <p:sp>
        <p:nvSpPr>
          <p:cNvPr id="34" name="矩形 33">
            <a:extLst>
              <a:ext uri="{FF2B5EF4-FFF2-40B4-BE49-F238E27FC236}">
                <a16:creationId xmlns:a16="http://schemas.microsoft.com/office/drawing/2014/main" id="{826B6B16-E711-95FE-9FE8-06DABF10E9D2}"/>
              </a:ext>
            </a:extLst>
          </p:cNvPr>
          <p:cNvSpPr/>
          <p:nvPr/>
        </p:nvSpPr>
        <p:spPr>
          <a:xfrm>
            <a:off x="2312126" y="1628428"/>
            <a:ext cx="9444445" cy="1579425"/>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6A4F1508-BC0D-ACD5-80AF-4571588DF86C}"/>
              </a:ext>
            </a:extLst>
          </p:cNvPr>
          <p:cNvSpPr txBox="1"/>
          <p:nvPr/>
        </p:nvSpPr>
        <p:spPr>
          <a:xfrm>
            <a:off x="2312127" y="3524263"/>
            <a:ext cx="9825203" cy="437043"/>
          </a:xfrm>
          <a:prstGeom prst="rect">
            <a:avLst/>
          </a:prstGeom>
          <a:noFill/>
        </p:spPr>
        <p:txBody>
          <a:bodyPr wrap="square">
            <a:spAutoFit/>
          </a:bodyPr>
          <a:lstStyle/>
          <a:p>
            <a:pPr lvl="1">
              <a:lnSpc>
                <a:spcPct val="120000"/>
              </a:lnSpc>
              <a:buSzPct val="80000"/>
            </a:pPr>
            <a:r>
              <a:rPr lang="zh-CN" altLang="en-US" sz="2000" i="0" dirty="0">
                <a:solidFill>
                  <a:srgbClr val="000000"/>
                </a:solidFill>
                <a:effectLst/>
                <a:latin typeface="-apple-system"/>
              </a:rPr>
              <a:t>①输入</a:t>
            </a:r>
            <a:r>
              <a:rPr lang="en-US" altLang="zh-CN" sz="2000" i="0" dirty="0">
                <a:solidFill>
                  <a:srgbClr val="000000"/>
                </a:solidFill>
                <a:effectLst/>
                <a:latin typeface="-apple-system"/>
              </a:rPr>
              <a:t>x</a:t>
            </a:r>
            <a:r>
              <a:rPr lang="zh-CN" altLang="en-US" sz="2000" i="0" dirty="0">
                <a:solidFill>
                  <a:srgbClr val="000000"/>
                </a:solidFill>
                <a:effectLst/>
                <a:latin typeface="-apple-system"/>
              </a:rPr>
              <a:t>至门控网络</a:t>
            </a:r>
            <a:r>
              <a:rPr lang="en-US" altLang="zh-CN" sz="2000" i="0" dirty="0">
                <a:solidFill>
                  <a:srgbClr val="000000"/>
                </a:solidFill>
                <a:effectLst/>
                <a:latin typeface="-apple-system"/>
              </a:rPr>
              <a:t>G</a:t>
            </a:r>
            <a:r>
              <a:rPr lang="zh-CN" altLang="en-US" sz="2000" i="0" dirty="0">
                <a:solidFill>
                  <a:srgbClr val="000000"/>
                </a:solidFill>
                <a:effectLst/>
                <a:latin typeface="-apple-system"/>
              </a:rPr>
              <a:t>与专家网络</a:t>
            </a:r>
            <a:r>
              <a:rPr lang="en-US" altLang="zh-CN" sz="2000" i="0" dirty="0">
                <a:solidFill>
                  <a:srgbClr val="000000"/>
                </a:solidFill>
                <a:effectLst/>
                <a:latin typeface="-apple-system"/>
              </a:rPr>
              <a:t>E</a:t>
            </a:r>
          </a:p>
        </p:txBody>
      </p:sp>
      <p:sp>
        <p:nvSpPr>
          <p:cNvPr id="36" name="文本框 35">
            <a:extLst>
              <a:ext uri="{FF2B5EF4-FFF2-40B4-BE49-F238E27FC236}">
                <a16:creationId xmlns:a16="http://schemas.microsoft.com/office/drawing/2014/main" id="{2E79359A-47C9-68D2-C872-71BB016FDCCC}"/>
              </a:ext>
            </a:extLst>
          </p:cNvPr>
          <p:cNvSpPr txBox="1"/>
          <p:nvPr/>
        </p:nvSpPr>
        <p:spPr>
          <a:xfrm>
            <a:off x="2116403" y="2762996"/>
            <a:ext cx="9825203" cy="437043"/>
          </a:xfrm>
          <a:prstGeom prst="rect">
            <a:avLst/>
          </a:prstGeom>
          <a:noFill/>
        </p:spPr>
        <p:txBody>
          <a:bodyPr wrap="square">
            <a:spAutoFit/>
          </a:bodyPr>
          <a:lstStyle/>
          <a:p>
            <a:pPr lvl="1">
              <a:lnSpc>
                <a:spcPct val="120000"/>
              </a:lnSpc>
              <a:buSzPct val="80000"/>
            </a:pPr>
            <a:r>
              <a:rPr lang="en-US" altLang="zh-CN" sz="2000" i="0" dirty="0">
                <a:solidFill>
                  <a:srgbClr val="000000"/>
                </a:solidFill>
                <a:effectLst/>
                <a:latin typeface="-apple-system"/>
              </a:rPr>
              <a:t>G(x)</a:t>
            </a:r>
            <a:r>
              <a:rPr lang="zh-CN" altLang="en-US" sz="2000" i="0" dirty="0">
                <a:solidFill>
                  <a:srgbClr val="000000"/>
                </a:solidFill>
                <a:effectLst/>
                <a:latin typeface="-apple-system"/>
              </a:rPr>
              <a:t>为门控网络的输出，</a:t>
            </a:r>
            <a:r>
              <a:rPr lang="en-US" altLang="zh-CN" sz="2000" i="0" dirty="0">
                <a:solidFill>
                  <a:srgbClr val="000000"/>
                </a:solidFill>
                <a:effectLst/>
                <a:latin typeface="-apple-system"/>
              </a:rPr>
              <a:t>E(x)</a:t>
            </a:r>
            <a:r>
              <a:rPr lang="zh-CN" altLang="en-US" sz="2000" i="0" dirty="0">
                <a:solidFill>
                  <a:srgbClr val="000000"/>
                </a:solidFill>
                <a:effectLst/>
                <a:latin typeface="-apple-system"/>
              </a:rPr>
              <a:t>为各个专家网络的输出，</a:t>
            </a:r>
            <a:r>
              <a:rPr lang="en-US" altLang="zh-CN" sz="2000" i="0" dirty="0">
                <a:solidFill>
                  <a:srgbClr val="000000"/>
                </a:solidFill>
                <a:effectLst/>
                <a:latin typeface="-apple-system"/>
              </a:rPr>
              <a:t>y</a:t>
            </a:r>
            <a:r>
              <a:rPr lang="zh-CN" altLang="en-US" sz="2000" i="0" dirty="0">
                <a:solidFill>
                  <a:srgbClr val="000000"/>
                </a:solidFill>
                <a:effectLst/>
                <a:latin typeface="-apple-system"/>
              </a:rPr>
              <a:t>为</a:t>
            </a:r>
            <a:r>
              <a:rPr lang="en-US" altLang="zh-CN" sz="2000" i="0" dirty="0" err="1">
                <a:solidFill>
                  <a:srgbClr val="000000"/>
                </a:solidFill>
                <a:effectLst/>
                <a:latin typeface="-apple-system"/>
              </a:rPr>
              <a:t>MoE</a:t>
            </a:r>
            <a:r>
              <a:rPr lang="zh-CN" altLang="en-US" sz="2000" i="0" dirty="0">
                <a:solidFill>
                  <a:srgbClr val="000000"/>
                </a:solidFill>
                <a:effectLst/>
                <a:latin typeface="-apple-system"/>
              </a:rPr>
              <a:t>的输出</a:t>
            </a:r>
            <a:endParaRPr lang="en-US" altLang="zh-CN" sz="2000" i="0" dirty="0">
              <a:solidFill>
                <a:srgbClr val="000000"/>
              </a:solidFill>
              <a:effectLst/>
              <a:latin typeface="-apple-system"/>
            </a:endParaRPr>
          </a:p>
        </p:txBody>
      </p:sp>
      <p:sp>
        <p:nvSpPr>
          <p:cNvPr id="37" name="文本框 36">
            <a:extLst>
              <a:ext uri="{FF2B5EF4-FFF2-40B4-BE49-F238E27FC236}">
                <a16:creationId xmlns:a16="http://schemas.microsoft.com/office/drawing/2014/main" id="{037AC9E5-775F-7221-365E-49FEAB40F02F}"/>
              </a:ext>
            </a:extLst>
          </p:cNvPr>
          <p:cNvSpPr txBox="1"/>
          <p:nvPr/>
        </p:nvSpPr>
        <p:spPr>
          <a:xfrm>
            <a:off x="2312126" y="4658134"/>
            <a:ext cx="9825203" cy="437684"/>
          </a:xfrm>
          <a:prstGeom prst="rect">
            <a:avLst/>
          </a:prstGeom>
          <a:noFill/>
        </p:spPr>
        <p:txBody>
          <a:bodyPr wrap="square">
            <a:spAutoFit/>
          </a:bodyPr>
          <a:lstStyle/>
          <a:p>
            <a:pPr lvl="1">
              <a:lnSpc>
                <a:spcPct val="120000"/>
              </a:lnSpc>
              <a:buSzPct val="80000"/>
            </a:pPr>
            <a:r>
              <a:rPr lang="zh-CN" altLang="en-US" sz="2000" i="0" dirty="0">
                <a:solidFill>
                  <a:srgbClr val="000000"/>
                </a:solidFill>
                <a:effectLst/>
                <a:latin typeface="-apple-system"/>
              </a:rPr>
              <a:t>③仅对权重非零的专家进行计算得到</a:t>
            </a:r>
            <a:r>
              <a:rPr lang="en-US" altLang="zh-CN" sz="2000" i="0" dirty="0">
                <a:solidFill>
                  <a:srgbClr val="000000"/>
                </a:solidFill>
                <a:effectLst/>
                <a:latin typeface="-apple-system"/>
              </a:rPr>
              <a:t>E</a:t>
            </a:r>
            <a:r>
              <a:rPr lang="en-US" altLang="zh-CN" sz="2000" dirty="0">
                <a:solidFill>
                  <a:srgbClr val="000000"/>
                </a:solidFill>
                <a:latin typeface="-apple-system"/>
              </a:rPr>
              <a:t>(x)</a:t>
            </a:r>
            <a:endParaRPr lang="en-US" altLang="zh-CN" sz="2000" i="0" dirty="0">
              <a:solidFill>
                <a:srgbClr val="000000"/>
              </a:solidFill>
              <a:effectLst/>
              <a:latin typeface="-apple-system"/>
            </a:endParaRPr>
          </a:p>
        </p:txBody>
      </p:sp>
      <p:sp>
        <p:nvSpPr>
          <p:cNvPr id="38" name="文本框 37">
            <a:extLst>
              <a:ext uri="{FF2B5EF4-FFF2-40B4-BE49-F238E27FC236}">
                <a16:creationId xmlns:a16="http://schemas.microsoft.com/office/drawing/2014/main" id="{FED555AA-5DF5-8D0C-CF1A-B965446514B3}"/>
              </a:ext>
            </a:extLst>
          </p:cNvPr>
          <p:cNvSpPr txBox="1"/>
          <p:nvPr/>
        </p:nvSpPr>
        <p:spPr>
          <a:xfrm>
            <a:off x="2312126" y="5190193"/>
            <a:ext cx="9825203" cy="437043"/>
          </a:xfrm>
          <a:prstGeom prst="rect">
            <a:avLst/>
          </a:prstGeom>
          <a:noFill/>
        </p:spPr>
        <p:txBody>
          <a:bodyPr wrap="square">
            <a:spAutoFit/>
          </a:bodyPr>
          <a:lstStyle/>
          <a:p>
            <a:pPr lvl="1">
              <a:lnSpc>
                <a:spcPct val="120000"/>
              </a:lnSpc>
              <a:buSzPct val="80000"/>
            </a:pPr>
            <a:r>
              <a:rPr lang="zh-CN" altLang="en-US" sz="2000" i="0" dirty="0">
                <a:solidFill>
                  <a:srgbClr val="000000"/>
                </a:solidFill>
                <a:effectLst/>
                <a:latin typeface="-apple-system"/>
              </a:rPr>
              <a:t>④将所有非零的</a:t>
            </a:r>
            <a:r>
              <a:rPr lang="en-US" altLang="zh-CN" sz="2000" i="0" dirty="0">
                <a:solidFill>
                  <a:srgbClr val="000000"/>
                </a:solidFill>
                <a:effectLst/>
                <a:latin typeface="-apple-system"/>
              </a:rPr>
              <a:t>G(x)*E(x)</a:t>
            </a:r>
            <a:r>
              <a:rPr lang="zh-CN" altLang="en-US" sz="2000" i="0" dirty="0">
                <a:solidFill>
                  <a:srgbClr val="000000"/>
                </a:solidFill>
                <a:effectLst/>
                <a:latin typeface="-apple-system"/>
              </a:rPr>
              <a:t>求和得到</a:t>
            </a:r>
            <a:r>
              <a:rPr lang="en-US" altLang="zh-CN" sz="2000" i="0" dirty="0">
                <a:solidFill>
                  <a:srgbClr val="000000"/>
                </a:solidFill>
                <a:effectLst/>
                <a:latin typeface="-apple-system"/>
              </a:rPr>
              <a:t>y</a:t>
            </a:r>
          </a:p>
        </p:txBody>
      </p:sp>
      <p:sp>
        <p:nvSpPr>
          <p:cNvPr id="39" name="文本框 38">
            <a:extLst>
              <a:ext uri="{FF2B5EF4-FFF2-40B4-BE49-F238E27FC236}">
                <a16:creationId xmlns:a16="http://schemas.microsoft.com/office/drawing/2014/main" id="{A3BAE724-2852-E993-7494-1D8F6E4A0497}"/>
              </a:ext>
            </a:extLst>
          </p:cNvPr>
          <p:cNvSpPr txBox="1"/>
          <p:nvPr/>
        </p:nvSpPr>
        <p:spPr>
          <a:xfrm>
            <a:off x="1815254" y="5790773"/>
            <a:ext cx="10126352" cy="807016"/>
          </a:xfrm>
          <a:prstGeom prst="rect">
            <a:avLst/>
          </a:prstGeom>
          <a:noFill/>
        </p:spPr>
        <p:txBody>
          <a:bodyPr wrap="square">
            <a:spAutoFit/>
          </a:bodyPr>
          <a:lstStyle/>
          <a:p>
            <a:pPr lvl="1">
              <a:lnSpc>
                <a:spcPct val="120000"/>
              </a:lnSpc>
              <a:buSzPct val="80000"/>
            </a:pPr>
            <a:r>
              <a:rPr lang="zh-CN" altLang="en-US" sz="2000" b="1" dirty="0">
                <a:solidFill>
                  <a:srgbClr val="FF0000"/>
                </a:solidFill>
                <a:latin typeface="-apple-system"/>
              </a:rPr>
              <a:t>优势：</a:t>
            </a:r>
            <a:r>
              <a:rPr lang="zh-CN" altLang="en-US" sz="2000" b="1" dirty="0">
                <a:solidFill>
                  <a:srgbClr val="000000"/>
                </a:solidFill>
                <a:latin typeface="-apple-system"/>
              </a:rPr>
              <a:t>计算成本仅与激活的专家数量</a:t>
            </a:r>
            <a:r>
              <a:rPr lang="en-US" altLang="zh-CN" sz="2000" b="1" dirty="0">
                <a:solidFill>
                  <a:srgbClr val="000000"/>
                </a:solidFill>
                <a:latin typeface="-apple-system"/>
              </a:rPr>
              <a:t>k</a:t>
            </a:r>
            <a:r>
              <a:rPr lang="zh-CN" altLang="en-US" sz="2000" b="1" dirty="0">
                <a:solidFill>
                  <a:srgbClr val="000000"/>
                </a:solidFill>
                <a:latin typeface="-apple-system"/>
              </a:rPr>
              <a:t>成正比，而与专家总数</a:t>
            </a:r>
            <a:r>
              <a:rPr lang="en-US" altLang="zh-CN" sz="2000" b="1" dirty="0">
                <a:solidFill>
                  <a:srgbClr val="000000"/>
                </a:solidFill>
                <a:latin typeface="-apple-system"/>
              </a:rPr>
              <a:t>n</a:t>
            </a:r>
            <a:r>
              <a:rPr lang="zh-CN" altLang="en-US" sz="2000" b="1" dirty="0">
                <a:solidFill>
                  <a:srgbClr val="000000"/>
                </a:solidFill>
                <a:latin typeface="-apple-system"/>
              </a:rPr>
              <a:t>无关，从而实现了参数量与计算量的解耦</a:t>
            </a:r>
            <a:endParaRPr lang="en-US" altLang="zh-CN" sz="2000" b="1" i="0" dirty="0">
              <a:solidFill>
                <a:srgbClr val="000000"/>
              </a:solidFill>
              <a:effectLst/>
              <a:latin typeface="-apple-system"/>
            </a:endParaRPr>
          </a:p>
        </p:txBody>
      </p:sp>
    </p:spTree>
    <p:extLst>
      <p:ext uri="{BB962C8B-B14F-4D97-AF65-F5344CB8AC3E}">
        <p14:creationId xmlns:p14="http://schemas.microsoft.com/office/powerpoint/2010/main" val="2957501746"/>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47FB-237C-FCD6-7852-BDD9F808D36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6C6C3435-5905-5FEA-1175-B47F2ECD08CD}"/>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A1D3E3A8-438C-567C-533F-B267DB3816B9}"/>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B53AE727-F575-C8FA-339A-013730BA174A}"/>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0A89769-B763-BE07-B60C-C272DAD7D8DE}"/>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7B52FD59-1756-240F-EDED-A314C21FDAE8}"/>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2</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A2E02FA8-2467-7A99-B4B3-4C5A9B1CFD1F}"/>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2 How to achieve this </a:t>
            </a:r>
            <a:r>
              <a:rPr kumimoji="1" lang="en-US" altLang="zh-CN" sz="2400" b="1" spc="300" dirty="0" err="1">
                <a:solidFill>
                  <a:srgbClr val="141E8C"/>
                </a:solidFill>
                <a:latin typeface="Times New Roman Bold" panose="02020803070505020304" charset="0"/>
                <a:ea typeface="微软雅黑" panose="020B0503020204020204" pitchFamily="34" charset="-122"/>
                <a:cs typeface="Times New Roman Bold" panose="02020803070505020304" charset="0"/>
              </a:rPr>
              <a:t>sparsification</a:t>
            </a: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DDD284E0-320B-E49C-1EBE-2D388AD2BB11}"/>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2.2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稀疏化的实现</a:t>
            </a:r>
          </a:p>
        </p:txBody>
      </p:sp>
      <p:pic>
        <p:nvPicPr>
          <p:cNvPr id="3" name="图片 2">
            <a:extLst>
              <a:ext uri="{FF2B5EF4-FFF2-40B4-BE49-F238E27FC236}">
                <a16:creationId xmlns:a16="http://schemas.microsoft.com/office/drawing/2014/main" id="{D1C23BB7-555F-2081-3342-1EF6A6E38E96}"/>
              </a:ext>
            </a:extLst>
          </p:cNvPr>
          <p:cNvPicPr>
            <a:picLocks noChangeAspect="1"/>
          </p:cNvPicPr>
          <p:nvPr/>
        </p:nvPicPr>
        <p:blipFill>
          <a:blip r:embed="rId3"/>
          <a:stretch>
            <a:fillRect/>
          </a:stretch>
        </p:blipFill>
        <p:spPr>
          <a:xfrm>
            <a:off x="300368" y="170733"/>
            <a:ext cx="847725" cy="876300"/>
          </a:xfrm>
          <a:prstGeom prst="rect">
            <a:avLst/>
          </a:prstGeom>
        </p:spPr>
      </p:pic>
      <p:sp>
        <p:nvSpPr>
          <p:cNvPr id="5" name="文本框 4">
            <a:extLst>
              <a:ext uri="{FF2B5EF4-FFF2-40B4-BE49-F238E27FC236}">
                <a16:creationId xmlns:a16="http://schemas.microsoft.com/office/drawing/2014/main" id="{D881434A-510B-C0C9-BEFC-FCF221D352FE}"/>
              </a:ext>
            </a:extLst>
          </p:cNvPr>
          <p:cNvSpPr txBox="1"/>
          <p:nvPr/>
        </p:nvSpPr>
        <p:spPr>
          <a:xfrm>
            <a:off x="1972827" y="2838279"/>
            <a:ext cx="9825203" cy="437043"/>
          </a:xfrm>
          <a:prstGeom prst="rect">
            <a:avLst/>
          </a:prstGeom>
          <a:noFill/>
        </p:spPr>
        <p:txBody>
          <a:bodyPr wrap="square">
            <a:spAutoFit/>
          </a:bodyPr>
          <a:lstStyle/>
          <a:p>
            <a:pPr lvl="1">
              <a:lnSpc>
                <a:spcPct val="120000"/>
              </a:lnSpc>
              <a:buSzPct val="80000"/>
            </a:pPr>
            <a:r>
              <a:rPr lang="zh-CN" altLang="en-US" sz="2000" b="1" i="0" dirty="0">
                <a:solidFill>
                  <a:srgbClr val="000000"/>
                </a:solidFill>
                <a:effectLst/>
                <a:latin typeface="-apple-system"/>
              </a:rPr>
              <a:t>稀疏化：带噪声的</a:t>
            </a:r>
            <a:r>
              <a:rPr lang="en-US" altLang="zh-CN" sz="2000" b="1" i="0" dirty="0" err="1">
                <a:solidFill>
                  <a:srgbClr val="000000"/>
                </a:solidFill>
                <a:effectLst/>
                <a:latin typeface="-apple-system"/>
              </a:rPr>
              <a:t>TopK</a:t>
            </a:r>
            <a:r>
              <a:rPr lang="zh-CN" altLang="en-US" sz="2000" b="1" i="0" dirty="0">
                <a:solidFill>
                  <a:srgbClr val="000000"/>
                </a:solidFill>
                <a:effectLst/>
                <a:latin typeface="-apple-system"/>
              </a:rPr>
              <a:t>门控</a:t>
            </a:r>
            <a:endParaRPr lang="en-US" altLang="zh-CN" sz="2000" b="1" i="0" dirty="0">
              <a:solidFill>
                <a:srgbClr val="000000"/>
              </a:solidFill>
              <a:effectLst/>
              <a:latin typeface="-apple-system"/>
            </a:endParaRPr>
          </a:p>
        </p:txBody>
      </p:sp>
      <p:pic>
        <p:nvPicPr>
          <p:cNvPr id="18" name="图片 17">
            <a:extLst>
              <a:ext uri="{FF2B5EF4-FFF2-40B4-BE49-F238E27FC236}">
                <a16:creationId xmlns:a16="http://schemas.microsoft.com/office/drawing/2014/main" id="{68C1EE50-A3DC-2A7A-3D09-A29E28DD5D73}"/>
              </a:ext>
            </a:extLst>
          </p:cNvPr>
          <p:cNvPicPr>
            <a:picLocks noChangeAspect="1"/>
          </p:cNvPicPr>
          <p:nvPr/>
        </p:nvPicPr>
        <p:blipFill>
          <a:blip r:embed="rId4"/>
          <a:stretch>
            <a:fillRect/>
          </a:stretch>
        </p:blipFill>
        <p:spPr>
          <a:xfrm>
            <a:off x="5199484" y="2205311"/>
            <a:ext cx="3077062" cy="637681"/>
          </a:xfrm>
          <a:prstGeom prst="rect">
            <a:avLst/>
          </a:prstGeom>
        </p:spPr>
      </p:pic>
      <p:sp>
        <p:nvSpPr>
          <p:cNvPr id="22" name="文本框 21">
            <a:extLst>
              <a:ext uri="{FF2B5EF4-FFF2-40B4-BE49-F238E27FC236}">
                <a16:creationId xmlns:a16="http://schemas.microsoft.com/office/drawing/2014/main" id="{BF69C4FF-D998-243F-9809-E51BE6D5A6E2}"/>
              </a:ext>
            </a:extLst>
          </p:cNvPr>
          <p:cNvSpPr txBox="1"/>
          <p:nvPr/>
        </p:nvSpPr>
        <p:spPr>
          <a:xfrm>
            <a:off x="1967654" y="1672713"/>
            <a:ext cx="9825203" cy="437043"/>
          </a:xfrm>
          <a:prstGeom prst="rect">
            <a:avLst/>
          </a:prstGeom>
          <a:noFill/>
        </p:spPr>
        <p:txBody>
          <a:bodyPr wrap="square">
            <a:spAutoFit/>
          </a:bodyPr>
          <a:lstStyle/>
          <a:p>
            <a:pPr lvl="1">
              <a:lnSpc>
                <a:spcPct val="120000"/>
              </a:lnSpc>
              <a:buSzPct val="80000"/>
            </a:pPr>
            <a:r>
              <a:rPr lang="zh-CN" altLang="en-US" sz="2000" b="1" i="0" dirty="0">
                <a:solidFill>
                  <a:srgbClr val="000000"/>
                </a:solidFill>
                <a:effectLst/>
                <a:latin typeface="-apple-system"/>
              </a:rPr>
              <a:t>未稀疏化：</a:t>
            </a:r>
            <a:r>
              <a:rPr lang="zh-CN" altLang="en-US" sz="2000" b="0" i="0" dirty="0">
                <a:solidFill>
                  <a:srgbClr val="000000"/>
                </a:solidFill>
                <a:effectLst/>
                <a:latin typeface="-apple-system"/>
              </a:rPr>
              <a:t>直接通过</a:t>
            </a:r>
            <a:r>
              <a:rPr lang="en-US" altLang="zh-CN" sz="2000" b="0" i="0" dirty="0" err="1">
                <a:solidFill>
                  <a:srgbClr val="000000"/>
                </a:solidFill>
                <a:effectLst/>
                <a:latin typeface="-apple-system"/>
              </a:rPr>
              <a:t>Softmax</a:t>
            </a:r>
            <a:r>
              <a:rPr lang="zh-CN" altLang="en-US" sz="2000" b="0" i="0" dirty="0">
                <a:solidFill>
                  <a:srgbClr val="000000"/>
                </a:solidFill>
                <a:effectLst/>
                <a:latin typeface="-apple-system"/>
              </a:rPr>
              <a:t>函数产生每个专家的概率向量</a:t>
            </a:r>
            <a:endParaRPr lang="en-US" altLang="zh-CN" sz="2000" b="0" i="0" dirty="0">
              <a:solidFill>
                <a:srgbClr val="000000"/>
              </a:solidFill>
              <a:effectLst/>
              <a:latin typeface="-apple-system"/>
            </a:endParaRPr>
          </a:p>
        </p:txBody>
      </p:sp>
      <p:pic>
        <p:nvPicPr>
          <p:cNvPr id="28" name="图片 27">
            <a:extLst>
              <a:ext uri="{FF2B5EF4-FFF2-40B4-BE49-F238E27FC236}">
                <a16:creationId xmlns:a16="http://schemas.microsoft.com/office/drawing/2014/main" id="{26A3BB59-FE61-0A39-28EB-3BD6B0C76941}"/>
              </a:ext>
            </a:extLst>
          </p:cNvPr>
          <p:cNvPicPr>
            <a:picLocks noChangeAspect="1"/>
          </p:cNvPicPr>
          <p:nvPr/>
        </p:nvPicPr>
        <p:blipFill>
          <a:blip r:embed="rId5"/>
          <a:stretch>
            <a:fillRect/>
          </a:stretch>
        </p:blipFill>
        <p:spPr>
          <a:xfrm>
            <a:off x="3071487" y="3689577"/>
            <a:ext cx="7326281" cy="1620455"/>
          </a:xfrm>
          <a:prstGeom prst="rect">
            <a:avLst/>
          </a:prstGeom>
        </p:spPr>
      </p:pic>
      <p:sp>
        <p:nvSpPr>
          <p:cNvPr id="27" name="矩形 26">
            <a:extLst>
              <a:ext uri="{FF2B5EF4-FFF2-40B4-BE49-F238E27FC236}">
                <a16:creationId xmlns:a16="http://schemas.microsoft.com/office/drawing/2014/main" id="{32EF5418-A0FE-3CBE-1EE7-C3C0D8F0A169}"/>
              </a:ext>
            </a:extLst>
          </p:cNvPr>
          <p:cNvSpPr/>
          <p:nvPr/>
        </p:nvSpPr>
        <p:spPr>
          <a:xfrm>
            <a:off x="3322456" y="4562425"/>
            <a:ext cx="6624183" cy="747607"/>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14E9D7FC-862E-4052-469D-8718FEBF09C4}"/>
              </a:ext>
            </a:extLst>
          </p:cNvPr>
          <p:cNvPicPr>
            <a:picLocks noChangeAspect="1"/>
          </p:cNvPicPr>
          <p:nvPr/>
        </p:nvPicPr>
        <p:blipFill>
          <a:blip r:embed="rId6"/>
          <a:stretch>
            <a:fillRect/>
          </a:stretch>
        </p:blipFill>
        <p:spPr>
          <a:xfrm>
            <a:off x="4074105" y="5536190"/>
            <a:ext cx="4448790" cy="498083"/>
          </a:xfrm>
          <a:prstGeom prst="rect">
            <a:avLst/>
          </a:prstGeom>
        </p:spPr>
      </p:pic>
      <p:sp>
        <p:nvSpPr>
          <p:cNvPr id="30" name="文本框 29">
            <a:extLst>
              <a:ext uri="{FF2B5EF4-FFF2-40B4-BE49-F238E27FC236}">
                <a16:creationId xmlns:a16="http://schemas.microsoft.com/office/drawing/2014/main" id="{94822E1E-74DC-B1EB-8F31-C55D34481D1E}"/>
              </a:ext>
            </a:extLst>
          </p:cNvPr>
          <p:cNvSpPr txBox="1"/>
          <p:nvPr/>
        </p:nvSpPr>
        <p:spPr>
          <a:xfrm>
            <a:off x="5791919" y="3404888"/>
            <a:ext cx="5461951" cy="437043"/>
          </a:xfrm>
          <a:prstGeom prst="rect">
            <a:avLst/>
          </a:prstGeom>
          <a:noFill/>
        </p:spPr>
        <p:txBody>
          <a:bodyPr wrap="square">
            <a:spAutoFit/>
          </a:bodyPr>
          <a:lstStyle/>
          <a:p>
            <a:pPr lvl="1">
              <a:lnSpc>
                <a:spcPct val="120000"/>
              </a:lnSpc>
              <a:buSzPct val="80000"/>
            </a:pPr>
            <a:r>
              <a:rPr lang="zh-CN" altLang="en-US" sz="2000" b="1" i="0" dirty="0">
                <a:solidFill>
                  <a:srgbClr val="FF0000"/>
                </a:solidFill>
                <a:effectLst/>
                <a:latin typeface="-apple-system"/>
              </a:rPr>
              <a:t>添加高斯噪声注入随机性</a:t>
            </a:r>
            <a:endParaRPr lang="en-US" altLang="zh-CN" sz="2000" b="0" i="0" dirty="0">
              <a:solidFill>
                <a:srgbClr val="FF0000"/>
              </a:solidFill>
              <a:effectLst/>
              <a:latin typeface="-apple-system"/>
            </a:endParaRPr>
          </a:p>
        </p:txBody>
      </p:sp>
      <p:sp>
        <p:nvSpPr>
          <p:cNvPr id="31" name="文本框 30">
            <a:extLst>
              <a:ext uri="{FF2B5EF4-FFF2-40B4-BE49-F238E27FC236}">
                <a16:creationId xmlns:a16="http://schemas.microsoft.com/office/drawing/2014/main" id="{22E31D46-C8B7-06FD-EFD9-9F8748764972}"/>
              </a:ext>
            </a:extLst>
          </p:cNvPr>
          <p:cNvSpPr txBox="1"/>
          <p:nvPr/>
        </p:nvSpPr>
        <p:spPr>
          <a:xfrm>
            <a:off x="9654877" y="4492534"/>
            <a:ext cx="1985579" cy="807016"/>
          </a:xfrm>
          <a:prstGeom prst="rect">
            <a:avLst/>
          </a:prstGeom>
          <a:noFill/>
        </p:spPr>
        <p:txBody>
          <a:bodyPr wrap="square">
            <a:spAutoFit/>
          </a:bodyPr>
          <a:lstStyle/>
          <a:p>
            <a:pPr lvl="1">
              <a:lnSpc>
                <a:spcPct val="120000"/>
              </a:lnSpc>
              <a:buSzPct val="80000"/>
            </a:pPr>
            <a:r>
              <a:rPr lang="zh-CN" altLang="en-US" sz="2000" b="1" i="0" dirty="0">
                <a:solidFill>
                  <a:srgbClr val="FF0000"/>
                </a:solidFill>
                <a:effectLst/>
                <a:latin typeface="-apple-system"/>
              </a:rPr>
              <a:t>  引入</a:t>
            </a:r>
            <a:endParaRPr lang="en-US" altLang="zh-CN" sz="2000" b="1" i="0" dirty="0">
              <a:solidFill>
                <a:srgbClr val="FF0000"/>
              </a:solidFill>
              <a:effectLst/>
              <a:latin typeface="-apple-system"/>
            </a:endParaRPr>
          </a:p>
          <a:p>
            <a:pPr lvl="1">
              <a:lnSpc>
                <a:spcPct val="120000"/>
              </a:lnSpc>
              <a:buSzPct val="80000"/>
            </a:pPr>
            <a:r>
              <a:rPr lang="zh-CN" altLang="en-US" sz="2000" b="1" i="0" dirty="0">
                <a:solidFill>
                  <a:srgbClr val="FF0000"/>
                </a:solidFill>
                <a:effectLst/>
                <a:latin typeface="-apple-system"/>
              </a:rPr>
              <a:t>稀疏性</a:t>
            </a:r>
            <a:endParaRPr lang="en-US" altLang="zh-CN" sz="2000" b="0" i="0" dirty="0">
              <a:solidFill>
                <a:srgbClr val="FF0000"/>
              </a:solidFill>
              <a:effectLst/>
              <a:latin typeface="-apple-system"/>
            </a:endParaRPr>
          </a:p>
        </p:txBody>
      </p:sp>
    </p:spTree>
    <p:extLst>
      <p:ext uri="{BB962C8B-B14F-4D97-AF65-F5344CB8AC3E}">
        <p14:creationId xmlns:p14="http://schemas.microsoft.com/office/powerpoint/2010/main" val="36746370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9599-4334-9AA3-A168-A223C9BF3146}"/>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1A11E815-2998-040A-A8FF-CA5E0E841759}"/>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9E51960C-D2B6-32A7-5D13-E0B7E261287B}"/>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09A5596E-1C6B-18A8-BBD0-080684F7D799}"/>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63A59328-7290-D8D7-9B70-7F15F08A65E4}"/>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A0044ED7-8A99-35AD-A1B2-B1245C851DE9}"/>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F629DC4F-A0BF-6285-E881-7779ED7D963A}"/>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Challenge</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B974A160-6F75-BB20-540B-6E135398909F}"/>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3.1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批次缩小</a:t>
            </a:r>
          </a:p>
        </p:txBody>
      </p:sp>
      <p:pic>
        <p:nvPicPr>
          <p:cNvPr id="3" name="图片 2">
            <a:extLst>
              <a:ext uri="{FF2B5EF4-FFF2-40B4-BE49-F238E27FC236}">
                <a16:creationId xmlns:a16="http://schemas.microsoft.com/office/drawing/2014/main" id="{051A7E0F-3D69-FA06-457A-216C34C7CF2E}"/>
              </a:ext>
            </a:extLst>
          </p:cNvPr>
          <p:cNvPicPr>
            <a:picLocks noChangeAspect="1"/>
          </p:cNvPicPr>
          <p:nvPr/>
        </p:nvPicPr>
        <p:blipFill>
          <a:blip r:embed="rId3"/>
          <a:stretch>
            <a:fillRect/>
          </a:stretch>
        </p:blipFill>
        <p:spPr>
          <a:xfrm>
            <a:off x="300368" y="170733"/>
            <a:ext cx="847725" cy="876300"/>
          </a:xfrm>
          <a:prstGeom prst="rect">
            <a:avLst/>
          </a:prstGeom>
        </p:spPr>
      </p:pic>
      <p:sp>
        <p:nvSpPr>
          <p:cNvPr id="5" name="文本框 4">
            <a:extLst>
              <a:ext uri="{FF2B5EF4-FFF2-40B4-BE49-F238E27FC236}">
                <a16:creationId xmlns:a16="http://schemas.microsoft.com/office/drawing/2014/main" id="{09C62B18-BCA4-670B-B2C4-B4924F25C59D}"/>
              </a:ext>
            </a:extLst>
          </p:cNvPr>
          <p:cNvSpPr txBox="1"/>
          <p:nvPr/>
        </p:nvSpPr>
        <p:spPr>
          <a:xfrm>
            <a:off x="1972827" y="1596379"/>
            <a:ext cx="9825203" cy="807016"/>
          </a:xfrm>
          <a:prstGeom prst="rect">
            <a:avLst/>
          </a:prstGeom>
          <a:noFill/>
        </p:spPr>
        <p:txBody>
          <a:bodyPr wrap="square">
            <a:spAutoFit/>
          </a:bodyPr>
          <a:lstStyle/>
          <a:p>
            <a:pPr lvl="1">
              <a:lnSpc>
                <a:spcPct val="120000"/>
              </a:lnSpc>
              <a:buSzPct val="80000"/>
            </a:pPr>
            <a:r>
              <a:rPr lang="zh-CN" altLang="en-US" sz="2000" b="1" dirty="0">
                <a:solidFill>
                  <a:srgbClr val="000000"/>
                </a:solidFill>
                <a:latin typeface="-apple-system"/>
              </a:rPr>
              <a:t>若批次大小为</a:t>
            </a:r>
            <a:r>
              <a:rPr lang="en-US" altLang="zh-CN" sz="2000" b="1" dirty="0">
                <a:solidFill>
                  <a:srgbClr val="000000"/>
                </a:solidFill>
                <a:latin typeface="-apple-system"/>
              </a:rPr>
              <a:t>b</a:t>
            </a:r>
            <a:r>
              <a:rPr lang="zh-CN" altLang="en-US" sz="2000" b="1" dirty="0">
                <a:solidFill>
                  <a:srgbClr val="000000"/>
                </a:solidFill>
                <a:latin typeface="-apple-system"/>
              </a:rPr>
              <a:t>，则每个被选择的专家网络能够得到的批次大小为 </a:t>
            </a:r>
            <a:r>
              <a:rPr lang="en-US" altLang="zh-CN" sz="2000" b="1" dirty="0">
                <a:solidFill>
                  <a:srgbClr val="000000"/>
                </a:solidFill>
                <a:latin typeface="-apple-system"/>
              </a:rPr>
              <a:t>k*b/n &lt;&lt; b(</a:t>
            </a:r>
            <a:r>
              <a:rPr lang="zh-CN" altLang="en-US" sz="2000" b="1" dirty="0">
                <a:solidFill>
                  <a:srgbClr val="000000"/>
                </a:solidFill>
                <a:latin typeface="-apple-system"/>
              </a:rPr>
              <a:t>当</a:t>
            </a:r>
            <a:r>
              <a:rPr lang="en-US" altLang="zh-CN" sz="2000" b="1" dirty="0">
                <a:solidFill>
                  <a:srgbClr val="000000"/>
                </a:solidFill>
                <a:latin typeface="-apple-system"/>
              </a:rPr>
              <a:t>n</a:t>
            </a:r>
            <a:r>
              <a:rPr lang="zh-CN" altLang="en-US" sz="2000" b="1" dirty="0">
                <a:solidFill>
                  <a:srgbClr val="000000"/>
                </a:solidFill>
                <a:latin typeface="-apple-system"/>
              </a:rPr>
              <a:t>很大时）</a:t>
            </a:r>
            <a:endParaRPr lang="en-US" altLang="zh-CN" sz="2000" b="1" i="0" dirty="0">
              <a:solidFill>
                <a:srgbClr val="000000"/>
              </a:solidFill>
              <a:effectLst/>
              <a:latin typeface="-apple-system"/>
            </a:endParaRPr>
          </a:p>
        </p:txBody>
      </p:sp>
      <p:sp>
        <p:nvSpPr>
          <p:cNvPr id="22" name="文本框 21">
            <a:extLst>
              <a:ext uri="{FF2B5EF4-FFF2-40B4-BE49-F238E27FC236}">
                <a16:creationId xmlns:a16="http://schemas.microsoft.com/office/drawing/2014/main" id="{C021E03A-76EF-E443-C738-F6E99F3F6311}"/>
              </a:ext>
            </a:extLst>
          </p:cNvPr>
          <p:cNvSpPr txBox="1"/>
          <p:nvPr/>
        </p:nvSpPr>
        <p:spPr>
          <a:xfrm>
            <a:off x="1972827" y="3332751"/>
            <a:ext cx="9825203" cy="437043"/>
          </a:xfrm>
          <a:prstGeom prst="rect">
            <a:avLst/>
          </a:prstGeom>
          <a:noFill/>
        </p:spPr>
        <p:txBody>
          <a:bodyPr wrap="square">
            <a:spAutoFit/>
          </a:bodyPr>
          <a:lstStyle/>
          <a:p>
            <a:pPr lvl="1">
              <a:lnSpc>
                <a:spcPct val="120000"/>
              </a:lnSpc>
              <a:buSzPct val="80000"/>
            </a:pPr>
            <a:r>
              <a:rPr lang="en-US" altLang="zh-CN" sz="2000" b="1" i="0" dirty="0">
                <a:solidFill>
                  <a:srgbClr val="000000"/>
                </a:solidFill>
                <a:effectLst/>
                <a:latin typeface="-apple-system"/>
              </a:rPr>
              <a:t>1</a:t>
            </a:r>
            <a:r>
              <a:rPr lang="zh-CN" altLang="en-US" sz="2000" b="1" i="0" dirty="0">
                <a:solidFill>
                  <a:srgbClr val="000000"/>
                </a:solidFill>
                <a:effectLst/>
                <a:latin typeface="-apple-system"/>
              </a:rPr>
              <a:t>）混合并行策略</a:t>
            </a:r>
            <a:endParaRPr lang="en-US" altLang="zh-CN" sz="2000" b="0" i="0" dirty="0">
              <a:solidFill>
                <a:srgbClr val="000000"/>
              </a:solidFill>
              <a:effectLst/>
              <a:latin typeface="-apple-system"/>
            </a:endParaRPr>
          </a:p>
        </p:txBody>
      </p:sp>
      <p:sp>
        <p:nvSpPr>
          <p:cNvPr id="2" name="文本框 1">
            <a:extLst>
              <a:ext uri="{FF2B5EF4-FFF2-40B4-BE49-F238E27FC236}">
                <a16:creationId xmlns:a16="http://schemas.microsoft.com/office/drawing/2014/main" id="{9D916B9E-D0FF-EFBA-7DFF-FEFDBB7087AB}"/>
              </a:ext>
            </a:extLst>
          </p:cNvPr>
          <p:cNvSpPr txBox="1"/>
          <p:nvPr/>
        </p:nvSpPr>
        <p:spPr>
          <a:xfrm>
            <a:off x="3762438" y="2606326"/>
            <a:ext cx="9825203" cy="437043"/>
          </a:xfrm>
          <a:prstGeom prst="rect">
            <a:avLst/>
          </a:prstGeom>
          <a:noFill/>
        </p:spPr>
        <p:txBody>
          <a:bodyPr wrap="square">
            <a:spAutoFit/>
          </a:bodyPr>
          <a:lstStyle/>
          <a:p>
            <a:pPr lvl="1">
              <a:lnSpc>
                <a:spcPct val="120000"/>
              </a:lnSpc>
              <a:buSzPct val="80000"/>
            </a:pPr>
            <a:r>
              <a:rPr lang="en-US" altLang="zh-CN" sz="2000" b="1" i="0" dirty="0">
                <a:solidFill>
                  <a:srgbClr val="FF0000"/>
                </a:solidFill>
                <a:effectLst/>
                <a:latin typeface="-apple-system"/>
              </a:rPr>
              <a:t>GPU</a:t>
            </a:r>
            <a:r>
              <a:rPr lang="zh-CN" altLang="en-US" sz="2000" b="1" i="0" dirty="0">
                <a:solidFill>
                  <a:srgbClr val="FF0000"/>
                </a:solidFill>
                <a:effectLst/>
                <a:latin typeface="-apple-system"/>
              </a:rPr>
              <a:t>计算单元利用率极低，参数更新变得极小</a:t>
            </a:r>
            <a:endParaRPr lang="en-US" altLang="zh-CN" sz="2000" b="1" i="0" dirty="0">
              <a:solidFill>
                <a:srgbClr val="FF0000"/>
              </a:solidFill>
              <a:effectLst/>
              <a:latin typeface="-apple-system"/>
            </a:endParaRPr>
          </a:p>
        </p:txBody>
      </p:sp>
      <p:sp>
        <p:nvSpPr>
          <p:cNvPr id="7" name="箭头: 下 6">
            <a:extLst>
              <a:ext uri="{FF2B5EF4-FFF2-40B4-BE49-F238E27FC236}">
                <a16:creationId xmlns:a16="http://schemas.microsoft.com/office/drawing/2014/main" id="{1831E573-57DE-22ED-FD27-E06097C04273}"/>
              </a:ext>
            </a:extLst>
          </p:cNvPr>
          <p:cNvSpPr/>
          <p:nvPr/>
        </p:nvSpPr>
        <p:spPr>
          <a:xfrm>
            <a:off x="6666987" y="2112763"/>
            <a:ext cx="436881" cy="426357"/>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778BD852-A6B2-1BED-50BE-7877D42AFDD4}"/>
              </a:ext>
            </a:extLst>
          </p:cNvPr>
          <p:cNvSpPr txBox="1"/>
          <p:nvPr/>
        </p:nvSpPr>
        <p:spPr>
          <a:xfrm>
            <a:off x="2366796" y="3896201"/>
            <a:ext cx="7156031" cy="807016"/>
          </a:xfrm>
          <a:prstGeom prst="rect">
            <a:avLst/>
          </a:prstGeom>
          <a:noFill/>
        </p:spPr>
        <p:txBody>
          <a:bodyPr wrap="square">
            <a:spAutoFit/>
          </a:bodyPr>
          <a:lstStyle/>
          <a:p>
            <a:pPr lvl="1">
              <a:lnSpc>
                <a:spcPct val="120000"/>
              </a:lnSpc>
              <a:buSzPct val="80000"/>
            </a:pPr>
            <a:r>
              <a:rPr lang="zh-CN" altLang="en-US" sz="2000" b="1" i="0" dirty="0">
                <a:solidFill>
                  <a:srgbClr val="000000"/>
                </a:solidFill>
                <a:effectLst/>
                <a:latin typeface="-apple-system"/>
              </a:rPr>
              <a:t>分片：</a:t>
            </a:r>
            <a:r>
              <a:rPr lang="zh-CN" altLang="en-US" sz="2000" b="0" i="0" dirty="0">
                <a:solidFill>
                  <a:srgbClr val="000000"/>
                </a:solidFill>
                <a:effectLst/>
                <a:latin typeface="-apple-system"/>
              </a:rPr>
              <a:t>将总共 ​</a:t>
            </a:r>
            <a:r>
              <a:rPr lang="zh-CN" altLang="en-US" sz="2000" b="1" i="0" dirty="0">
                <a:solidFill>
                  <a:srgbClr val="000000"/>
                </a:solidFill>
                <a:effectLst/>
                <a:latin typeface="-apple-system"/>
              </a:rPr>
              <a:t>​</a:t>
            </a:r>
            <a:r>
              <a:rPr lang="en-US" altLang="zh-CN" sz="2000" b="1" i="0" dirty="0">
                <a:solidFill>
                  <a:srgbClr val="000000"/>
                </a:solidFill>
                <a:effectLst/>
                <a:latin typeface="-apple-system"/>
              </a:rPr>
              <a:t>n​</a:t>
            </a:r>
            <a:r>
              <a:rPr lang="zh-CN" altLang="en-US" sz="2000" b="0" i="0" dirty="0">
                <a:solidFill>
                  <a:srgbClr val="000000"/>
                </a:solidFill>
                <a:effectLst/>
                <a:latin typeface="-apple-system"/>
              </a:rPr>
              <a:t>​ 个专家​</a:t>
            </a:r>
            <a:r>
              <a:rPr lang="zh-CN" altLang="en-US" sz="2000" b="1" i="0" dirty="0">
                <a:solidFill>
                  <a:srgbClr val="000000"/>
                </a:solidFill>
                <a:effectLst/>
                <a:latin typeface="-apple-system"/>
              </a:rPr>
              <a:t>​分片​</a:t>
            </a:r>
            <a:r>
              <a:rPr lang="zh-CN" altLang="en-US" sz="2000" b="0" i="0" dirty="0">
                <a:solidFill>
                  <a:srgbClr val="000000"/>
                </a:solidFill>
                <a:effectLst/>
                <a:latin typeface="-apple-system"/>
              </a:rPr>
              <a:t>​到 ​</a:t>
            </a:r>
            <a:r>
              <a:rPr lang="zh-CN" altLang="en-US" sz="2000" b="1" i="0" dirty="0">
                <a:solidFill>
                  <a:srgbClr val="000000"/>
                </a:solidFill>
                <a:effectLst/>
                <a:latin typeface="-apple-system"/>
              </a:rPr>
              <a:t>​</a:t>
            </a:r>
            <a:r>
              <a:rPr lang="en-US" altLang="zh-CN" sz="2000" b="1" i="0" dirty="0">
                <a:solidFill>
                  <a:srgbClr val="000000"/>
                </a:solidFill>
                <a:effectLst/>
                <a:latin typeface="-apple-system"/>
              </a:rPr>
              <a:t>D​</a:t>
            </a:r>
            <a:r>
              <a:rPr lang="zh-CN" altLang="en-US" sz="2000" b="0" i="0" dirty="0">
                <a:solidFill>
                  <a:srgbClr val="000000"/>
                </a:solidFill>
                <a:effectLst/>
                <a:latin typeface="-apple-system"/>
              </a:rPr>
              <a:t>​ 个设备上。例如，</a:t>
            </a:r>
            <a:r>
              <a:rPr lang="en-US" altLang="zh-CN" sz="2000" b="0" i="0" dirty="0">
                <a:solidFill>
                  <a:srgbClr val="000000"/>
                </a:solidFill>
                <a:effectLst/>
                <a:latin typeface="-apple-system"/>
              </a:rPr>
              <a:t>1000</a:t>
            </a:r>
            <a:r>
              <a:rPr lang="zh-CN" altLang="en-US" sz="2000" b="0" i="0" dirty="0">
                <a:solidFill>
                  <a:srgbClr val="000000"/>
                </a:solidFill>
                <a:effectLst/>
                <a:latin typeface="-apple-system"/>
              </a:rPr>
              <a:t>个专家，每个设备存放</a:t>
            </a:r>
            <a:r>
              <a:rPr lang="en-US" altLang="zh-CN" sz="2000" b="0" i="0" dirty="0">
                <a:solidFill>
                  <a:srgbClr val="000000"/>
                </a:solidFill>
                <a:effectLst/>
                <a:latin typeface="-apple-system"/>
              </a:rPr>
              <a:t>250</a:t>
            </a:r>
            <a:r>
              <a:rPr lang="zh-CN" altLang="en-US" sz="2000" b="0" i="0" dirty="0">
                <a:solidFill>
                  <a:srgbClr val="000000"/>
                </a:solidFill>
                <a:effectLst/>
                <a:latin typeface="-apple-system"/>
              </a:rPr>
              <a:t>个</a:t>
            </a:r>
            <a:endParaRPr lang="en-US" altLang="zh-CN" sz="2000" b="1" i="0" dirty="0">
              <a:solidFill>
                <a:srgbClr val="000000"/>
              </a:solidFill>
              <a:effectLst/>
              <a:latin typeface="-apple-system"/>
            </a:endParaRPr>
          </a:p>
        </p:txBody>
      </p:sp>
      <p:sp>
        <p:nvSpPr>
          <p:cNvPr id="11" name="箭头: 下 10">
            <a:extLst>
              <a:ext uri="{FF2B5EF4-FFF2-40B4-BE49-F238E27FC236}">
                <a16:creationId xmlns:a16="http://schemas.microsoft.com/office/drawing/2014/main" id="{EEBE4FCD-DD36-C9C8-F918-EC80B94A9444}"/>
              </a:ext>
            </a:extLst>
          </p:cNvPr>
          <p:cNvSpPr/>
          <p:nvPr/>
        </p:nvSpPr>
        <p:spPr>
          <a:xfrm>
            <a:off x="6571137" y="5266032"/>
            <a:ext cx="436881" cy="426357"/>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文本框 11">
            <a:extLst>
              <a:ext uri="{FF2B5EF4-FFF2-40B4-BE49-F238E27FC236}">
                <a16:creationId xmlns:a16="http://schemas.microsoft.com/office/drawing/2014/main" id="{E4552367-EE09-1767-D028-D693AB469736}"/>
              </a:ext>
            </a:extLst>
          </p:cNvPr>
          <p:cNvSpPr txBox="1"/>
          <p:nvPr/>
        </p:nvSpPr>
        <p:spPr>
          <a:xfrm>
            <a:off x="4036761" y="5790117"/>
            <a:ext cx="5486066" cy="807016"/>
          </a:xfrm>
          <a:prstGeom prst="rect">
            <a:avLst/>
          </a:prstGeom>
          <a:noFill/>
        </p:spPr>
        <p:txBody>
          <a:bodyPr wrap="square">
            <a:spAutoFit/>
          </a:bodyPr>
          <a:lstStyle/>
          <a:p>
            <a:pPr lvl="1">
              <a:lnSpc>
                <a:spcPct val="120000"/>
              </a:lnSpc>
              <a:buSzPct val="80000"/>
            </a:pPr>
            <a:r>
              <a:rPr lang="zh-CN" altLang="en-US" sz="2000" b="1" i="0" dirty="0">
                <a:solidFill>
                  <a:srgbClr val="FF0000"/>
                </a:solidFill>
                <a:effectLst/>
                <a:latin typeface="-apple-system"/>
              </a:rPr>
              <a:t>通过增加</a:t>
            </a:r>
            <a:r>
              <a:rPr lang="en-US" altLang="zh-CN" sz="2000" b="1" dirty="0">
                <a:solidFill>
                  <a:srgbClr val="FF0000"/>
                </a:solidFill>
                <a:latin typeface="-apple-system"/>
              </a:rPr>
              <a:t>GPU</a:t>
            </a:r>
            <a:r>
              <a:rPr lang="zh-CN" altLang="en-US" sz="2000" b="1" dirty="0">
                <a:solidFill>
                  <a:srgbClr val="FF0000"/>
                </a:solidFill>
                <a:latin typeface="-apple-system"/>
              </a:rPr>
              <a:t>的数量来线性扩大有效批次，提高</a:t>
            </a:r>
            <a:r>
              <a:rPr lang="en-US" altLang="zh-CN" sz="2000" b="1" dirty="0">
                <a:solidFill>
                  <a:srgbClr val="FF0000"/>
                </a:solidFill>
                <a:latin typeface="-apple-system"/>
              </a:rPr>
              <a:t>GPU</a:t>
            </a:r>
            <a:r>
              <a:rPr lang="zh-CN" altLang="en-US" sz="2000" b="1" dirty="0">
                <a:solidFill>
                  <a:srgbClr val="FF0000"/>
                </a:solidFill>
                <a:latin typeface="-apple-system"/>
              </a:rPr>
              <a:t>的利用率</a:t>
            </a:r>
            <a:endParaRPr lang="en-US" altLang="zh-CN" sz="2000" b="1" i="0" dirty="0">
              <a:solidFill>
                <a:srgbClr val="FF0000"/>
              </a:solidFill>
              <a:effectLst/>
              <a:latin typeface="-apple-system"/>
            </a:endParaRPr>
          </a:p>
        </p:txBody>
      </p:sp>
      <p:graphicFrame>
        <p:nvGraphicFramePr>
          <p:cNvPr id="14" name="对象 13">
            <a:extLst>
              <a:ext uri="{FF2B5EF4-FFF2-40B4-BE49-F238E27FC236}">
                <a16:creationId xmlns:a16="http://schemas.microsoft.com/office/drawing/2014/main" id="{2E33CFD6-21DC-F789-B2A7-C17C467B03C8}"/>
              </a:ext>
            </a:extLst>
          </p:cNvPr>
          <p:cNvGraphicFramePr>
            <a:graphicFrameLocks noChangeAspect="1"/>
          </p:cNvGraphicFramePr>
          <p:nvPr>
            <p:extLst>
              <p:ext uri="{D42A27DB-BD31-4B8C-83A1-F6EECF244321}">
                <p14:modId xmlns:p14="http://schemas.microsoft.com/office/powerpoint/2010/main" val="334869995"/>
              </p:ext>
            </p:extLst>
          </p:nvPr>
        </p:nvGraphicFramePr>
        <p:xfrm>
          <a:off x="10144052" y="4781190"/>
          <a:ext cx="588444" cy="760074"/>
        </p:xfrm>
        <a:graphic>
          <a:graphicData uri="http://schemas.openxmlformats.org/presentationml/2006/ole">
            <mc:AlternateContent xmlns:mc="http://schemas.openxmlformats.org/markup-compatibility/2006">
              <mc:Choice xmlns:v="urn:schemas-microsoft-com:vml" Requires="v">
                <p:oleObj name="Equation" r:id="rId4" imgW="304560" imgH="393480" progId="Equation.DSMT4">
                  <p:embed/>
                </p:oleObj>
              </mc:Choice>
              <mc:Fallback>
                <p:oleObj name="Equation" r:id="rId4" imgW="304560" imgH="393480" progId="Equation.DSMT4">
                  <p:embed/>
                  <p:pic>
                    <p:nvPicPr>
                      <p:cNvPr id="0" name=""/>
                      <p:cNvPicPr/>
                      <p:nvPr/>
                    </p:nvPicPr>
                    <p:blipFill>
                      <a:blip r:embed="rId5"/>
                      <a:stretch>
                        <a:fillRect/>
                      </a:stretch>
                    </p:blipFill>
                    <p:spPr>
                      <a:xfrm>
                        <a:off x="10144052" y="4781190"/>
                        <a:ext cx="588444" cy="760074"/>
                      </a:xfrm>
                      <a:prstGeom prst="rect">
                        <a:avLst/>
                      </a:prstGeom>
                    </p:spPr>
                  </p:pic>
                </p:oleObj>
              </mc:Fallback>
            </mc:AlternateContent>
          </a:graphicData>
        </a:graphic>
      </p:graphicFrame>
      <p:graphicFrame>
        <p:nvGraphicFramePr>
          <p:cNvPr id="15" name="对象 14">
            <a:extLst>
              <a:ext uri="{FF2B5EF4-FFF2-40B4-BE49-F238E27FC236}">
                <a16:creationId xmlns:a16="http://schemas.microsoft.com/office/drawing/2014/main" id="{1073B342-6653-7583-4B7D-010320F627B1}"/>
              </a:ext>
            </a:extLst>
          </p:cNvPr>
          <p:cNvGraphicFramePr>
            <a:graphicFrameLocks noChangeAspect="1"/>
          </p:cNvGraphicFramePr>
          <p:nvPr>
            <p:extLst>
              <p:ext uri="{D42A27DB-BD31-4B8C-83A1-F6EECF244321}">
                <p14:modId xmlns:p14="http://schemas.microsoft.com/office/powerpoint/2010/main" val="4197112476"/>
              </p:ext>
            </p:extLst>
          </p:nvPr>
        </p:nvGraphicFramePr>
        <p:xfrm>
          <a:off x="9985337" y="2482382"/>
          <a:ext cx="905873" cy="684929"/>
        </p:xfrm>
        <a:graphic>
          <a:graphicData uri="http://schemas.openxmlformats.org/presentationml/2006/ole">
            <mc:AlternateContent xmlns:mc="http://schemas.openxmlformats.org/markup-compatibility/2006">
              <mc:Choice xmlns:v="urn:schemas-microsoft-com:vml" Requires="v">
                <p:oleObj name="Equation" r:id="rId6" imgW="520560" imgH="393480" progId="Equation.DSMT4">
                  <p:embed/>
                </p:oleObj>
              </mc:Choice>
              <mc:Fallback>
                <p:oleObj name="Equation" r:id="rId6" imgW="520560" imgH="393480" progId="Equation.DSMT4">
                  <p:embed/>
                  <p:pic>
                    <p:nvPicPr>
                      <p:cNvPr id="0" name=""/>
                      <p:cNvPicPr/>
                      <p:nvPr/>
                    </p:nvPicPr>
                    <p:blipFill>
                      <a:blip r:embed="rId7"/>
                      <a:stretch>
                        <a:fillRect/>
                      </a:stretch>
                    </p:blipFill>
                    <p:spPr>
                      <a:xfrm>
                        <a:off x="9985337" y="2482382"/>
                        <a:ext cx="905873" cy="684929"/>
                      </a:xfrm>
                      <a:prstGeom prst="rect">
                        <a:avLst/>
                      </a:prstGeom>
                    </p:spPr>
                  </p:pic>
                </p:oleObj>
              </mc:Fallback>
            </mc:AlternateContent>
          </a:graphicData>
        </a:graphic>
      </p:graphicFrame>
      <p:sp>
        <p:nvSpPr>
          <p:cNvPr id="16" name="箭头: 下 15">
            <a:extLst>
              <a:ext uri="{FF2B5EF4-FFF2-40B4-BE49-F238E27FC236}">
                <a16:creationId xmlns:a16="http://schemas.microsoft.com/office/drawing/2014/main" id="{4CC01505-8FF1-AFE9-89A5-5321705D3FF7}"/>
              </a:ext>
            </a:extLst>
          </p:cNvPr>
          <p:cNvSpPr/>
          <p:nvPr/>
        </p:nvSpPr>
        <p:spPr>
          <a:xfrm>
            <a:off x="10219173" y="3275482"/>
            <a:ext cx="436881" cy="1309581"/>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9" name="图片 18">
            <a:extLst>
              <a:ext uri="{FF2B5EF4-FFF2-40B4-BE49-F238E27FC236}">
                <a16:creationId xmlns:a16="http://schemas.microsoft.com/office/drawing/2014/main" id="{9A491BC7-5C3C-C838-DF13-5CF87D731FD4}"/>
              </a:ext>
            </a:extLst>
          </p:cNvPr>
          <p:cNvPicPr>
            <a:picLocks noChangeAspect="1"/>
          </p:cNvPicPr>
          <p:nvPr/>
        </p:nvPicPr>
        <p:blipFill>
          <a:blip r:embed="rId8"/>
          <a:stretch>
            <a:fillRect/>
          </a:stretch>
        </p:blipFill>
        <p:spPr>
          <a:xfrm>
            <a:off x="1531188" y="4902526"/>
            <a:ext cx="2775976" cy="1672819"/>
          </a:xfrm>
          <a:prstGeom prst="rect">
            <a:avLst/>
          </a:prstGeom>
        </p:spPr>
      </p:pic>
    </p:spTree>
    <p:extLst>
      <p:ext uri="{BB962C8B-B14F-4D97-AF65-F5344CB8AC3E}">
        <p14:creationId xmlns:p14="http://schemas.microsoft.com/office/powerpoint/2010/main" val="519399594"/>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ADE8B-77ED-2FCA-4633-3E419E854DC9}"/>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7A9531EC-1A05-EE4B-9BC8-A2E595C7D21C}"/>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C5482A68-9A4D-D91D-D750-81CE8F7E44E8}"/>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6FE9565C-AA0A-F8B1-FC91-702CB505BA42}"/>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0F54B845-02EA-D7C9-34EA-F12F8D0506AA}"/>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1BF8B9EB-B36C-9339-1608-0ACC12DAA4B6}"/>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4F505EB6-80DE-5758-0953-51DC692EEF30}"/>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Challenge</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B7C11331-4C0D-D73C-6293-B9DFB5734F1F}"/>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3.1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批次缩小</a:t>
            </a:r>
          </a:p>
        </p:txBody>
      </p:sp>
      <p:pic>
        <p:nvPicPr>
          <p:cNvPr id="3" name="图片 2">
            <a:extLst>
              <a:ext uri="{FF2B5EF4-FFF2-40B4-BE49-F238E27FC236}">
                <a16:creationId xmlns:a16="http://schemas.microsoft.com/office/drawing/2014/main" id="{BB1213B9-2339-9366-F245-19ABA70F41CA}"/>
              </a:ext>
            </a:extLst>
          </p:cNvPr>
          <p:cNvPicPr>
            <a:picLocks noChangeAspect="1"/>
          </p:cNvPicPr>
          <p:nvPr/>
        </p:nvPicPr>
        <p:blipFill>
          <a:blip r:embed="rId3"/>
          <a:stretch>
            <a:fillRect/>
          </a:stretch>
        </p:blipFill>
        <p:spPr>
          <a:xfrm>
            <a:off x="300368" y="170733"/>
            <a:ext cx="847725" cy="876300"/>
          </a:xfrm>
          <a:prstGeom prst="rect">
            <a:avLst/>
          </a:prstGeom>
        </p:spPr>
      </p:pic>
      <p:sp>
        <p:nvSpPr>
          <p:cNvPr id="22" name="文本框 21">
            <a:extLst>
              <a:ext uri="{FF2B5EF4-FFF2-40B4-BE49-F238E27FC236}">
                <a16:creationId xmlns:a16="http://schemas.microsoft.com/office/drawing/2014/main" id="{8260554E-FC5A-409D-E1C7-8393F613EA84}"/>
              </a:ext>
            </a:extLst>
          </p:cNvPr>
          <p:cNvSpPr txBox="1"/>
          <p:nvPr/>
        </p:nvSpPr>
        <p:spPr>
          <a:xfrm>
            <a:off x="1828800" y="1746660"/>
            <a:ext cx="9825203" cy="437043"/>
          </a:xfrm>
          <a:prstGeom prst="rect">
            <a:avLst/>
          </a:prstGeom>
          <a:noFill/>
        </p:spPr>
        <p:txBody>
          <a:bodyPr wrap="square">
            <a:spAutoFit/>
          </a:bodyPr>
          <a:lstStyle/>
          <a:p>
            <a:pPr lvl="1">
              <a:lnSpc>
                <a:spcPct val="120000"/>
              </a:lnSpc>
              <a:buSzPct val="80000"/>
            </a:pPr>
            <a:r>
              <a:rPr lang="en-US" altLang="zh-CN" sz="2000" b="1" dirty="0">
                <a:solidFill>
                  <a:srgbClr val="000000"/>
                </a:solidFill>
                <a:latin typeface="-apple-system"/>
              </a:rPr>
              <a:t>2</a:t>
            </a:r>
            <a:r>
              <a:rPr lang="zh-CN" altLang="en-US" sz="2000" b="1" i="0" dirty="0">
                <a:solidFill>
                  <a:srgbClr val="000000"/>
                </a:solidFill>
                <a:effectLst/>
                <a:latin typeface="-apple-system"/>
              </a:rPr>
              <a:t>）层间</a:t>
            </a:r>
            <a:r>
              <a:rPr lang="en-US" altLang="zh-CN" sz="2000" b="1" i="0" dirty="0" err="1">
                <a:solidFill>
                  <a:srgbClr val="000000"/>
                </a:solidFill>
                <a:effectLst/>
                <a:latin typeface="-apple-system"/>
              </a:rPr>
              <a:t>MoE</a:t>
            </a:r>
            <a:r>
              <a:rPr lang="zh-CN" altLang="en-US" sz="2000" b="1" i="0" dirty="0">
                <a:solidFill>
                  <a:srgbClr val="000000"/>
                </a:solidFill>
                <a:effectLst/>
                <a:latin typeface="-apple-system"/>
              </a:rPr>
              <a:t>：利用卷积结构</a:t>
            </a:r>
            <a:endParaRPr lang="en-US" altLang="zh-CN" sz="2000" b="0" i="0" dirty="0">
              <a:solidFill>
                <a:srgbClr val="000000"/>
              </a:solidFill>
              <a:effectLst/>
              <a:latin typeface="-apple-system"/>
            </a:endParaRPr>
          </a:p>
        </p:txBody>
      </p:sp>
      <p:sp>
        <p:nvSpPr>
          <p:cNvPr id="18" name="文本框 17">
            <a:extLst>
              <a:ext uri="{FF2B5EF4-FFF2-40B4-BE49-F238E27FC236}">
                <a16:creationId xmlns:a16="http://schemas.microsoft.com/office/drawing/2014/main" id="{CBC1CA36-E1FC-2A62-E9FF-9D298C7C3FD5}"/>
              </a:ext>
            </a:extLst>
          </p:cNvPr>
          <p:cNvSpPr txBox="1"/>
          <p:nvPr/>
        </p:nvSpPr>
        <p:spPr>
          <a:xfrm>
            <a:off x="2247778" y="3244660"/>
            <a:ext cx="6191794" cy="400110"/>
          </a:xfrm>
          <a:prstGeom prst="rect">
            <a:avLst/>
          </a:prstGeom>
          <a:noFill/>
        </p:spPr>
        <p:txBody>
          <a:bodyPr wrap="square">
            <a:spAutoFit/>
          </a:bodyPr>
          <a:lstStyle/>
          <a:p>
            <a:r>
              <a:rPr lang="en-US" altLang="zh-CN" sz="2000" b="1" dirty="0"/>
              <a:t>3</a:t>
            </a:r>
            <a:r>
              <a:rPr lang="zh-CN" altLang="en-US" sz="2000" b="1" dirty="0"/>
              <a:t>）循环</a:t>
            </a:r>
            <a:r>
              <a:rPr lang="en-US" altLang="zh-CN" sz="2000" b="1" dirty="0" err="1"/>
              <a:t>MoE</a:t>
            </a:r>
            <a:r>
              <a:rPr lang="zh-CN" altLang="en-US" sz="2000" b="1" dirty="0"/>
              <a:t>：增加循环MoE的批次大小</a:t>
            </a:r>
          </a:p>
        </p:txBody>
      </p:sp>
      <p:sp>
        <p:nvSpPr>
          <p:cNvPr id="19" name="文本框 18">
            <a:extLst>
              <a:ext uri="{FF2B5EF4-FFF2-40B4-BE49-F238E27FC236}">
                <a16:creationId xmlns:a16="http://schemas.microsoft.com/office/drawing/2014/main" id="{8D0AA94E-F751-4715-ED30-016F80DA5085}"/>
              </a:ext>
            </a:extLst>
          </p:cNvPr>
          <p:cNvSpPr txBox="1"/>
          <p:nvPr/>
        </p:nvSpPr>
        <p:spPr>
          <a:xfrm>
            <a:off x="2232798" y="3826212"/>
            <a:ext cx="8168640" cy="400110"/>
          </a:xfrm>
          <a:prstGeom prst="rect">
            <a:avLst/>
          </a:prstGeom>
          <a:noFill/>
        </p:spPr>
        <p:txBody>
          <a:bodyPr wrap="square">
            <a:spAutoFit/>
          </a:bodyPr>
          <a:lstStyle/>
          <a:p>
            <a:r>
              <a:rPr lang="zh-CN" altLang="en-US" sz="2000" dirty="0">
                <a:solidFill>
                  <a:srgbClr val="000000"/>
                </a:solidFill>
                <a:latin typeface="-apple-system"/>
              </a:rPr>
              <a:t>若对</a:t>
            </a:r>
            <a:r>
              <a:rPr lang="en-US" altLang="zh-CN" sz="2000" dirty="0" err="1">
                <a:solidFill>
                  <a:srgbClr val="000000"/>
                </a:solidFill>
                <a:latin typeface="-apple-system"/>
              </a:rPr>
              <a:t>MoE</a:t>
            </a:r>
            <a:r>
              <a:rPr lang="zh-CN" altLang="en-US" sz="2000" dirty="0">
                <a:solidFill>
                  <a:srgbClr val="000000"/>
                </a:solidFill>
                <a:latin typeface="-apple-system"/>
              </a:rPr>
              <a:t>进行循环应用，则这一时刻的输出依赖于上一时刻的输入</a:t>
            </a:r>
          </a:p>
        </p:txBody>
      </p:sp>
      <p:sp>
        <p:nvSpPr>
          <p:cNvPr id="24" name="文本框 23">
            <a:extLst>
              <a:ext uri="{FF2B5EF4-FFF2-40B4-BE49-F238E27FC236}">
                <a16:creationId xmlns:a16="http://schemas.microsoft.com/office/drawing/2014/main" id="{9EB5D55B-3CEA-5051-0508-705B5F67DACC}"/>
              </a:ext>
            </a:extLst>
          </p:cNvPr>
          <p:cNvSpPr txBox="1"/>
          <p:nvPr/>
        </p:nvSpPr>
        <p:spPr>
          <a:xfrm>
            <a:off x="1815254" y="4429077"/>
            <a:ext cx="9825203" cy="1176348"/>
          </a:xfrm>
          <a:prstGeom prst="rect">
            <a:avLst/>
          </a:prstGeom>
          <a:noFill/>
        </p:spPr>
        <p:txBody>
          <a:bodyPr wrap="square">
            <a:spAutoFit/>
          </a:bodyPr>
          <a:lstStyle/>
          <a:p>
            <a:pPr lvl="1">
              <a:lnSpc>
                <a:spcPct val="120000"/>
              </a:lnSpc>
              <a:buSzPct val="80000"/>
            </a:pPr>
            <a:r>
              <a:rPr lang="zh-CN" altLang="en-US" sz="2000" b="1" i="0" dirty="0">
                <a:solidFill>
                  <a:srgbClr val="000000"/>
                </a:solidFill>
                <a:effectLst/>
                <a:latin typeface="-apple-system"/>
              </a:rPr>
              <a:t>激活重计算（</a:t>
            </a:r>
            <a:r>
              <a:rPr lang="en-US" altLang="zh-CN" sz="2000" b="1" i="0" dirty="0">
                <a:solidFill>
                  <a:srgbClr val="000000"/>
                </a:solidFill>
                <a:effectLst/>
                <a:latin typeface="-apple-system"/>
              </a:rPr>
              <a:t>Activation </a:t>
            </a:r>
            <a:r>
              <a:rPr lang="en-US" altLang="zh-CN" sz="2000" b="1" i="0" dirty="0" err="1">
                <a:solidFill>
                  <a:srgbClr val="000000"/>
                </a:solidFill>
                <a:effectLst/>
                <a:latin typeface="-apple-system"/>
              </a:rPr>
              <a:t>Recomputation</a:t>
            </a:r>
            <a:r>
              <a:rPr lang="zh-CN" altLang="en-US" sz="2000" b="1" i="0" dirty="0">
                <a:solidFill>
                  <a:srgbClr val="000000"/>
                </a:solidFill>
                <a:effectLst/>
                <a:latin typeface="-apple-system"/>
              </a:rPr>
              <a:t>）​</a:t>
            </a:r>
            <a:r>
              <a:rPr lang="zh-CN" altLang="en-US" sz="2000" b="0" i="0" dirty="0">
                <a:solidFill>
                  <a:srgbClr val="000000"/>
                </a:solidFill>
                <a:effectLst/>
                <a:latin typeface="-apple-system"/>
              </a:rPr>
              <a:t>​</a:t>
            </a:r>
            <a:endParaRPr lang="en-US" altLang="zh-CN" sz="2000" b="0" i="0" dirty="0">
              <a:solidFill>
                <a:srgbClr val="000000"/>
              </a:solidFill>
              <a:effectLst/>
              <a:latin typeface="-apple-system"/>
            </a:endParaRPr>
          </a:p>
          <a:p>
            <a:pPr lvl="1">
              <a:lnSpc>
                <a:spcPct val="120000"/>
              </a:lnSpc>
              <a:buSzPct val="80000"/>
            </a:pPr>
            <a:r>
              <a:rPr lang="en-US" altLang="zh-CN" sz="2000" b="0" i="0" dirty="0">
                <a:solidFill>
                  <a:srgbClr val="000000"/>
                </a:solidFill>
                <a:effectLst/>
                <a:latin typeface="-apple-system"/>
              </a:rPr>
              <a:t>       </a:t>
            </a:r>
            <a:r>
              <a:rPr lang="zh-CN" altLang="en-US" sz="2000" b="0" i="0" dirty="0">
                <a:solidFill>
                  <a:srgbClr val="000000"/>
                </a:solidFill>
                <a:effectLst/>
                <a:latin typeface="-apple-system"/>
              </a:rPr>
              <a:t>时间换空间：专家网络隐藏层的激活值在正向传播后不保存，而是在反向传播需要时重新计算，这样内存占用从</a:t>
            </a:r>
            <a:r>
              <a:rPr lang="en-US" altLang="zh-CN" sz="2000" b="0" i="0" dirty="0">
                <a:solidFill>
                  <a:srgbClr val="000000"/>
                </a:solidFill>
                <a:effectLst/>
                <a:latin typeface="-apple-system"/>
              </a:rPr>
              <a:t>O(L)</a:t>
            </a:r>
            <a:r>
              <a:rPr lang="zh-CN" altLang="en-US" sz="2000" b="0" i="0" dirty="0">
                <a:solidFill>
                  <a:srgbClr val="000000"/>
                </a:solidFill>
                <a:effectLst/>
                <a:latin typeface="-apple-system"/>
              </a:rPr>
              <a:t>降为</a:t>
            </a:r>
            <a:r>
              <a:rPr lang="en-US" altLang="zh-CN" sz="2000" b="0" i="0" dirty="0">
                <a:solidFill>
                  <a:srgbClr val="000000"/>
                </a:solidFill>
                <a:effectLst/>
                <a:latin typeface="-apple-system"/>
              </a:rPr>
              <a:t>O(L/S)</a:t>
            </a:r>
            <a:r>
              <a:rPr lang="zh-CN" altLang="en-US" sz="2000" b="0" i="0" dirty="0">
                <a:solidFill>
                  <a:srgbClr val="000000"/>
                </a:solidFill>
                <a:effectLst/>
                <a:latin typeface="-apple-system"/>
              </a:rPr>
              <a:t>。但是同时增加了计算时间。</a:t>
            </a:r>
            <a:endParaRPr lang="en-US" altLang="zh-CN" sz="2000" b="0" i="0" dirty="0">
              <a:solidFill>
                <a:srgbClr val="000000"/>
              </a:solidFill>
              <a:effectLst/>
              <a:latin typeface="-apple-system"/>
            </a:endParaRPr>
          </a:p>
        </p:txBody>
      </p:sp>
      <p:sp>
        <p:nvSpPr>
          <p:cNvPr id="26" name="文本框 25">
            <a:extLst>
              <a:ext uri="{FF2B5EF4-FFF2-40B4-BE49-F238E27FC236}">
                <a16:creationId xmlns:a16="http://schemas.microsoft.com/office/drawing/2014/main" id="{65203CA0-DD40-E0E0-38CB-F936A2AD7AE0}"/>
              </a:ext>
            </a:extLst>
          </p:cNvPr>
          <p:cNvSpPr txBox="1"/>
          <p:nvPr/>
        </p:nvSpPr>
        <p:spPr>
          <a:xfrm>
            <a:off x="1842346" y="2334019"/>
            <a:ext cx="10066064" cy="707886"/>
          </a:xfrm>
          <a:prstGeom prst="rect">
            <a:avLst/>
          </a:prstGeom>
          <a:noFill/>
        </p:spPr>
        <p:txBody>
          <a:bodyPr wrap="square">
            <a:spAutoFit/>
          </a:bodyPr>
          <a:lstStyle/>
          <a:p>
            <a:r>
              <a:rPr lang="zh-CN" altLang="en-US" b="0" i="0" dirty="0">
                <a:solidFill>
                  <a:srgbClr val="000000"/>
                </a:solidFill>
                <a:effectLst/>
                <a:latin typeface="-apple-system"/>
              </a:rPr>
              <a:t>         </a:t>
            </a:r>
            <a:r>
              <a:rPr lang="zh-CN" altLang="en-US" sz="2000" b="0" i="0" dirty="0">
                <a:solidFill>
                  <a:srgbClr val="000000"/>
                </a:solidFill>
                <a:effectLst/>
                <a:latin typeface="-apple-system"/>
              </a:rPr>
              <a:t>等待整个序列的所有</a:t>
            </a:r>
            <a:r>
              <a:rPr lang="en-US" altLang="zh-CN" sz="2000" b="0" i="0" dirty="0">
                <a:solidFill>
                  <a:srgbClr val="000000"/>
                </a:solidFill>
                <a:effectLst/>
                <a:latin typeface="-apple-system"/>
              </a:rPr>
              <a:t>L</a:t>
            </a:r>
            <a:r>
              <a:rPr lang="zh-CN" altLang="en-US" sz="2000" b="0" i="0" dirty="0">
                <a:solidFill>
                  <a:srgbClr val="000000"/>
                </a:solidFill>
                <a:effectLst/>
                <a:latin typeface="-apple-system"/>
              </a:rPr>
              <a:t>个隐藏状态都计算完毕，然后将这</a:t>
            </a:r>
            <a:r>
              <a:rPr lang="en-US" altLang="zh-CN" sz="2000" b="0" i="0" dirty="0">
                <a:solidFill>
                  <a:srgbClr val="000000"/>
                </a:solidFill>
                <a:effectLst/>
                <a:latin typeface="-apple-system"/>
              </a:rPr>
              <a:t>L</a:t>
            </a:r>
            <a:r>
              <a:rPr lang="zh-CN" altLang="en-US" sz="2000" b="0" i="0" dirty="0">
                <a:solidFill>
                  <a:srgbClr val="000000"/>
                </a:solidFill>
                <a:effectLst/>
                <a:latin typeface="-apple-system"/>
              </a:rPr>
              <a:t>个向量​</a:t>
            </a:r>
            <a:r>
              <a:rPr lang="zh-CN" altLang="en-US" sz="2000" b="1" i="0" dirty="0">
                <a:solidFill>
                  <a:srgbClr val="000000"/>
                </a:solidFill>
                <a:effectLst/>
                <a:latin typeface="-apple-system"/>
              </a:rPr>
              <a:t>​堆叠成一个大的二维矩阵，形状为 </a:t>
            </a:r>
            <a:r>
              <a:rPr lang="en-US" altLang="zh-CN" sz="2000" b="1" i="0" dirty="0">
                <a:solidFill>
                  <a:srgbClr val="000000"/>
                </a:solidFill>
                <a:effectLst/>
                <a:latin typeface="-apple-system"/>
              </a:rPr>
              <a:t>[L, </a:t>
            </a:r>
            <a:r>
              <a:rPr lang="en-US" altLang="zh-CN" sz="2000" b="1" i="0" dirty="0" err="1">
                <a:solidFill>
                  <a:srgbClr val="000000"/>
                </a:solidFill>
                <a:effectLst/>
                <a:latin typeface="-apple-system"/>
              </a:rPr>
              <a:t>hidden_dim</a:t>
            </a:r>
            <a:r>
              <a:rPr lang="en-US" altLang="zh-CN" sz="2000" b="1" i="0" dirty="0">
                <a:solidFill>
                  <a:srgbClr val="000000"/>
                </a:solidFill>
                <a:effectLst/>
                <a:latin typeface="-apple-system"/>
              </a:rPr>
              <a:t>]</a:t>
            </a:r>
            <a:r>
              <a:rPr lang="zh-CN" altLang="en-US" sz="2000" b="1" i="0" dirty="0">
                <a:solidFill>
                  <a:srgbClr val="000000"/>
                </a:solidFill>
                <a:effectLst/>
                <a:latin typeface="-apple-system"/>
              </a:rPr>
              <a:t>）​</a:t>
            </a:r>
            <a:r>
              <a:rPr lang="zh-CN" altLang="en-US" sz="2000" b="0" i="0" dirty="0">
                <a:solidFill>
                  <a:srgbClr val="000000"/>
                </a:solidFill>
                <a:effectLst/>
                <a:latin typeface="-apple-system"/>
              </a:rPr>
              <a:t>​，并​</a:t>
            </a:r>
            <a:r>
              <a:rPr lang="zh-CN" altLang="en-US" sz="2000" b="1" i="0" dirty="0">
                <a:solidFill>
                  <a:srgbClr val="000000"/>
                </a:solidFill>
                <a:effectLst/>
                <a:latin typeface="-apple-system"/>
              </a:rPr>
              <a:t>​将其作为一个整体批次一次性送入</a:t>
            </a:r>
            <a:r>
              <a:rPr lang="en-US" altLang="zh-CN" sz="2000" b="1" i="0" dirty="0" err="1">
                <a:solidFill>
                  <a:srgbClr val="000000"/>
                </a:solidFill>
                <a:effectLst/>
                <a:latin typeface="-apple-system"/>
              </a:rPr>
              <a:t>MoE</a:t>
            </a:r>
            <a:r>
              <a:rPr lang="zh-CN" altLang="en-US" sz="2000" b="1" i="0" dirty="0">
                <a:solidFill>
                  <a:srgbClr val="000000"/>
                </a:solidFill>
                <a:effectLst/>
                <a:latin typeface="-apple-system"/>
              </a:rPr>
              <a:t>层​</a:t>
            </a:r>
            <a:r>
              <a:rPr lang="zh-CN" altLang="en-US" sz="2000" b="0" i="0" dirty="0">
                <a:solidFill>
                  <a:srgbClr val="000000"/>
                </a:solidFill>
                <a:effectLst/>
                <a:latin typeface="-apple-system"/>
              </a:rPr>
              <a:t>​。</a:t>
            </a:r>
            <a:endParaRPr lang="zh-CN" altLang="en-US" sz="2000" dirty="0"/>
          </a:p>
        </p:txBody>
      </p:sp>
      <p:sp>
        <p:nvSpPr>
          <p:cNvPr id="31" name="文本框 30">
            <a:extLst>
              <a:ext uri="{FF2B5EF4-FFF2-40B4-BE49-F238E27FC236}">
                <a16:creationId xmlns:a16="http://schemas.microsoft.com/office/drawing/2014/main" id="{480F3661-5595-B898-D19D-4D1DCB190D1E}"/>
              </a:ext>
            </a:extLst>
          </p:cNvPr>
          <p:cNvSpPr txBox="1"/>
          <p:nvPr/>
        </p:nvSpPr>
        <p:spPr>
          <a:xfrm>
            <a:off x="2232798" y="5782794"/>
            <a:ext cx="9675612" cy="646331"/>
          </a:xfrm>
          <a:prstGeom prst="rect">
            <a:avLst/>
          </a:prstGeom>
          <a:noFill/>
        </p:spPr>
        <p:txBody>
          <a:bodyPr wrap="square">
            <a:spAutoFit/>
          </a:bodyPr>
          <a:lstStyle/>
          <a:p>
            <a:r>
              <a:rPr lang="zh-CN" altLang="en-US" b="1" dirty="0"/>
              <a:t>带来的好处​​</a:t>
            </a:r>
            <a:r>
              <a:rPr lang="zh-CN" altLang="en-US" dirty="0"/>
              <a:t>：由于存储的激活值大大减少，我们就可以在内存中容纳​​更大的批次（</a:t>
            </a:r>
            <a:r>
              <a:rPr lang="en-US" altLang="zh-CN" dirty="0"/>
              <a:t>batch size</a:t>
            </a:r>
            <a:r>
              <a:rPr lang="zh-CN" altLang="en-US" dirty="0"/>
              <a:t>）​​ 进行训练。</a:t>
            </a:r>
            <a:endParaRPr lang="en-US" altLang="zh-CN" dirty="0"/>
          </a:p>
        </p:txBody>
      </p:sp>
    </p:spTree>
    <p:extLst>
      <p:ext uri="{BB962C8B-B14F-4D97-AF65-F5344CB8AC3E}">
        <p14:creationId xmlns:p14="http://schemas.microsoft.com/office/powerpoint/2010/main" val="1914827355"/>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380EA-2A6C-75B2-5F56-3E214381F133}"/>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85F4DD86-F80A-AFCE-4427-AB660F33B4E3}"/>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B8E189E1-C820-3DE7-6DD0-6D4F6BB79AF6}"/>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28AC9BD4-30A8-51DB-8AE7-326C74DA0D74}"/>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F7FCF08-0460-47B9-B9EB-F78BCDA3F5BB}"/>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DE6800F5-7470-0823-F20F-A41D5E766D77}"/>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9DDB25A3-E9D1-12E7-A3A6-7D4308C06F4C}"/>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Challenge</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C6381321-871F-A5AE-1D23-F12C17D4B97A}"/>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3.2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网络带宽挑战</a:t>
            </a:r>
          </a:p>
        </p:txBody>
      </p:sp>
      <p:pic>
        <p:nvPicPr>
          <p:cNvPr id="3" name="图片 2">
            <a:extLst>
              <a:ext uri="{FF2B5EF4-FFF2-40B4-BE49-F238E27FC236}">
                <a16:creationId xmlns:a16="http://schemas.microsoft.com/office/drawing/2014/main" id="{C1E78A7A-1BBC-6C05-6FB8-07576207496B}"/>
              </a:ext>
            </a:extLst>
          </p:cNvPr>
          <p:cNvPicPr>
            <a:picLocks noChangeAspect="1"/>
          </p:cNvPicPr>
          <p:nvPr/>
        </p:nvPicPr>
        <p:blipFill>
          <a:blip r:embed="rId3"/>
          <a:stretch>
            <a:fillRect/>
          </a:stretch>
        </p:blipFill>
        <p:spPr>
          <a:xfrm>
            <a:off x="300368" y="170733"/>
            <a:ext cx="847725" cy="876300"/>
          </a:xfrm>
          <a:prstGeom prst="rect">
            <a:avLst/>
          </a:prstGeom>
        </p:spPr>
      </p:pic>
      <p:sp>
        <p:nvSpPr>
          <p:cNvPr id="5" name="文本框 4">
            <a:extLst>
              <a:ext uri="{FF2B5EF4-FFF2-40B4-BE49-F238E27FC236}">
                <a16:creationId xmlns:a16="http://schemas.microsoft.com/office/drawing/2014/main" id="{6E397B24-6FFC-DDFF-64C5-FB3D193E6FC3}"/>
              </a:ext>
            </a:extLst>
          </p:cNvPr>
          <p:cNvSpPr txBox="1"/>
          <p:nvPr/>
        </p:nvSpPr>
        <p:spPr>
          <a:xfrm>
            <a:off x="1972827" y="1596379"/>
            <a:ext cx="9825203" cy="437043"/>
          </a:xfrm>
          <a:prstGeom prst="rect">
            <a:avLst/>
          </a:prstGeom>
          <a:noFill/>
        </p:spPr>
        <p:txBody>
          <a:bodyPr wrap="square">
            <a:spAutoFit/>
          </a:bodyPr>
          <a:lstStyle/>
          <a:p>
            <a:pPr lvl="1">
              <a:lnSpc>
                <a:spcPct val="120000"/>
              </a:lnSpc>
              <a:buSzPct val="80000"/>
            </a:pPr>
            <a:r>
              <a:rPr lang="zh-CN" altLang="en-US" sz="2000" b="0" i="0" dirty="0">
                <a:solidFill>
                  <a:srgbClr val="000000"/>
                </a:solidFill>
                <a:effectLst/>
                <a:latin typeface="-apple-system"/>
              </a:rPr>
              <a:t>处理器的计算能力与网络带宽不匹配，导致通信成为瓶颈，使强大的计算单元空闲</a:t>
            </a:r>
            <a:endParaRPr lang="en-US" altLang="zh-CN" sz="2000" b="1" i="0" dirty="0">
              <a:solidFill>
                <a:srgbClr val="000000"/>
              </a:solidFill>
              <a:effectLst/>
              <a:latin typeface="-apple-system"/>
            </a:endParaRPr>
          </a:p>
        </p:txBody>
      </p:sp>
      <p:sp>
        <p:nvSpPr>
          <p:cNvPr id="18" name="箭头: 下 17">
            <a:extLst>
              <a:ext uri="{FF2B5EF4-FFF2-40B4-BE49-F238E27FC236}">
                <a16:creationId xmlns:a16="http://schemas.microsoft.com/office/drawing/2014/main" id="{20A44D3F-2271-3B7D-0BEE-09466514E590}"/>
              </a:ext>
            </a:extLst>
          </p:cNvPr>
          <p:cNvSpPr/>
          <p:nvPr/>
        </p:nvSpPr>
        <p:spPr>
          <a:xfrm>
            <a:off x="6806008" y="2112763"/>
            <a:ext cx="436881" cy="700804"/>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文本框 18">
            <a:extLst>
              <a:ext uri="{FF2B5EF4-FFF2-40B4-BE49-F238E27FC236}">
                <a16:creationId xmlns:a16="http://schemas.microsoft.com/office/drawing/2014/main" id="{09772D1F-6A1A-2394-5560-D28E8010A27B}"/>
              </a:ext>
            </a:extLst>
          </p:cNvPr>
          <p:cNvSpPr txBox="1"/>
          <p:nvPr/>
        </p:nvSpPr>
        <p:spPr>
          <a:xfrm>
            <a:off x="2111846" y="2876332"/>
            <a:ext cx="9825203" cy="437043"/>
          </a:xfrm>
          <a:prstGeom prst="rect">
            <a:avLst/>
          </a:prstGeom>
          <a:noFill/>
        </p:spPr>
        <p:txBody>
          <a:bodyPr wrap="square">
            <a:spAutoFit/>
          </a:bodyPr>
          <a:lstStyle/>
          <a:p>
            <a:pPr lvl="1">
              <a:lnSpc>
                <a:spcPct val="120000"/>
              </a:lnSpc>
              <a:buSzPct val="80000"/>
            </a:pPr>
            <a:r>
              <a:rPr lang="zh-CN" altLang="en-US" sz="2000" b="0" i="0" dirty="0">
                <a:solidFill>
                  <a:srgbClr val="000000"/>
                </a:solidFill>
                <a:effectLst/>
                <a:latin typeface="-apple-system"/>
              </a:rPr>
              <a:t>通过增大专家网络的隐藏尺寸，使每次通信传输的数据能够触发更多的本地计算</a:t>
            </a:r>
            <a:endParaRPr lang="en-US" altLang="zh-CN" sz="2000" b="1" i="0" dirty="0">
              <a:solidFill>
                <a:srgbClr val="000000"/>
              </a:solidFill>
              <a:effectLst/>
              <a:latin typeface="-apple-system"/>
            </a:endParaRPr>
          </a:p>
        </p:txBody>
      </p:sp>
      <p:sp>
        <p:nvSpPr>
          <p:cNvPr id="23" name="箭头: 下 22">
            <a:extLst>
              <a:ext uri="{FF2B5EF4-FFF2-40B4-BE49-F238E27FC236}">
                <a16:creationId xmlns:a16="http://schemas.microsoft.com/office/drawing/2014/main" id="{6C2595AA-AB2A-B9A1-E6BC-2335AE89DAC9}"/>
              </a:ext>
            </a:extLst>
          </p:cNvPr>
          <p:cNvSpPr/>
          <p:nvPr/>
        </p:nvSpPr>
        <p:spPr>
          <a:xfrm>
            <a:off x="6806006" y="3530440"/>
            <a:ext cx="436881" cy="634995"/>
          </a:xfrm>
          <a:prstGeom prst="downArrow">
            <a:avLst/>
          </a:prstGeom>
          <a:solidFill>
            <a:srgbClr val="141E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文本框 23">
            <a:extLst>
              <a:ext uri="{FF2B5EF4-FFF2-40B4-BE49-F238E27FC236}">
                <a16:creationId xmlns:a16="http://schemas.microsoft.com/office/drawing/2014/main" id="{93586109-1E29-A768-A6BE-AEACDC3644BB}"/>
              </a:ext>
            </a:extLst>
          </p:cNvPr>
          <p:cNvSpPr txBox="1"/>
          <p:nvPr/>
        </p:nvSpPr>
        <p:spPr>
          <a:xfrm>
            <a:off x="2111844" y="4382500"/>
            <a:ext cx="9825203" cy="437043"/>
          </a:xfrm>
          <a:prstGeom prst="rect">
            <a:avLst/>
          </a:prstGeom>
          <a:noFill/>
        </p:spPr>
        <p:txBody>
          <a:bodyPr wrap="square">
            <a:spAutoFit/>
          </a:bodyPr>
          <a:lstStyle/>
          <a:p>
            <a:pPr lvl="1">
              <a:lnSpc>
                <a:spcPct val="120000"/>
              </a:lnSpc>
              <a:buSzPct val="80000"/>
            </a:pPr>
            <a:r>
              <a:rPr lang="zh-CN" altLang="en-US" sz="2000" b="0" i="0" dirty="0">
                <a:solidFill>
                  <a:srgbClr val="000000"/>
                </a:solidFill>
                <a:effectLst/>
                <a:latin typeface="-apple-system"/>
              </a:rPr>
              <a:t>所以这就要求</a:t>
            </a:r>
            <a:r>
              <a:rPr lang="en-US" altLang="zh-CN" sz="2000" b="0" i="0" dirty="0" err="1">
                <a:solidFill>
                  <a:srgbClr val="000000"/>
                </a:solidFill>
                <a:effectLst/>
                <a:latin typeface="-apple-system"/>
              </a:rPr>
              <a:t>MoE</a:t>
            </a:r>
            <a:r>
              <a:rPr lang="zh-CN" altLang="en-US" sz="2000" b="0" i="0" dirty="0">
                <a:solidFill>
                  <a:srgbClr val="000000"/>
                </a:solidFill>
                <a:effectLst/>
                <a:latin typeface="-apple-system"/>
              </a:rPr>
              <a:t>中的专家不能是过于简单的计算单元，必须具有足够的密度</a:t>
            </a:r>
            <a:endParaRPr lang="en-US" altLang="zh-CN" sz="2000" b="1" i="0" dirty="0">
              <a:solidFill>
                <a:srgbClr val="000000"/>
              </a:solidFill>
              <a:effectLst/>
              <a:latin typeface="-apple-system"/>
            </a:endParaRPr>
          </a:p>
        </p:txBody>
      </p:sp>
    </p:spTree>
    <p:extLst>
      <p:ext uri="{BB962C8B-B14F-4D97-AF65-F5344CB8AC3E}">
        <p14:creationId xmlns:p14="http://schemas.microsoft.com/office/powerpoint/2010/main" val="3776711483"/>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7A64-8EDB-2802-DEDA-558145A60447}"/>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A698B686-0539-C535-4FA1-C2D336AFD336}"/>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68245F39-4143-423D-9004-4F5C5B03AA28}"/>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98A6E708-8091-535C-7C4D-07B9DC52E9AA}"/>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2AE3BC85-DFEB-C719-F45E-864BBE6B0492}"/>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96B01CE9-E428-8C2B-4E79-C3260AA6F517}"/>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7336884F-9E42-0673-9C9A-C32D087DC690}"/>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Challenge</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0FA8F4E3-E018-BC4A-D113-2EAF8AE26AF4}"/>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3.3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专家利用不均</a:t>
            </a:r>
          </a:p>
        </p:txBody>
      </p:sp>
      <p:pic>
        <p:nvPicPr>
          <p:cNvPr id="3" name="图片 2">
            <a:extLst>
              <a:ext uri="{FF2B5EF4-FFF2-40B4-BE49-F238E27FC236}">
                <a16:creationId xmlns:a16="http://schemas.microsoft.com/office/drawing/2014/main" id="{7DE85725-268B-C573-B3D0-5828CFD77FE9}"/>
              </a:ext>
            </a:extLst>
          </p:cNvPr>
          <p:cNvPicPr>
            <a:picLocks noChangeAspect="1"/>
          </p:cNvPicPr>
          <p:nvPr/>
        </p:nvPicPr>
        <p:blipFill>
          <a:blip r:embed="rId3"/>
          <a:stretch>
            <a:fillRect/>
          </a:stretch>
        </p:blipFill>
        <p:spPr>
          <a:xfrm>
            <a:off x="300368" y="170733"/>
            <a:ext cx="847725" cy="876300"/>
          </a:xfrm>
          <a:prstGeom prst="rect">
            <a:avLst/>
          </a:prstGeom>
        </p:spPr>
      </p:pic>
      <p:sp>
        <p:nvSpPr>
          <p:cNvPr id="5" name="文本框 4">
            <a:extLst>
              <a:ext uri="{FF2B5EF4-FFF2-40B4-BE49-F238E27FC236}">
                <a16:creationId xmlns:a16="http://schemas.microsoft.com/office/drawing/2014/main" id="{0E758924-200C-79BB-FC19-F676A196E155}"/>
              </a:ext>
            </a:extLst>
          </p:cNvPr>
          <p:cNvSpPr txBox="1"/>
          <p:nvPr/>
        </p:nvSpPr>
        <p:spPr>
          <a:xfrm>
            <a:off x="1972827" y="1596379"/>
            <a:ext cx="9825203" cy="437043"/>
          </a:xfrm>
          <a:prstGeom prst="rect">
            <a:avLst/>
          </a:prstGeom>
          <a:noFill/>
        </p:spPr>
        <p:txBody>
          <a:bodyPr wrap="square">
            <a:spAutoFit/>
          </a:bodyPr>
          <a:lstStyle/>
          <a:p>
            <a:pPr lvl="1">
              <a:lnSpc>
                <a:spcPct val="120000"/>
              </a:lnSpc>
              <a:buSzPct val="80000"/>
            </a:pPr>
            <a:r>
              <a:rPr lang="zh-CN" altLang="en-US" sz="2000" b="0" i="0" dirty="0">
                <a:solidFill>
                  <a:srgbClr val="000000"/>
                </a:solidFill>
                <a:effectLst/>
                <a:latin typeface="-apple-system"/>
              </a:rPr>
              <a:t>为了防止专家利用不均（</a:t>
            </a:r>
            <a:r>
              <a:rPr lang="zh-CN" altLang="en-US" sz="2000" i="0" dirty="0">
                <a:solidFill>
                  <a:srgbClr val="000000"/>
                </a:solidFill>
                <a:effectLst/>
                <a:latin typeface="-apple-system"/>
              </a:rPr>
              <a:t>马太效应</a:t>
            </a:r>
            <a:r>
              <a:rPr lang="zh-CN" altLang="en-US" sz="2000" b="0" i="0" dirty="0">
                <a:solidFill>
                  <a:srgbClr val="000000"/>
                </a:solidFill>
                <a:effectLst/>
                <a:latin typeface="-apple-system"/>
              </a:rPr>
              <a:t>），论文设计了两项辅助损失函数。</a:t>
            </a:r>
            <a:endParaRPr lang="en-US" altLang="zh-CN" sz="2000" b="1" i="0" dirty="0">
              <a:solidFill>
                <a:srgbClr val="000000"/>
              </a:solidFill>
              <a:effectLst/>
              <a:latin typeface="-apple-system"/>
            </a:endParaRPr>
          </a:p>
        </p:txBody>
      </p:sp>
      <p:sp>
        <p:nvSpPr>
          <p:cNvPr id="24" name="文本框 23">
            <a:extLst>
              <a:ext uri="{FF2B5EF4-FFF2-40B4-BE49-F238E27FC236}">
                <a16:creationId xmlns:a16="http://schemas.microsoft.com/office/drawing/2014/main" id="{2DCAB36B-6D3E-B7F8-F38D-520FFA084217}"/>
              </a:ext>
            </a:extLst>
          </p:cNvPr>
          <p:cNvSpPr txBox="1"/>
          <p:nvPr/>
        </p:nvSpPr>
        <p:spPr>
          <a:xfrm>
            <a:off x="1663046" y="2189765"/>
            <a:ext cx="9825203" cy="437043"/>
          </a:xfrm>
          <a:prstGeom prst="rect">
            <a:avLst/>
          </a:prstGeom>
          <a:noFill/>
        </p:spPr>
        <p:txBody>
          <a:bodyPr wrap="square">
            <a:spAutoFit/>
          </a:bodyPr>
          <a:lstStyle/>
          <a:p>
            <a:pPr lvl="1">
              <a:lnSpc>
                <a:spcPct val="120000"/>
              </a:lnSpc>
              <a:buSzPct val="80000"/>
            </a:pPr>
            <a:r>
              <a:rPr lang="en-US" altLang="zh-CN" sz="2000" b="1" i="0" dirty="0">
                <a:solidFill>
                  <a:srgbClr val="000000"/>
                </a:solidFill>
                <a:effectLst/>
                <a:latin typeface="-apple-system"/>
              </a:rPr>
              <a:t>1</a:t>
            </a:r>
            <a:r>
              <a:rPr lang="zh-CN" altLang="en-US" sz="2000" b="1" i="0" dirty="0">
                <a:solidFill>
                  <a:srgbClr val="000000"/>
                </a:solidFill>
                <a:effectLst/>
                <a:latin typeface="-apple-system"/>
              </a:rPr>
              <a:t>）重要性损失</a:t>
            </a:r>
            <a:endParaRPr lang="en-US" altLang="zh-CN" sz="2000" b="1" i="0" dirty="0">
              <a:solidFill>
                <a:srgbClr val="000000"/>
              </a:solidFill>
              <a:effectLst/>
              <a:latin typeface="-apple-system"/>
            </a:endParaRPr>
          </a:p>
        </p:txBody>
      </p:sp>
      <p:sp>
        <p:nvSpPr>
          <p:cNvPr id="7" name="文本框 6">
            <a:extLst>
              <a:ext uri="{FF2B5EF4-FFF2-40B4-BE49-F238E27FC236}">
                <a16:creationId xmlns:a16="http://schemas.microsoft.com/office/drawing/2014/main" id="{2414EF79-9670-0962-42C1-206752C9744A}"/>
              </a:ext>
            </a:extLst>
          </p:cNvPr>
          <p:cNvSpPr txBox="1"/>
          <p:nvPr/>
        </p:nvSpPr>
        <p:spPr>
          <a:xfrm>
            <a:off x="2502262" y="5740238"/>
            <a:ext cx="6191794" cy="400110"/>
          </a:xfrm>
          <a:prstGeom prst="rect">
            <a:avLst/>
          </a:prstGeom>
          <a:noFill/>
        </p:spPr>
        <p:txBody>
          <a:bodyPr wrap="square">
            <a:spAutoFit/>
          </a:bodyPr>
          <a:lstStyle/>
          <a:p>
            <a:r>
              <a:rPr lang="zh-CN" altLang="en-US" sz="2000" b="1" i="0" dirty="0">
                <a:solidFill>
                  <a:srgbClr val="FF0000"/>
                </a:solidFill>
                <a:effectLst/>
                <a:latin typeface="-apple-system"/>
              </a:rPr>
              <a:t>目标​</a:t>
            </a:r>
            <a:r>
              <a:rPr lang="zh-CN" altLang="en-US" sz="2000" b="0" i="0" dirty="0">
                <a:solidFill>
                  <a:srgbClr val="FF0000"/>
                </a:solidFill>
                <a:effectLst/>
                <a:latin typeface="-apple-system"/>
              </a:rPr>
              <a:t>​：确保所有专家在​</a:t>
            </a:r>
            <a:r>
              <a:rPr lang="zh-CN" altLang="en-US" sz="2000" b="1" i="0" dirty="0">
                <a:solidFill>
                  <a:srgbClr val="FF0000"/>
                </a:solidFill>
                <a:effectLst/>
                <a:latin typeface="-apple-system"/>
              </a:rPr>
              <a:t>​一个批次内​</a:t>
            </a:r>
            <a:r>
              <a:rPr lang="zh-CN" altLang="en-US" sz="2000" b="0" i="0" dirty="0">
                <a:solidFill>
                  <a:srgbClr val="FF0000"/>
                </a:solidFill>
                <a:effectLst/>
                <a:latin typeface="-apple-system"/>
              </a:rPr>
              <a:t>​获得的​</a:t>
            </a:r>
            <a:r>
              <a:rPr lang="zh-CN" altLang="en-US" sz="2000" b="1" i="0" dirty="0">
                <a:solidFill>
                  <a:srgbClr val="FF0000"/>
                </a:solidFill>
                <a:effectLst/>
                <a:latin typeface="-apple-system"/>
              </a:rPr>
              <a:t>​总权重​</a:t>
            </a:r>
            <a:r>
              <a:rPr lang="zh-CN" altLang="en-US" sz="2000" b="0" i="0" dirty="0">
                <a:solidFill>
                  <a:srgbClr val="FF0000"/>
                </a:solidFill>
                <a:effectLst/>
                <a:latin typeface="-apple-system"/>
              </a:rPr>
              <a:t>​相近</a:t>
            </a:r>
            <a:endParaRPr lang="zh-CN" altLang="en-US" sz="2000" dirty="0"/>
          </a:p>
        </p:txBody>
      </p:sp>
      <p:pic>
        <p:nvPicPr>
          <p:cNvPr id="8" name="图片 7">
            <a:extLst>
              <a:ext uri="{FF2B5EF4-FFF2-40B4-BE49-F238E27FC236}">
                <a16:creationId xmlns:a16="http://schemas.microsoft.com/office/drawing/2014/main" id="{EC3B135A-7333-7705-79AA-BB72FAC18B35}"/>
              </a:ext>
            </a:extLst>
          </p:cNvPr>
          <p:cNvPicPr>
            <a:picLocks noChangeAspect="1"/>
          </p:cNvPicPr>
          <p:nvPr/>
        </p:nvPicPr>
        <p:blipFill>
          <a:blip r:embed="rId4"/>
          <a:stretch>
            <a:fillRect/>
          </a:stretch>
        </p:blipFill>
        <p:spPr>
          <a:xfrm>
            <a:off x="5286183" y="3171034"/>
            <a:ext cx="3596560" cy="840616"/>
          </a:xfrm>
          <a:prstGeom prst="rect">
            <a:avLst/>
          </a:prstGeom>
        </p:spPr>
      </p:pic>
      <p:sp>
        <p:nvSpPr>
          <p:cNvPr id="11" name="文本框 10">
            <a:extLst>
              <a:ext uri="{FF2B5EF4-FFF2-40B4-BE49-F238E27FC236}">
                <a16:creationId xmlns:a16="http://schemas.microsoft.com/office/drawing/2014/main" id="{AFFAFC95-6748-E010-BABE-7703F62C450C}"/>
              </a:ext>
            </a:extLst>
          </p:cNvPr>
          <p:cNvSpPr txBox="1"/>
          <p:nvPr/>
        </p:nvSpPr>
        <p:spPr>
          <a:xfrm>
            <a:off x="2502262" y="2787088"/>
            <a:ext cx="8464731" cy="400110"/>
          </a:xfrm>
          <a:prstGeom prst="rect">
            <a:avLst/>
          </a:prstGeom>
          <a:noFill/>
        </p:spPr>
        <p:txBody>
          <a:bodyPr wrap="square">
            <a:spAutoFit/>
          </a:bodyPr>
          <a:lstStyle/>
          <a:p>
            <a:r>
              <a:rPr lang="zh-CN" altLang="en-US" sz="2000" b="0" i="0" dirty="0">
                <a:solidFill>
                  <a:srgbClr val="000000"/>
                </a:solidFill>
                <a:effectLst/>
                <a:latin typeface="-apple-system"/>
              </a:rPr>
              <a:t>对于一个批次 </a:t>
            </a:r>
            <a:r>
              <a:rPr lang="en-US" altLang="zh-CN" sz="2000" b="0" i="1" dirty="0">
                <a:solidFill>
                  <a:srgbClr val="000000"/>
                </a:solidFill>
                <a:effectLst/>
                <a:latin typeface="KaTeX_Math"/>
              </a:rPr>
              <a:t>X</a:t>
            </a:r>
            <a:r>
              <a:rPr lang="zh-CN" altLang="en-US" sz="2000" b="0" i="0" dirty="0">
                <a:solidFill>
                  <a:srgbClr val="000000"/>
                </a:solidFill>
                <a:effectLst/>
                <a:latin typeface="-apple-system"/>
              </a:rPr>
              <a:t>，专家 </a:t>
            </a:r>
            <a:r>
              <a:rPr lang="en-US" altLang="zh-CN" sz="2000" b="0" i="1" dirty="0" err="1">
                <a:solidFill>
                  <a:srgbClr val="000000"/>
                </a:solidFill>
                <a:effectLst/>
                <a:latin typeface="KaTeX_Math"/>
              </a:rPr>
              <a:t>i</a:t>
            </a:r>
            <a:r>
              <a:rPr lang="zh-CN" altLang="en-US" sz="2000" b="0" i="0" dirty="0">
                <a:solidFill>
                  <a:srgbClr val="000000"/>
                </a:solidFill>
                <a:effectLst/>
                <a:latin typeface="-apple-system"/>
              </a:rPr>
              <a:t>的​</a:t>
            </a:r>
            <a:r>
              <a:rPr lang="zh-CN" altLang="en-US" sz="2000" b="1" i="0" dirty="0">
                <a:solidFill>
                  <a:srgbClr val="000000"/>
                </a:solidFill>
                <a:effectLst/>
                <a:latin typeface="-apple-system"/>
              </a:rPr>
              <a:t>​重要性​</a:t>
            </a:r>
            <a:r>
              <a:rPr lang="zh-CN" altLang="en-US" sz="2000" b="0" i="0" dirty="0">
                <a:solidFill>
                  <a:srgbClr val="000000"/>
                </a:solidFill>
                <a:effectLst/>
                <a:latin typeface="-apple-system"/>
              </a:rPr>
              <a:t>​定义为该批次所有样本的门控权重之和</a:t>
            </a:r>
            <a:r>
              <a:rPr lang="zh-CN" altLang="en-US" b="0" i="0" dirty="0">
                <a:solidFill>
                  <a:srgbClr val="000000"/>
                </a:solidFill>
                <a:effectLst/>
                <a:latin typeface="-apple-system"/>
              </a:rPr>
              <a:t>：</a:t>
            </a:r>
            <a:endParaRPr lang="zh-CN" altLang="en-US" dirty="0"/>
          </a:p>
        </p:txBody>
      </p:sp>
      <p:sp>
        <p:nvSpPr>
          <p:cNvPr id="14" name="文本框 13">
            <a:extLst>
              <a:ext uri="{FF2B5EF4-FFF2-40B4-BE49-F238E27FC236}">
                <a16:creationId xmlns:a16="http://schemas.microsoft.com/office/drawing/2014/main" id="{02B5DD62-A2B5-4A96-5BE6-96E52E0D8787}"/>
              </a:ext>
            </a:extLst>
          </p:cNvPr>
          <p:cNvSpPr txBox="1"/>
          <p:nvPr/>
        </p:nvSpPr>
        <p:spPr>
          <a:xfrm>
            <a:off x="2502262" y="4083568"/>
            <a:ext cx="8203474" cy="400110"/>
          </a:xfrm>
          <a:prstGeom prst="rect">
            <a:avLst/>
          </a:prstGeom>
          <a:noFill/>
        </p:spPr>
        <p:txBody>
          <a:bodyPr wrap="square">
            <a:spAutoFit/>
          </a:bodyPr>
          <a:lstStyle/>
          <a:p>
            <a:r>
              <a:rPr lang="zh-CN" altLang="en-US" sz="2000" b="1" i="0" dirty="0">
                <a:solidFill>
                  <a:srgbClr val="000000"/>
                </a:solidFill>
                <a:effectLst/>
                <a:latin typeface="-apple-system"/>
              </a:rPr>
              <a:t>重要性损失</a:t>
            </a:r>
            <a:r>
              <a:rPr lang="zh-CN" altLang="en-US" sz="2000" b="0" i="0" dirty="0">
                <a:solidFill>
                  <a:srgbClr val="000000"/>
                </a:solidFill>
                <a:effectLst/>
                <a:latin typeface="-apple-system"/>
              </a:rPr>
              <a:t>是这些重要性值变异系数（标准差</a:t>
            </a:r>
            <a:r>
              <a:rPr lang="en-US" altLang="zh-CN" sz="2000" b="0" i="0" dirty="0">
                <a:solidFill>
                  <a:srgbClr val="000000"/>
                </a:solidFill>
                <a:effectLst/>
                <a:latin typeface="-apple-system"/>
              </a:rPr>
              <a:t>/</a:t>
            </a:r>
            <a:r>
              <a:rPr lang="zh-CN" altLang="en-US" sz="2000" b="0" i="0" dirty="0">
                <a:solidFill>
                  <a:srgbClr val="000000"/>
                </a:solidFill>
                <a:effectLst/>
                <a:latin typeface="-apple-system"/>
              </a:rPr>
              <a:t>均值）的平方：</a:t>
            </a:r>
            <a:endParaRPr lang="zh-CN" altLang="en-US" sz="2000" dirty="0"/>
          </a:p>
        </p:txBody>
      </p:sp>
      <p:pic>
        <p:nvPicPr>
          <p:cNvPr id="15" name="图片 14">
            <a:extLst>
              <a:ext uri="{FF2B5EF4-FFF2-40B4-BE49-F238E27FC236}">
                <a16:creationId xmlns:a16="http://schemas.microsoft.com/office/drawing/2014/main" id="{26BB5DDD-55E2-5CB0-E0EA-1B757A6593F0}"/>
              </a:ext>
            </a:extLst>
          </p:cNvPr>
          <p:cNvPicPr>
            <a:picLocks noChangeAspect="1"/>
          </p:cNvPicPr>
          <p:nvPr/>
        </p:nvPicPr>
        <p:blipFill>
          <a:blip r:embed="rId5"/>
          <a:stretch>
            <a:fillRect/>
          </a:stretch>
        </p:blipFill>
        <p:spPr>
          <a:xfrm>
            <a:off x="3700078" y="4561541"/>
            <a:ext cx="7475921" cy="604765"/>
          </a:xfrm>
          <a:prstGeom prst="rect">
            <a:avLst/>
          </a:prstGeom>
        </p:spPr>
      </p:pic>
      <p:sp>
        <p:nvSpPr>
          <p:cNvPr id="16" name="矩形 15">
            <a:extLst>
              <a:ext uri="{FF2B5EF4-FFF2-40B4-BE49-F238E27FC236}">
                <a16:creationId xmlns:a16="http://schemas.microsoft.com/office/drawing/2014/main" id="{F2E1F199-41B6-ACAE-4C01-B425B9A591A8}"/>
              </a:ext>
            </a:extLst>
          </p:cNvPr>
          <p:cNvSpPr/>
          <p:nvPr/>
        </p:nvSpPr>
        <p:spPr>
          <a:xfrm>
            <a:off x="6144952" y="4690515"/>
            <a:ext cx="1575198" cy="475791"/>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B75ECBCA-FCE7-70D0-9B26-A7A650EDB9B4}"/>
              </a:ext>
            </a:extLst>
          </p:cNvPr>
          <p:cNvSpPr txBox="1"/>
          <p:nvPr/>
        </p:nvSpPr>
        <p:spPr>
          <a:xfrm>
            <a:off x="5457205" y="5166306"/>
            <a:ext cx="2856445" cy="437684"/>
          </a:xfrm>
          <a:prstGeom prst="rect">
            <a:avLst/>
          </a:prstGeom>
          <a:noFill/>
        </p:spPr>
        <p:txBody>
          <a:bodyPr wrap="square">
            <a:spAutoFit/>
          </a:bodyPr>
          <a:lstStyle/>
          <a:p>
            <a:pPr lvl="1">
              <a:lnSpc>
                <a:spcPct val="120000"/>
              </a:lnSpc>
              <a:buSzPct val="80000"/>
            </a:pPr>
            <a:r>
              <a:rPr lang="zh-CN" altLang="en-US" sz="2000" b="1" i="0" dirty="0">
                <a:solidFill>
                  <a:srgbClr val="FF0000"/>
                </a:solidFill>
                <a:effectLst/>
                <a:latin typeface="-apple-system"/>
              </a:rPr>
              <a:t>手动调整的超参数</a:t>
            </a:r>
            <a:endParaRPr lang="en-US" altLang="zh-CN" sz="2000" b="0" i="0" dirty="0">
              <a:solidFill>
                <a:srgbClr val="FF0000"/>
              </a:solidFill>
              <a:effectLst/>
              <a:latin typeface="-apple-system"/>
            </a:endParaRPr>
          </a:p>
        </p:txBody>
      </p:sp>
    </p:spTree>
    <p:extLst>
      <p:ext uri="{BB962C8B-B14F-4D97-AF65-F5344CB8AC3E}">
        <p14:creationId xmlns:p14="http://schemas.microsoft.com/office/powerpoint/2010/main" val="1556910420"/>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EB04F-AB18-C8A0-2086-D20E2C815108}"/>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4C702BB7-2770-E6D0-B23E-5CF7130CF1A6}"/>
              </a:ext>
            </a:extLst>
          </p:cNvPr>
          <p:cNvSpPr/>
          <p:nvPr/>
        </p:nvSpPr>
        <p:spPr>
          <a:xfrm>
            <a:off x="0" y="926055"/>
            <a:ext cx="1403498" cy="5940293"/>
          </a:xfrm>
          <a:prstGeom prst="rect">
            <a:avLst/>
          </a:prstGeom>
          <a:solidFill>
            <a:srgbClr val="141E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椭圆 5">
            <a:extLst>
              <a:ext uri="{FF2B5EF4-FFF2-40B4-BE49-F238E27FC236}">
                <a16:creationId xmlns:a16="http://schemas.microsoft.com/office/drawing/2014/main" id="{53482931-58E3-6DE5-1BC2-BC51A90922DB}"/>
              </a:ext>
            </a:extLst>
          </p:cNvPr>
          <p:cNvSpPr/>
          <p:nvPr/>
        </p:nvSpPr>
        <p:spPr>
          <a:xfrm>
            <a:off x="155666" y="237257"/>
            <a:ext cx="1092166" cy="10921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9" name="直线连接符 8">
            <a:extLst>
              <a:ext uri="{FF2B5EF4-FFF2-40B4-BE49-F238E27FC236}">
                <a16:creationId xmlns:a16="http://schemas.microsoft.com/office/drawing/2014/main" id="{D0A7D42D-127A-34F1-EB80-0D9148008611}"/>
              </a:ext>
            </a:extLst>
          </p:cNvPr>
          <p:cNvCxnSpPr/>
          <p:nvPr/>
        </p:nvCxnSpPr>
        <p:spPr>
          <a:xfrm>
            <a:off x="1828800" y="917707"/>
            <a:ext cx="9811657" cy="0"/>
          </a:xfrm>
          <a:prstGeom prst="line">
            <a:avLst/>
          </a:prstGeom>
          <a:ln>
            <a:solidFill>
              <a:schemeClr val="tx1">
                <a:lumMod val="95000"/>
                <a:lumOff val="5000"/>
                <a:alpha val="46000"/>
              </a:scheme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9D4A94D4-82DB-BFF6-0B52-3F4B2EC15163}"/>
              </a:ext>
            </a:extLst>
          </p:cNvPr>
          <p:cNvSpPr/>
          <p:nvPr/>
        </p:nvSpPr>
        <p:spPr>
          <a:xfrm>
            <a:off x="0" y="3429000"/>
            <a:ext cx="1403498" cy="46720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a:extLst>
              <a:ext uri="{FF2B5EF4-FFF2-40B4-BE49-F238E27FC236}">
                <a16:creationId xmlns:a16="http://schemas.microsoft.com/office/drawing/2014/main" id="{B1960A66-78A4-2D2B-9888-38205CFBA8BD}"/>
              </a:ext>
            </a:extLst>
          </p:cNvPr>
          <p:cNvSpPr txBox="1"/>
          <p:nvPr/>
        </p:nvSpPr>
        <p:spPr>
          <a:xfrm>
            <a:off x="178147" y="3490471"/>
            <a:ext cx="1092166" cy="344325"/>
          </a:xfrm>
          <a:prstGeom prst="rect">
            <a:avLst/>
          </a:prstGeom>
          <a:noFill/>
        </p:spPr>
        <p:txBody>
          <a:bodyPr wrap="square" rtlCol="0">
            <a:spAutoFit/>
          </a:bodyPr>
          <a:lstStyle/>
          <a:p>
            <a:pPr algn="ctr">
              <a:lnSpc>
                <a:spcPct val="110000"/>
              </a:lnSpc>
            </a:pPr>
            <a:r>
              <a:rPr kumimoji="1" lang="en-US" altLang="zh-CN" sz="1600" b="1" spc="110" dirty="0">
                <a:solidFill>
                  <a:srgbClr val="141E8C"/>
                </a:solidFill>
                <a:latin typeface="微软雅黑" panose="020B0503020204020204" pitchFamily="34" charset="-122"/>
                <a:ea typeface="微软雅黑" panose="020B0503020204020204" pitchFamily="34" charset="-122"/>
              </a:rPr>
              <a:t>Part 3</a:t>
            </a:r>
            <a:endParaRPr kumimoji="1" lang="zh-CN" altLang="en-US" sz="1600" b="1" spc="110" dirty="0">
              <a:solidFill>
                <a:srgbClr val="141E8C"/>
              </a:solidFill>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B44FDC0A-4346-7761-79A5-F810A45B0D0A}"/>
              </a:ext>
            </a:extLst>
          </p:cNvPr>
          <p:cNvSpPr txBox="1"/>
          <p:nvPr/>
        </p:nvSpPr>
        <p:spPr>
          <a:xfrm>
            <a:off x="1663046" y="282654"/>
            <a:ext cx="10722807" cy="461665"/>
          </a:xfrm>
          <a:prstGeom prst="rect">
            <a:avLst/>
          </a:prstGeom>
          <a:noFill/>
        </p:spPr>
        <p:txBody>
          <a:bodyPr wrap="square" rtlCol="0">
            <a:spAutoFit/>
          </a:bodyPr>
          <a:lstStyle/>
          <a:p>
            <a:pPr>
              <a:buSzPct val="85000"/>
            </a:pPr>
            <a:r>
              <a:rPr kumimoji="1" lang="en-US" altLang="zh-CN" sz="2400" b="1" spc="300" dirty="0">
                <a:solidFill>
                  <a:srgbClr val="141E8C"/>
                </a:solidFill>
                <a:latin typeface="Times New Roman Bold" panose="02020803070505020304" charset="0"/>
                <a:ea typeface="微软雅黑" panose="020B0503020204020204" pitchFamily="34" charset="-122"/>
                <a:cs typeface="Times New Roman Bold" panose="02020803070505020304" charset="0"/>
              </a:rPr>
              <a:t>3 Challenge</a:t>
            </a:r>
            <a:endParaRPr kumimoji="1" lang="en-US" altLang="zh-CN" sz="2400" b="1" spc="300" dirty="0">
              <a:solidFill>
                <a:srgbClr val="141E8C"/>
              </a:solidFill>
              <a:latin typeface="Arial" panose="020B0704020202020204" pitchFamily="34" charset="0"/>
              <a:ea typeface="微软雅黑" panose="020B0503020204020204" pitchFamily="34" charset="-122"/>
              <a:cs typeface="Arial" panose="020B0704020202020204" pitchFamily="34" charset="0"/>
            </a:endParaRPr>
          </a:p>
        </p:txBody>
      </p:sp>
      <p:sp>
        <p:nvSpPr>
          <p:cNvPr id="32" name="文本框 31">
            <a:extLst>
              <a:ext uri="{FF2B5EF4-FFF2-40B4-BE49-F238E27FC236}">
                <a16:creationId xmlns:a16="http://schemas.microsoft.com/office/drawing/2014/main" id="{4F8BE257-F4CB-AF43-7496-8837B8DA330D}"/>
              </a:ext>
            </a:extLst>
          </p:cNvPr>
          <p:cNvSpPr txBox="1"/>
          <p:nvPr/>
        </p:nvSpPr>
        <p:spPr>
          <a:xfrm>
            <a:off x="1964003" y="1116928"/>
            <a:ext cx="2927278" cy="400110"/>
          </a:xfrm>
          <a:prstGeom prst="rect">
            <a:avLst/>
          </a:prstGeom>
          <a:noFill/>
        </p:spPr>
        <p:txBody>
          <a:bodyPr wrap="square" rtlCol="0">
            <a:spAutoFit/>
          </a:bodyPr>
          <a:lstStyle/>
          <a:p>
            <a:pPr marL="285750" indent="-285750">
              <a:buSzPct val="85000"/>
              <a:buFont typeface="Wingdings" panose="05000000000000000000" pitchFamily="2" charset="2"/>
              <a:buChar char="n"/>
            </a:pPr>
            <a:r>
              <a:rPr kumimoji="1" lang="en-US" altLang="zh-CN"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3.3 </a:t>
            </a:r>
            <a:r>
              <a:rPr kumimoji="1" lang="zh-CN" altLang="en-US" sz="2000" b="1" spc="120" dirty="0">
                <a:solidFill>
                  <a:srgbClr val="141E8C"/>
                </a:solidFill>
                <a:latin typeface="Arial" panose="020B0704020202020204" pitchFamily="34" charset="0"/>
                <a:ea typeface="微软雅黑" panose="020B0503020204020204" pitchFamily="34" charset="-122"/>
                <a:cs typeface="Arial" panose="020B0704020202020204" pitchFamily="34" charset="0"/>
              </a:rPr>
              <a:t>专家利用不均</a:t>
            </a:r>
          </a:p>
        </p:txBody>
      </p:sp>
      <p:pic>
        <p:nvPicPr>
          <p:cNvPr id="3" name="图片 2">
            <a:extLst>
              <a:ext uri="{FF2B5EF4-FFF2-40B4-BE49-F238E27FC236}">
                <a16:creationId xmlns:a16="http://schemas.microsoft.com/office/drawing/2014/main" id="{E38A97F6-5657-1F12-BA5A-AB5E8D349F77}"/>
              </a:ext>
            </a:extLst>
          </p:cNvPr>
          <p:cNvPicPr>
            <a:picLocks noChangeAspect="1"/>
          </p:cNvPicPr>
          <p:nvPr/>
        </p:nvPicPr>
        <p:blipFill>
          <a:blip r:embed="rId3"/>
          <a:stretch>
            <a:fillRect/>
          </a:stretch>
        </p:blipFill>
        <p:spPr>
          <a:xfrm>
            <a:off x="300368" y="170733"/>
            <a:ext cx="847725" cy="876300"/>
          </a:xfrm>
          <a:prstGeom prst="rect">
            <a:avLst/>
          </a:prstGeom>
        </p:spPr>
      </p:pic>
      <p:sp>
        <p:nvSpPr>
          <p:cNvPr id="5" name="文本框 4">
            <a:extLst>
              <a:ext uri="{FF2B5EF4-FFF2-40B4-BE49-F238E27FC236}">
                <a16:creationId xmlns:a16="http://schemas.microsoft.com/office/drawing/2014/main" id="{26B6753F-B2BA-5D82-C333-D07117F62ED1}"/>
              </a:ext>
            </a:extLst>
          </p:cNvPr>
          <p:cNvSpPr txBox="1"/>
          <p:nvPr/>
        </p:nvSpPr>
        <p:spPr>
          <a:xfrm>
            <a:off x="1214243" y="1618544"/>
            <a:ext cx="10722807" cy="437684"/>
          </a:xfrm>
          <a:prstGeom prst="rect">
            <a:avLst/>
          </a:prstGeom>
          <a:noFill/>
        </p:spPr>
        <p:txBody>
          <a:bodyPr wrap="square">
            <a:spAutoFit/>
          </a:bodyPr>
          <a:lstStyle/>
          <a:p>
            <a:pPr lvl="1">
              <a:lnSpc>
                <a:spcPct val="120000"/>
              </a:lnSpc>
              <a:buSzPct val="80000"/>
            </a:pPr>
            <a:r>
              <a:rPr lang="zh-CN" altLang="en-US" sz="2000" b="0" i="0" dirty="0">
                <a:solidFill>
                  <a:srgbClr val="000000"/>
                </a:solidFill>
                <a:effectLst/>
                <a:latin typeface="-apple-system"/>
              </a:rPr>
              <a:t>一个专家可能被很多样本以很小的权重选中，而另一个专家被少数样本以很大的权重选中</a:t>
            </a:r>
            <a:endParaRPr lang="en-US" altLang="zh-CN" sz="2000" b="1" i="0" dirty="0">
              <a:solidFill>
                <a:srgbClr val="000000"/>
              </a:solidFill>
              <a:effectLst/>
              <a:latin typeface="-apple-system"/>
            </a:endParaRPr>
          </a:p>
        </p:txBody>
      </p:sp>
      <p:sp>
        <p:nvSpPr>
          <p:cNvPr id="24" name="文本框 23">
            <a:extLst>
              <a:ext uri="{FF2B5EF4-FFF2-40B4-BE49-F238E27FC236}">
                <a16:creationId xmlns:a16="http://schemas.microsoft.com/office/drawing/2014/main" id="{529D83F0-4054-29FE-2091-96567209E692}"/>
              </a:ext>
            </a:extLst>
          </p:cNvPr>
          <p:cNvSpPr txBox="1"/>
          <p:nvPr/>
        </p:nvSpPr>
        <p:spPr>
          <a:xfrm>
            <a:off x="1663046" y="2189765"/>
            <a:ext cx="9825203" cy="437043"/>
          </a:xfrm>
          <a:prstGeom prst="rect">
            <a:avLst/>
          </a:prstGeom>
          <a:noFill/>
        </p:spPr>
        <p:txBody>
          <a:bodyPr wrap="square">
            <a:spAutoFit/>
          </a:bodyPr>
          <a:lstStyle/>
          <a:p>
            <a:pPr lvl="1">
              <a:lnSpc>
                <a:spcPct val="120000"/>
              </a:lnSpc>
              <a:buSzPct val="80000"/>
            </a:pPr>
            <a:r>
              <a:rPr lang="en-US" altLang="zh-CN" sz="2000" b="1" dirty="0">
                <a:solidFill>
                  <a:srgbClr val="000000"/>
                </a:solidFill>
                <a:latin typeface="-apple-system"/>
              </a:rPr>
              <a:t>2</a:t>
            </a:r>
            <a:r>
              <a:rPr lang="zh-CN" altLang="en-US" sz="2000" b="1" i="0" dirty="0">
                <a:solidFill>
                  <a:srgbClr val="000000"/>
                </a:solidFill>
                <a:effectLst/>
                <a:latin typeface="-apple-system"/>
              </a:rPr>
              <a:t>）负载损失</a:t>
            </a:r>
            <a:endParaRPr lang="en-US" altLang="zh-CN" sz="2000" b="1" i="0" dirty="0">
              <a:solidFill>
                <a:srgbClr val="000000"/>
              </a:solidFill>
              <a:effectLst/>
              <a:latin typeface="-apple-system"/>
            </a:endParaRPr>
          </a:p>
        </p:txBody>
      </p:sp>
      <p:sp>
        <p:nvSpPr>
          <p:cNvPr id="7" name="文本框 6">
            <a:extLst>
              <a:ext uri="{FF2B5EF4-FFF2-40B4-BE49-F238E27FC236}">
                <a16:creationId xmlns:a16="http://schemas.microsoft.com/office/drawing/2014/main" id="{71B6DADE-032C-3C88-928D-95C2BCEEB904}"/>
              </a:ext>
            </a:extLst>
          </p:cNvPr>
          <p:cNvSpPr txBox="1"/>
          <p:nvPr/>
        </p:nvSpPr>
        <p:spPr>
          <a:xfrm>
            <a:off x="2090057" y="6001972"/>
            <a:ext cx="7203441" cy="400110"/>
          </a:xfrm>
          <a:prstGeom prst="rect">
            <a:avLst/>
          </a:prstGeom>
          <a:noFill/>
        </p:spPr>
        <p:txBody>
          <a:bodyPr wrap="square">
            <a:spAutoFit/>
          </a:bodyPr>
          <a:lstStyle/>
          <a:p>
            <a:r>
              <a:rPr lang="zh-CN" altLang="en-US" sz="2000" b="1" i="0" dirty="0">
                <a:solidFill>
                  <a:srgbClr val="FF0000"/>
                </a:solidFill>
                <a:effectLst/>
                <a:latin typeface="-apple-system"/>
              </a:rPr>
              <a:t>目标​</a:t>
            </a:r>
            <a:r>
              <a:rPr lang="zh-CN" altLang="en-US" sz="2000" b="0" i="0" dirty="0">
                <a:solidFill>
                  <a:srgbClr val="FF0000"/>
                </a:solidFill>
                <a:effectLst/>
                <a:latin typeface="-apple-system"/>
              </a:rPr>
              <a:t>​：确保所有专家在​</a:t>
            </a:r>
            <a:r>
              <a:rPr lang="zh-CN" altLang="en-US" sz="2000" b="1" i="0" dirty="0">
                <a:solidFill>
                  <a:srgbClr val="FF0000"/>
                </a:solidFill>
                <a:effectLst/>
                <a:latin typeface="-apple-system"/>
              </a:rPr>
              <a:t>​一个批次内​</a:t>
            </a:r>
            <a:r>
              <a:rPr lang="zh-CN" altLang="en-US" sz="2000" b="0" i="0" dirty="0">
                <a:solidFill>
                  <a:srgbClr val="FF0000"/>
                </a:solidFill>
                <a:effectLst/>
                <a:latin typeface="-apple-system"/>
              </a:rPr>
              <a:t>​接收到的样本数量大致相等</a:t>
            </a:r>
            <a:endParaRPr lang="zh-CN" altLang="en-US" sz="2000" dirty="0"/>
          </a:p>
        </p:txBody>
      </p:sp>
      <p:pic>
        <p:nvPicPr>
          <p:cNvPr id="2" name="图片 1">
            <a:extLst>
              <a:ext uri="{FF2B5EF4-FFF2-40B4-BE49-F238E27FC236}">
                <a16:creationId xmlns:a16="http://schemas.microsoft.com/office/drawing/2014/main" id="{00587E0F-6B3A-4451-E430-F588F8E8137E}"/>
              </a:ext>
            </a:extLst>
          </p:cNvPr>
          <p:cNvPicPr>
            <a:picLocks noChangeAspect="1"/>
          </p:cNvPicPr>
          <p:nvPr/>
        </p:nvPicPr>
        <p:blipFill>
          <a:blip r:embed="rId4"/>
          <a:stretch>
            <a:fillRect/>
          </a:stretch>
        </p:blipFill>
        <p:spPr>
          <a:xfrm>
            <a:off x="5031605" y="3229189"/>
            <a:ext cx="2940825" cy="765270"/>
          </a:xfrm>
          <a:prstGeom prst="rect">
            <a:avLst/>
          </a:prstGeom>
        </p:spPr>
      </p:pic>
      <p:sp>
        <p:nvSpPr>
          <p:cNvPr id="12" name="文本框 11">
            <a:extLst>
              <a:ext uri="{FF2B5EF4-FFF2-40B4-BE49-F238E27FC236}">
                <a16:creationId xmlns:a16="http://schemas.microsoft.com/office/drawing/2014/main" id="{D809935D-F7C5-A362-E59E-639A9B2DA298}"/>
              </a:ext>
            </a:extLst>
          </p:cNvPr>
          <p:cNvSpPr txBox="1"/>
          <p:nvPr/>
        </p:nvSpPr>
        <p:spPr>
          <a:xfrm>
            <a:off x="2090057" y="4031138"/>
            <a:ext cx="9676454" cy="707886"/>
          </a:xfrm>
          <a:prstGeom prst="rect">
            <a:avLst/>
          </a:prstGeom>
          <a:noFill/>
        </p:spPr>
        <p:txBody>
          <a:bodyPr wrap="square">
            <a:spAutoFit/>
          </a:bodyPr>
          <a:lstStyle/>
          <a:p>
            <a:r>
              <a:rPr lang="en-US" altLang="zh-CN" sz="2000" b="0" i="1" dirty="0">
                <a:solidFill>
                  <a:srgbClr val="000000"/>
                </a:solidFill>
                <a:effectLst/>
                <a:latin typeface="KaTeX_Math"/>
              </a:rPr>
              <a:t>P</a:t>
            </a:r>
            <a:r>
              <a:rPr lang="en-US" altLang="zh-CN" sz="2000" b="0" i="0" dirty="0">
                <a:solidFill>
                  <a:srgbClr val="000000"/>
                </a:solidFill>
                <a:effectLst/>
                <a:latin typeface="KaTeX_Main"/>
              </a:rPr>
              <a:t>(</a:t>
            </a:r>
            <a:r>
              <a:rPr lang="en-US" altLang="zh-CN" sz="2000" b="0" i="1" dirty="0" err="1">
                <a:solidFill>
                  <a:srgbClr val="000000"/>
                </a:solidFill>
                <a:effectLst/>
                <a:latin typeface="KaTeX_Math"/>
              </a:rPr>
              <a:t>x</a:t>
            </a:r>
            <a:r>
              <a:rPr lang="en-US" altLang="zh-CN" sz="2000" b="0" i="0" dirty="0" err="1">
                <a:solidFill>
                  <a:srgbClr val="000000"/>
                </a:solidFill>
                <a:effectLst/>
                <a:latin typeface="KaTeX_Main"/>
              </a:rPr>
              <a:t>,</a:t>
            </a:r>
            <a:r>
              <a:rPr lang="en-US" altLang="zh-CN" sz="2000" b="0" i="1" dirty="0" err="1">
                <a:solidFill>
                  <a:srgbClr val="000000"/>
                </a:solidFill>
                <a:effectLst/>
                <a:latin typeface="KaTeX_Math"/>
              </a:rPr>
              <a:t>i</a:t>
            </a:r>
            <a:r>
              <a:rPr lang="en-US" altLang="zh-CN" sz="2000" b="0" i="0" dirty="0">
                <a:solidFill>
                  <a:srgbClr val="000000"/>
                </a:solidFill>
                <a:effectLst/>
                <a:latin typeface="KaTeX_Main"/>
              </a:rPr>
              <a:t>)</a:t>
            </a:r>
            <a:r>
              <a:rPr lang="zh-CN" altLang="en-US" sz="2000" b="0" i="0" dirty="0">
                <a:solidFill>
                  <a:srgbClr val="000000"/>
                </a:solidFill>
                <a:effectLst/>
                <a:latin typeface="-apple-system"/>
              </a:rPr>
              <a:t>表示在固定其他维度的噪声，只重新采样第 </a:t>
            </a:r>
            <a:r>
              <a:rPr lang="en-US" altLang="zh-CN" sz="2000" b="0" i="1" dirty="0" err="1">
                <a:solidFill>
                  <a:srgbClr val="000000"/>
                </a:solidFill>
                <a:effectLst/>
                <a:latin typeface="KaTeX_Math"/>
              </a:rPr>
              <a:t>i</a:t>
            </a:r>
            <a:r>
              <a:rPr lang="zh-CN" altLang="en-US" sz="2000" b="0" i="0" dirty="0">
                <a:solidFill>
                  <a:srgbClr val="000000"/>
                </a:solidFill>
                <a:effectLst/>
                <a:latin typeface="-apple-system"/>
              </a:rPr>
              <a:t>维噪声的情况下，专家 </a:t>
            </a:r>
            <a:r>
              <a:rPr lang="en-US" altLang="zh-CN" sz="2000" b="0" i="1" dirty="0" err="1">
                <a:solidFill>
                  <a:srgbClr val="000000"/>
                </a:solidFill>
                <a:effectLst/>
                <a:latin typeface="KaTeX_Math"/>
              </a:rPr>
              <a:t>i</a:t>
            </a:r>
            <a:r>
              <a:rPr lang="zh-CN" altLang="en-US" sz="2000" b="0" i="0" dirty="0">
                <a:solidFill>
                  <a:srgbClr val="000000"/>
                </a:solidFill>
                <a:effectLst/>
                <a:latin typeface="-apple-system"/>
              </a:rPr>
              <a:t>被选入</a:t>
            </a:r>
            <a:r>
              <a:rPr lang="en-US" altLang="zh-CN" sz="2000" b="0" i="0" dirty="0">
                <a:solidFill>
                  <a:srgbClr val="000000"/>
                </a:solidFill>
                <a:effectLst/>
                <a:latin typeface="-apple-system"/>
              </a:rPr>
              <a:t>top-k</a:t>
            </a:r>
            <a:r>
              <a:rPr lang="zh-CN" altLang="en-US" sz="2000" b="0" i="0" dirty="0">
                <a:solidFill>
                  <a:srgbClr val="000000"/>
                </a:solidFill>
                <a:effectLst/>
                <a:latin typeface="-apple-system"/>
              </a:rPr>
              <a:t>的概率。</a:t>
            </a:r>
            <a:endParaRPr lang="zh-CN" altLang="en-US" sz="2000" dirty="0"/>
          </a:p>
        </p:txBody>
      </p:sp>
      <p:sp>
        <p:nvSpPr>
          <p:cNvPr id="19" name="文本框 18">
            <a:extLst>
              <a:ext uri="{FF2B5EF4-FFF2-40B4-BE49-F238E27FC236}">
                <a16:creationId xmlns:a16="http://schemas.microsoft.com/office/drawing/2014/main" id="{3C3B769C-CE35-D1B4-276C-CB899BE90E7E}"/>
              </a:ext>
            </a:extLst>
          </p:cNvPr>
          <p:cNvSpPr txBox="1"/>
          <p:nvPr/>
        </p:nvSpPr>
        <p:spPr>
          <a:xfrm>
            <a:off x="2090057" y="2727178"/>
            <a:ext cx="6217920" cy="400110"/>
          </a:xfrm>
          <a:prstGeom prst="rect">
            <a:avLst/>
          </a:prstGeom>
          <a:noFill/>
        </p:spPr>
        <p:txBody>
          <a:bodyPr wrap="square">
            <a:spAutoFit/>
          </a:bodyPr>
          <a:lstStyle/>
          <a:p>
            <a:r>
              <a:rPr lang="zh-CN" altLang="en-US" sz="2000" dirty="0"/>
              <a:t>专家 i的估计负载是该批次所有样本的 P(x,i)之和：</a:t>
            </a:r>
          </a:p>
        </p:txBody>
      </p:sp>
      <p:pic>
        <p:nvPicPr>
          <p:cNvPr id="22" name="图片 21">
            <a:extLst>
              <a:ext uri="{FF2B5EF4-FFF2-40B4-BE49-F238E27FC236}">
                <a16:creationId xmlns:a16="http://schemas.microsoft.com/office/drawing/2014/main" id="{7533EE7F-1520-6622-434F-DEB520F80D8C}"/>
              </a:ext>
            </a:extLst>
          </p:cNvPr>
          <p:cNvPicPr>
            <a:picLocks noChangeAspect="1"/>
          </p:cNvPicPr>
          <p:nvPr/>
        </p:nvPicPr>
        <p:blipFill>
          <a:blip r:embed="rId5"/>
          <a:stretch>
            <a:fillRect/>
          </a:stretch>
        </p:blipFill>
        <p:spPr>
          <a:xfrm>
            <a:off x="4537765" y="4563638"/>
            <a:ext cx="3928503" cy="864070"/>
          </a:xfrm>
          <a:prstGeom prst="rect">
            <a:avLst/>
          </a:prstGeom>
        </p:spPr>
      </p:pic>
      <p:sp>
        <p:nvSpPr>
          <p:cNvPr id="25" name="文本框 24">
            <a:extLst>
              <a:ext uri="{FF2B5EF4-FFF2-40B4-BE49-F238E27FC236}">
                <a16:creationId xmlns:a16="http://schemas.microsoft.com/office/drawing/2014/main" id="{540768B4-4C3F-9691-2B50-70B85DB0C3C2}"/>
              </a:ext>
            </a:extLst>
          </p:cNvPr>
          <p:cNvSpPr txBox="1"/>
          <p:nvPr/>
        </p:nvSpPr>
        <p:spPr>
          <a:xfrm>
            <a:off x="2090057" y="5518243"/>
            <a:ext cx="6191794" cy="369332"/>
          </a:xfrm>
          <a:prstGeom prst="rect">
            <a:avLst/>
          </a:prstGeom>
          <a:noFill/>
        </p:spPr>
        <p:txBody>
          <a:bodyPr wrap="square">
            <a:spAutoFit/>
          </a:bodyPr>
          <a:lstStyle/>
          <a:p>
            <a:r>
              <a:rPr lang="zh-CN" altLang="en-US" b="0" i="0" dirty="0">
                <a:solidFill>
                  <a:srgbClr val="000000"/>
                </a:solidFill>
                <a:effectLst/>
                <a:latin typeface="-apple-system"/>
              </a:rPr>
              <a:t>与重要性损失类似，</a:t>
            </a:r>
            <a:r>
              <a:rPr lang="zh-CN" altLang="en-US" dirty="0">
                <a:solidFill>
                  <a:srgbClr val="000000"/>
                </a:solidFill>
                <a:latin typeface="-apple-system"/>
              </a:rPr>
              <a:t>负载损失</a:t>
            </a:r>
            <a:r>
              <a:rPr lang="zh-CN" altLang="en-US" b="0" i="0" dirty="0">
                <a:solidFill>
                  <a:srgbClr val="000000"/>
                </a:solidFill>
                <a:effectLst/>
                <a:latin typeface="-apple-system"/>
              </a:rPr>
              <a:t>是估计负载的变异系数的平方</a:t>
            </a:r>
            <a:endParaRPr lang="zh-CN" altLang="en-US" dirty="0"/>
          </a:p>
        </p:txBody>
      </p:sp>
    </p:spTree>
    <p:extLst>
      <p:ext uri="{BB962C8B-B14F-4D97-AF65-F5344CB8AC3E}">
        <p14:creationId xmlns:p14="http://schemas.microsoft.com/office/powerpoint/2010/main" val="3534975989"/>
      </p:ext>
    </p:extLst>
  </p:cSld>
  <p:clrMapOvr>
    <a:masterClrMapping/>
  </p:clrMapOvr>
  <mc:AlternateContent xmlns:mc="http://schemas.openxmlformats.org/markup-compatibility/2006" xmlns:p14="http://schemas.microsoft.com/office/powerpoint/2010/main">
    <mc:Choice Requires="p14">
      <p:transition p14:dur="25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258*36"/>
  <p:tag name="TABLE_ENDDRAG_RECT" val="573*376*258*36"/>
</p:tagLst>
</file>

<file path=ppt/tags/tag3.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TABLE_ENDDRAG_ORIGIN_RECT" val="155*29"/>
  <p:tag name="TABLE_ENDDRAG_RECT" val="416*376*155*29"/>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3830</TotalTime>
  <Words>2478</Words>
  <Application>Microsoft Office PowerPoint</Application>
  <PresentationFormat>宽屏</PresentationFormat>
  <Paragraphs>128</Paragraphs>
  <Slides>11</Slides>
  <Notes>11</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11</vt:i4>
      </vt:variant>
    </vt:vector>
  </HeadingPairs>
  <TitlesOfParts>
    <vt:vector size="25" baseType="lpstr">
      <vt:lpstr>-apple-system</vt:lpstr>
      <vt:lpstr>inherit</vt:lpstr>
      <vt:lpstr>KaTeX_Main</vt:lpstr>
      <vt:lpstr>KaTeX_Math</vt:lpstr>
      <vt:lpstr>Times New Roman Regular</vt:lpstr>
      <vt:lpstr>var(--hy-font-family)</vt:lpstr>
      <vt:lpstr>等线</vt:lpstr>
      <vt:lpstr>微软雅黑</vt:lpstr>
      <vt:lpstr>Arial</vt:lpstr>
      <vt:lpstr>Times New Roman Bold</vt:lpstr>
      <vt:lpstr>Times New Roman Bold Italic</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liao huang</dc:creator>
  <cp:lastModifiedBy>e7926</cp:lastModifiedBy>
  <cp:revision>21</cp:revision>
  <dcterms:created xsi:type="dcterms:W3CDTF">2025-08-20T06:57:41Z</dcterms:created>
  <dcterms:modified xsi:type="dcterms:W3CDTF">2025-11-01T02:19:46Z</dcterms:modified>
</cp:coreProperties>
</file>